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73" r:id="rId25"/>
    <p:sldId id="277" r:id="rId29"/>
    <p:sldId id="280" r:id="rId23"/>
    <p:sldId id="286" r:id="rId34"/>
    <p:sldId id="269" r:id="rId21"/>
    <p:sldId id="281" r:id="rId32"/>
    <p:sldId id="284" r:id="rId35"/>
    <p:sldId id="270" r:id="rId22"/>
    <p:sldId id="278" r:id="rId30"/>
    <p:sldId id="275" r:id="rId27"/>
    <p:sldId id="276" r:id="rId28"/>
    <p:sldId id="282" r:id="rId33"/>
    <p:sldId id="274" r:id="rId26"/>
    <p:sldId id="279" r:id="rId31"/>
    <p:sldId id="285" r:id="rId36"/>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8.xml"/><Relationship Id="rId22" Type="http://schemas.openxmlformats.org/officeDocument/2006/relationships/slide" Target="slides/slide21.xml"/><Relationship Id="rId23" Type="http://schemas.openxmlformats.org/officeDocument/2006/relationships/slide" Target="slides/slide16.xml"/><Relationship Id="rId24" Type="http://schemas.openxmlformats.org/officeDocument/2006/relationships/slide" Target="slides/slide29.xml"/><Relationship Id="rId25" Type="http://schemas.openxmlformats.org/officeDocument/2006/relationships/slide" Target="slides/slide14.xml"/><Relationship Id="rId26" Type="http://schemas.openxmlformats.org/officeDocument/2006/relationships/slide" Target="slides/slide26.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15.xml"/><Relationship Id="rId30" Type="http://schemas.openxmlformats.org/officeDocument/2006/relationships/slide" Target="slides/slide22.xml"/><Relationship Id="rId31" Type="http://schemas.openxmlformats.org/officeDocument/2006/relationships/slide" Target="slides/slide27.xml"/><Relationship Id="rId32" Type="http://schemas.openxmlformats.org/officeDocument/2006/relationships/slide" Target="slides/slide19.xml"/><Relationship Id="rId33" Type="http://schemas.openxmlformats.org/officeDocument/2006/relationships/slide" Target="slides/slide25.xml"/><Relationship Id="rId34" Type="http://schemas.openxmlformats.org/officeDocument/2006/relationships/slide" Target="slides/slide17.xml"/><Relationship Id="rId35" Type="http://schemas.openxmlformats.org/officeDocument/2006/relationships/slide" Target="slides/slide20.xml"/><Relationship Id="rId36" Type="http://schemas.openxmlformats.org/officeDocument/2006/relationships/slide" Target="slides/slide2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t>Average daily sales by store status</a:t>
            </a:r>
          </a:p>
        </c:rich>
      </c:tx>
      <c:layout/>
      <c:overlay val="0"/>
    </c:title>
    <c:autoTitleDeleted val="0"/>
    <c:plotArea>
      <c:barChart>
        <c:barDir val="col"/>
        <c:grouping val="clustered"/>
        <c:ser>
          <c:idx val="0"/>
          <c:order val="0"/>
          <c:tx>
            <c:strRef>
              <c:f>Sheet1!$B$1</c:f>
              <c:strCache>
                <c:ptCount val="1"/>
                <c:pt idx="0">
                  <c:v>Sales</c:v>
                </c:pt>
              </c:strCache>
            </c:strRef>
          </c:tx>
          <c:spPr>
            <a:solidFill>
              <a:srgbClr val="3075BB"/>
            </a:solidFill>
          </c:spPr>
          <c:cat>
            <c:strRef>
              <c:f>Sheet1!$A$2:$A$3</c:f>
              <c:strCache>
                <c:ptCount val="2"/>
                <c:pt idx="0">
                  <c:v>Closed</c:v>
                </c:pt>
                <c:pt idx="1">
                  <c:v>Open</c:v>
                </c:pt>
              </c:strCache>
            </c:strRef>
          </c:cat>
          <c:val>
            <c:numRef>
              <c:f>Sheet1!$B$2:$B$3</c:f>
              <c:numCache>
                <c:formatCode>General</c:formatCode>
                <c:ptCount val="2"/>
                <c:pt idx="0">
                  <c:v>0</c:v>
                </c:pt>
                <c:pt idx="1">
                  <c:v>5337.43</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t>Average sales by promotion</a:t>
            </a:r>
          </a:p>
        </c:rich>
      </c:tx>
      <c:layout/>
      <c:overlay val="0"/>
    </c:title>
    <c:autoTitleDeleted val="0"/>
    <c:plotArea>
      <c:barChart>
        <c:barDir val="col"/>
        <c:grouping val="clustered"/>
        <c:ser>
          <c:idx val="0"/>
          <c:order val="0"/>
          <c:tx>
            <c:strRef>
              <c:f>Sheet1!$B$1</c:f>
              <c:strCache>
                <c:ptCount val="1"/>
                <c:pt idx="0">
                  <c:v>Sales</c:v>
                </c:pt>
              </c:strCache>
            </c:strRef>
          </c:tx>
          <c:spPr>
            <a:solidFill>
              <a:srgbClr val="3075BB"/>
            </a:solidFill>
          </c:spPr>
          <c:cat>
            <c:strRef>
              <c:f>Sheet1!$A$2:$A$3</c:f>
              <c:strCache>
                <c:ptCount val="2"/>
                <c:pt idx="0">
                  <c:v>No promo</c:v>
                </c:pt>
                <c:pt idx="1">
                  <c:v>Promo</c:v>
                </c:pt>
              </c:strCache>
            </c:strRef>
          </c:cat>
          <c:val>
            <c:numRef>
              <c:f>Sheet1!$B$2:$B$3</c:f>
              <c:numCache>
                <c:formatCode>General</c:formatCode>
                <c:ptCount val="2"/>
                <c:pt idx="0">
                  <c:v>3427.26</c:v>
                </c:pt>
                <c:pt idx="1">
                  <c:v>6008.87</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t>Average sales by state holiday</a:t>
            </a:r>
          </a:p>
        </c:rich>
      </c:tx>
      <c:layout/>
      <c:overlay val="0"/>
    </c:title>
    <c:autoTitleDeleted val="0"/>
    <c:plotArea>
      <c:barChart>
        <c:barDir val="col"/>
        <c:grouping val="clustered"/>
        <c:ser>
          <c:idx val="0"/>
          <c:order val="0"/>
          <c:tx>
            <c:strRef>
              <c:f>Sheet1!$B$1</c:f>
              <c:strCache>
                <c:ptCount val="1"/>
                <c:pt idx="0">
                  <c:v>Sales</c:v>
                </c:pt>
              </c:strCache>
            </c:strRef>
          </c:tx>
          <c:spPr>
            <a:solidFill>
              <a:srgbClr val="3075BB"/>
            </a:solidFill>
          </c:spPr>
          <c:cat>
            <c:strRef>
              <c:f>Sheet1!$A$2:$A$3</c:f>
              <c:strCache>
                <c:ptCount val="2"/>
                <c:pt idx="0">
                  <c:v>No state holiday</c:v>
                </c:pt>
                <c:pt idx="1">
                  <c:v>State holiday</c:v>
                </c:pt>
              </c:strCache>
            </c:strRef>
          </c:cat>
          <c:val>
            <c:numRef>
              <c:f>Sheet1!$B$2:$B$3</c:f>
              <c:numCache>
                <c:formatCode>General</c:formatCode>
                <c:ptCount val="2"/>
                <c:pt idx="0">
                  <c:v>4554.06</c:v>
                </c:pt>
                <c:pt idx="1">
                  <c:v>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t>Average daily sales by weekday</a:t>
            </a:r>
          </a:p>
        </c:rich>
      </c:tx>
      <c:layout/>
      <c:overlay val="0"/>
    </c:title>
    <c:autoTitleDeleted val="0"/>
    <c:plotArea>
      <c:barChart>
        <c:barDir val="col"/>
        <c:grouping val="clustered"/>
        <c:ser>
          <c:idx val="0"/>
          <c:order val="0"/>
          <c:tx>
            <c:strRef>
              <c:f>Sheet1!$B$1</c:f>
              <c:strCache>
                <c:ptCount val="1"/>
                <c:pt idx="0">
                  <c:v>Sales</c:v>
                </c:pt>
              </c:strCache>
            </c:strRef>
          </c:tx>
          <c:spPr>
            <a:solidFill>
              <a:srgbClr val="E85F11"/>
            </a:solidFill>
          </c:spPr>
          <c:cat>
            <c:strRef>
              <c:f>Sheet1!$A$2:$A$8</c:f>
              <c:strCache>
                <c:ptCount val="7"/>
                <c:pt idx="0">
                  <c:v>Mon</c:v>
                </c:pt>
                <c:pt idx="1">
                  <c:v>Tue</c:v>
                </c:pt>
                <c:pt idx="2">
                  <c:v>Wed</c:v>
                </c:pt>
                <c:pt idx="3">
                  <c:v>Thu</c:v>
                </c:pt>
                <c:pt idx="4">
                  <c:v>Fri</c:v>
                </c:pt>
                <c:pt idx="5">
                  <c:v>Sat</c:v>
                </c:pt>
                <c:pt idx="6">
                  <c:v>Sun</c:v>
                </c:pt>
              </c:strCache>
            </c:strRef>
          </c:cat>
          <c:val>
            <c:numRef>
              <c:f>Sheet1!$B$2:$B$8</c:f>
              <c:numCache>
                <c:formatCode>General</c:formatCode>
                <c:ptCount val="7"/>
                <c:pt idx="0">
                  <c:v>5832.57</c:v>
                </c:pt>
                <c:pt idx="1">
                  <c:v>5010.34</c:v>
                </c:pt>
                <c:pt idx="2">
                  <c:v>4894.72</c:v>
                </c:pt>
                <c:pt idx="3">
                  <c:v>4778.38</c:v>
                </c:pt>
                <c:pt idx="4">
                  <c:v>5205.25</c:v>
                </c:pt>
                <c:pt idx="5">
                  <c:v>5159.13</c:v>
                </c:pt>
                <c:pt idx="6">
                  <c:v>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project. We focused on Rossmann Store 800 to develop a practical six-week daily sales forecast. Explain that the presentation follows the analysis from exploration through evaluation and recommendations.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project. We focused on Rossmann Store 800 to develop a practical six-week daily sales forecast. Explain that the presentation follows the analysis from exploration through evaluation and recommendations.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why reliable sales forecasts matter. Inaccurate forecasts may cause stock shortages, excess inventory or inefficient staffing. We evaluate whether statistical forecasting adds value beyond simpler methods.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why reliable sales forecasts matter. Inaccurate forecasts may cause stock shortages, excess inventory or inefficient staffing. We evaluate whether statistical forecasting adds value beyond simpler methods.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original data covered many stores, but our analysis focuses on Store 800. We checked completeness, unique dates, and inconsistent holiday coding. We did not remove matching records simply because two different days had identical values.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original data covered many stores, but our analysis focuses on Store 800. We checked completeness, unique dates, and inconsistent holiday coding. We did not remove matching records simply because two different days had identical values.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the histogram and box plot. Most daily sales are around 3,000 to 7,000. The zero-sales observations are legitimate closures, not errors. High-sales outliers should be examined in their business context.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store generated all recorded sales on open days. Closure days are important when designing forecasts. The promotional association does not prove promotions caused higher sales.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Highlight the descriptive comparisons. These results show associations, not causal effects. Public, Easter and Christmas holiday categories had zero recorded sales in this store and often coincide with closure.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Highlight the descriptive comparisons. These results show associations, not causal effects. Public, Easter and Christmas holiday categories had zero recorded sales in this store and often coincide with closure.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weekday plot. Monday had the highest average recorded sales, while Sundays were closed. This repeating pattern motivates a seasonal forecasting approach with a seven-day period.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additive seven-day decomposition. It separates observed sales into trend, seasonal and residual components. Weekly seasonality is prominent, but there are also fluctuations that the decomposition does not explain.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reproduces Figure 2.8.1 from Section 2.8 of the uploaded Documentation(2).docx. The ADF test on Store 800 daily sales data reports statistic -3.6074 and p-value 0.0056. The report interprets this as evidence against a unit root. The associated diagnostic plots show standardized fluctuations around zero, non-normality and remaining autocorrelation.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the ACF/PACF helped identify weekly seasonal structure. Auto ARIMA compared model candidates using AIC. Lower AIC favors fit relative to complexity, but does not guarantee better out-of-sample forecasts.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Rolling-origin validation used nine seven-day windows, stepped 28 days apart. SARIMA average MAE 1109.17 and RMSE 1397.67; Seasonal Naive average MAE 1463.90 and RMSE 1994.23. These results are separate from the single 42-day holdout; do not mix the two evaluation designs.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retained chronological order, using 900 observations for training and the final 42 days for testing. This avoids future information leaking into training. We compare baselines with SARIMA, then inspect diagnostics and rolling-origin performance before preparing the final historical six-week forecast.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this project demonstrates a historical six-week forecasting workflow for Rossmann Store 800. Weekly seasonality and store closures are essential to interpreting daily sales. Neither forecasting approach was best in every evaluation: Seasonal Naive achieved the lower holdout MAE, while SARIMA achieved the lower holdout RMSE and better average rolling-origin performance. The Ljung–Box and Q–Q diagnostics show limitations, so the findings should be interpreted with appropriate caution. The final August 1 to September 11, 2015 forecast includes a post-model Sunday closure adjustment, not an automatically learned SARIMA behavior or a prediction of present-day sales.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compares four baseline approaches on the same 42-day test period. Seasonal Naive was the strongest baseline, with MAE of 1,004.83 and RMSE of 1,479.89. It uses the value from the corresponding weekday one week earlier, so it captures the strong weekly operating cycle. Naive, Drift and Moving Average all had higher errors. This baseline is an important benchmark when judging whether the added complexity of SARIMA is worthwhile. On the single holdout, Seasonal Naive had lower MAE than SARIMA, while SARIMA had lower RMSE. The separate rolling-origin evaluation favored SARIMA on both metrics.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original report says all 134 observed Sundays had zero sales and that the initial forecast predicted positive sales on some Sundays. We therefore replaced the Sunday predictions with zero to match the observed closure pattern. The total of 163 zero-sales days also includes other closure days. This was an adjustment after forecasting; the report does not demonstrate a recalculated accuracy improvement.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Figure 3.5.2.1, SARIMA Model Residuals Over Time for Rossmann Store 800 (2013–2015), reproduced from the uploaded documentation. The residuals fluctuate around zero with noticeable positive and negative deviations. The report also documents Ljung–Box tests at lags 7, 14, 21 and 28, all with p-values below 0.05. This indicates remaining autocorrelation and patterns not fully captured by the SARIMA model. The next slide shows the original Q-Q plot.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original Q-Q plot from the uploaded Rossmann Store 800 documentation, Figure 4.5.2.2. The report states that the residuals deviate from the expected normal distribution. The model captures important sales patterns, but the residual distribution is not perfectly normal. This slide reports the documented result rather than adding new statistical claims.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chart is reproduced from the project documentation. Four simple forecasting methods were tested on the same 42-day holdout. Seasonal Naive had the lowest MAE (1,004.83) and RMSE (1,479.89) among the four baselines. It captures the strong seven-day operating cycle, including Sunday closures.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Neither model won every evaluation. On the 42-day holdout, Seasonal Naive had lower MAE (1004.83 vs SARIMA 1187.07), but SARIMA had lower RMSE (1431.29 vs 1479.89). Across nine rolling seven-day windows, SARIMA had better average MAE and RMSE. This mixed result is a central project finding, and is why we retain the simple benchmark.</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plot shows observed historical sales and a 42-day model forecast for August 1 to September 11, 2015, with Sunday predictions set to zero by an explicit business rule. This is a historical demonstration of a forecasting workflow, not a current sales forecast for Rossmann.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Auto-ARIMA selected SARIMA (5,1,0)(2,0,0) with weekly seasonality and AIC 16,006.271. The original training ADF p-value of 0.003323 rejects a unit root, so do not claim differencing was required by the ADF test. Auto-ARIMA nevertheless selected d=1 as part of its search. AIC is a model-selection criterion, not proof of forecasting superiority.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document Section 3.5.3 reports rolling-origin backtesting with an initial 700 observations, seven-day forecasts, and a 28-day step. This produced nine evaluation windows. SARIMA average MAE was 1,109.17 and average RMSE was 1,397.67. Seasonal Naive average MAE was 1,463.90 and RMSE was 1,994.23. SARIMA performed better on both averages here. These seven-day backtests differ from the single 42-day holdout and should not be described as identical evaluations.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Training-series ADF test: original ADF statistic -3.7618, p=0.003323; first-differenced statistic -11.8023, p=9.27 × 10^-22. Both reject the unit-root null at 5%. pmdarima differencing tests suggested d=0 and D=0, while Auto-ARIMA selected SARIMA(5,1,0)(2,0,0)[7] with d=1 using its model-selection procedure. This does not mean the original series definitely required differencing. Distinguish these training-series results from Section 2.8 Store 800 overall-data ADF statistic -3.6074, p=0.0056.</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MAE summarizes the average size of forecast errors. RMSE puts more weight on large misses. On the 42-day holdout, Seasonal Naive has lower MAE, while SARIMA has lower RMSE. Both are useful and neither metric should be ignored.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final six-week forecast covers August 1 through September 11, 2015. This is a historical example. The forecasting model produced daily predictions; afterward, the Sunday values were replaced with zero because Sundays were consistently closed in the observed data. This is a business-rule adjustment, not an automatically learned SARIMA feature. No accuracy improvement is claimed without recomputing evaluation metrics.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5303520" cy="6858000"/>
          </a:xfrm>
          <a:prstGeom prst="rect">
            <a:avLst/>
          </a:prstGeom>
          <a:solidFill>
            <a:srgbClr val="1A2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960120"/>
            <a:ext cx="777240" cy="64008"/>
          </a:xfrm>
          <a:prstGeom prst="rect">
            <a:avLst/>
          </a:prstGeom>
          <a:solidFill>
            <a:srgbClr val="E85F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481328"/>
            <a:ext cx="4297680" cy="1417320"/>
          </a:xfrm>
          <a:prstGeom prst="rect">
            <a:avLst/>
          </a:prstGeom>
          <a:noFill/>
        </p:spPr>
        <p:txBody>
          <a:bodyPr wrap="square">
            <a:spAutoFit/>
          </a:bodyPr>
          <a:lstStyle/>
          <a:p>
            <a:pPr>
              <a:defRPr sz="3900" b="1">
                <a:solidFill>
                  <a:srgbClr val="FFFFFF"/>
                </a:solidFill>
                <a:latin typeface="Aptos"/>
              </a:defRPr>
            </a:pPr>
            <a:r>
              <a:t>ROSSMANN</a:t>
            </a:r>
          </a:p>
          <a:p>
            <a:pPr>
              <a:defRPr sz="3900" b="1">
                <a:solidFill>
                  <a:srgbClr val="FFFFFF"/>
                </a:solidFill>
                <a:latin typeface="Aptos"/>
              </a:defRPr>
            </a:pPr>
            <a:r>
              <a:t>STORES</a:t>
            </a:r>
          </a:p>
        </p:txBody>
      </p:sp>
      <p:sp>
        <p:nvSpPr>
          <p:cNvPr id="5" name="TextBox 4"/>
          <p:cNvSpPr txBox="1"/>
          <p:nvPr/>
        </p:nvSpPr>
        <p:spPr>
          <a:xfrm>
            <a:off x="685800" y="3063240"/>
            <a:ext cx="4480560" cy="594360"/>
          </a:xfrm>
          <a:prstGeom prst="rect">
            <a:avLst/>
          </a:prstGeom>
          <a:noFill/>
        </p:spPr>
        <p:txBody>
          <a:bodyPr wrap="square">
            <a:spAutoFit/>
          </a:bodyPr>
          <a:lstStyle/>
          <a:p>
            <a:pPr>
              <a:defRPr sz="2900" b="1">
                <a:solidFill>
                  <a:srgbClr val="E85F11"/>
                </a:solidFill>
                <a:latin typeface="Aptos"/>
              </a:defRPr>
            </a:pPr>
            <a:r>
              <a:t>SIX WEEKS AHEAD</a:t>
            </a:r>
          </a:p>
        </p:txBody>
      </p:sp>
      <p:sp>
        <p:nvSpPr>
          <p:cNvPr id="6" name="TextBox 5"/>
          <p:cNvSpPr txBox="1"/>
          <p:nvPr/>
        </p:nvSpPr>
        <p:spPr>
          <a:xfrm>
            <a:off x="704088" y="4005072"/>
            <a:ext cx="4114800" cy="1005840"/>
          </a:xfrm>
          <a:prstGeom prst="rect">
            <a:avLst/>
          </a:prstGeom>
          <a:noFill/>
        </p:spPr>
        <p:txBody>
          <a:bodyPr wrap="square">
            <a:spAutoFit/>
          </a:bodyPr>
          <a:lstStyle/>
          <a:p>
            <a:pPr>
              <a:defRPr sz="2100" b="0">
                <a:solidFill>
                  <a:srgbClr val="FFFFFF"/>
                </a:solidFill>
                <a:latin typeface="Aptos"/>
              </a:defRPr>
            </a:pPr>
            <a:r>
              <a:t>A TIME SERIES ANALYSIS</a:t>
            </a:r>
          </a:p>
          <a:p>
            <a:pPr>
              <a:defRPr sz="2100" b="0">
                <a:solidFill>
                  <a:srgbClr val="FFFFFF"/>
                </a:solidFill>
                <a:latin typeface="Aptos"/>
              </a:defRPr>
            </a:pPr>
            <a:r>
              <a:t>CASE STUDY</a:t>
            </a:r>
          </a:p>
        </p:txBody>
      </p:sp>
      <p:sp>
        <p:nvSpPr>
          <p:cNvPr id="7" name="TextBox 6"/>
          <p:cNvSpPr txBox="1"/>
          <p:nvPr/>
        </p:nvSpPr>
        <p:spPr>
          <a:xfrm>
            <a:off x="713232" y="5806440"/>
            <a:ext cx="4114800" cy="640080"/>
          </a:xfrm>
          <a:prstGeom prst="rect">
            <a:avLst/>
          </a:prstGeom>
          <a:noFill/>
        </p:spPr>
        <p:txBody>
          <a:bodyPr wrap="square">
            <a:spAutoFit/>
          </a:bodyPr>
          <a:lstStyle/>
          <a:p>
            <a:pPr>
              <a:defRPr sz="1500" b="0">
                <a:solidFill>
                  <a:srgbClr val="FFFFFF"/>
                </a:solidFill>
                <a:latin typeface="Aptos"/>
              </a:defRPr>
            </a:pPr>
            <a:r>
              <a:t>Store 800  •  942 daily records</a:t>
            </a:r>
          </a:p>
          <a:p>
            <a:pPr>
              <a:defRPr sz="1500" b="0">
                <a:solidFill>
                  <a:srgbClr val="FFFFFF"/>
                </a:solidFill>
                <a:latin typeface="Aptos"/>
              </a:defRPr>
            </a:pPr>
            <a:r>
              <a:t>January 2013 – July 2015</a:t>
            </a:r>
          </a:p>
        </p:txBody>
      </p:sp>
      <p:sp>
        <p:nvSpPr>
          <p:cNvPr id="8" name="TextBox 7"/>
          <p:cNvSpPr txBox="1"/>
          <p:nvPr/>
        </p:nvSpPr>
        <p:spPr>
          <a:xfrm>
            <a:off x="5760720" y="1051560"/>
            <a:ext cx="5852160" cy="640080"/>
          </a:xfrm>
          <a:prstGeom prst="rect">
            <a:avLst/>
          </a:prstGeom>
          <a:noFill/>
        </p:spPr>
        <p:txBody>
          <a:bodyPr wrap="square">
            <a:spAutoFit/>
          </a:bodyPr>
          <a:lstStyle/>
          <a:p>
            <a:pPr>
              <a:defRPr sz="2700" b="1">
                <a:solidFill>
                  <a:srgbClr val="1A222B"/>
                </a:solidFill>
                <a:latin typeface="Aptos"/>
              </a:defRPr>
            </a:pPr>
            <a:r>
              <a:t>A data-driven approach to retail sales planning</a:t>
            </a:r>
          </a:p>
        </p:txBody>
      </p:sp>
      <p:sp>
        <p:nvSpPr>
          <p:cNvPr id="9" name="Rounded Rectangle 8"/>
          <p:cNvSpPr/>
          <p:nvPr/>
        </p:nvSpPr>
        <p:spPr>
          <a:xfrm>
            <a:off x="5852160" y="2011680"/>
            <a:ext cx="5212080" cy="859536"/>
          </a:xfrm>
          <a:prstGeom prst="roundRect">
            <a:avLst>
              <a:gd name="adj" fmla="val 12000"/>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53328" y="2194560"/>
            <a:ext cx="4809744" cy="475488"/>
          </a:xfrm>
          <a:prstGeom prst="rect">
            <a:avLst/>
          </a:prstGeom>
          <a:noFill/>
        </p:spPr>
        <p:txBody>
          <a:bodyPr wrap="square">
            <a:spAutoFit/>
          </a:bodyPr>
          <a:lstStyle/>
          <a:p>
            <a:pPr>
              <a:defRPr sz="2000" b="1">
                <a:solidFill>
                  <a:srgbClr val="1A222B"/>
                </a:solidFill>
                <a:latin typeface="Aptos"/>
              </a:defRPr>
            </a:pPr>
            <a:r>
              <a:t>01   Understand demand</a:t>
            </a:r>
          </a:p>
        </p:txBody>
      </p:sp>
      <p:sp>
        <p:nvSpPr>
          <p:cNvPr id="11" name="Rounded Rectangle 10"/>
          <p:cNvSpPr/>
          <p:nvPr/>
        </p:nvSpPr>
        <p:spPr>
          <a:xfrm>
            <a:off x="5852160" y="3035808"/>
            <a:ext cx="5212080" cy="859536"/>
          </a:xfrm>
          <a:prstGeom prst="roundRect">
            <a:avLst>
              <a:gd name="adj" fmla="val 12000"/>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53328" y="3218688"/>
            <a:ext cx="4809744" cy="475488"/>
          </a:xfrm>
          <a:prstGeom prst="rect">
            <a:avLst/>
          </a:prstGeom>
          <a:noFill/>
        </p:spPr>
        <p:txBody>
          <a:bodyPr wrap="square">
            <a:spAutoFit/>
          </a:bodyPr>
          <a:lstStyle/>
          <a:p>
            <a:pPr>
              <a:defRPr sz="2000" b="1">
                <a:solidFill>
                  <a:srgbClr val="1A222B"/>
                </a:solidFill>
                <a:latin typeface="Aptos"/>
              </a:defRPr>
            </a:pPr>
            <a:r>
              <a:t>02   Identify seasonality</a:t>
            </a:r>
          </a:p>
        </p:txBody>
      </p:sp>
      <p:sp>
        <p:nvSpPr>
          <p:cNvPr id="13" name="Rounded Rectangle 12"/>
          <p:cNvSpPr/>
          <p:nvPr/>
        </p:nvSpPr>
        <p:spPr>
          <a:xfrm>
            <a:off x="5852160" y="4059936"/>
            <a:ext cx="5212080" cy="859536"/>
          </a:xfrm>
          <a:prstGeom prst="roundRect">
            <a:avLst>
              <a:gd name="adj" fmla="val 12000"/>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53328" y="4242816"/>
            <a:ext cx="4809744" cy="475488"/>
          </a:xfrm>
          <a:prstGeom prst="rect">
            <a:avLst/>
          </a:prstGeom>
          <a:noFill/>
        </p:spPr>
        <p:txBody>
          <a:bodyPr wrap="square">
            <a:spAutoFit/>
          </a:bodyPr>
          <a:lstStyle/>
          <a:p>
            <a:pPr>
              <a:defRPr sz="2000" b="1">
                <a:solidFill>
                  <a:srgbClr val="1A222B"/>
                </a:solidFill>
                <a:latin typeface="Aptos"/>
              </a:defRPr>
            </a:pPr>
            <a:r>
              <a:t>03   Compare forecasting models</a:t>
            </a:r>
          </a:p>
        </p:txBody>
      </p:sp>
      <p:sp>
        <p:nvSpPr>
          <p:cNvPr id="15" name="Rounded Rectangle 14"/>
          <p:cNvSpPr/>
          <p:nvPr/>
        </p:nvSpPr>
        <p:spPr>
          <a:xfrm>
            <a:off x="5852160" y="5084064"/>
            <a:ext cx="5212080" cy="859536"/>
          </a:xfrm>
          <a:prstGeom prst="roundRect">
            <a:avLst>
              <a:gd name="adj" fmla="val 12000"/>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53328" y="5266944"/>
            <a:ext cx="4809744" cy="475488"/>
          </a:xfrm>
          <a:prstGeom prst="rect">
            <a:avLst/>
          </a:prstGeom>
          <a:noFill/>
        </p:spPr>
        <p:txBody>
          <a:bodyPr wrap="square">
            <a:spAutoFit/>
          </a:bodyPr>
          <a:lstStyle/>
          <a:p>
            <a:pPr>
              <a:defRPr sz="2000" b="1">
                <a:solidFill>
                  <a:srgbClr val="1A222B"/>
                </a:solidFill>
                <a:latin typeface="Aptos"/>
              </a:defRPr>
            </a:pPr>
            <a:r>
              <a:t>04   Support business decisions</a:t>
            </a:r>
          </a:p>
        </p:txBody>
      </p:sp>
      <p:sp>
        <p:nvSpPr>
          <p:cNvPr id="17" name="TextBox 16"/>
          <p:cNvSpPr txBox="1"/>
          <p:nvPr/>
        </p:nvSpPr>
        <p:spPr>
          <a:xfrm>
            <a:off x="704088" y="5349240"/>
            <a:ext cx="4434840" cy="365760"/>
          </a:xfrm>
          <a:prstGeom prst="rect">
            <a:avLst/>
          </a:prstGeom>
          <a:noFill/>
        </p:spPr>
        <p:txBody>
          <a:bodyPr wrap="square">
            <a:spAutoFit/>
          </a:bodyPr>
          <a:lstStyle/>
          <a:p>
            <a:pPr>
              <a:defRPr sz="1700" b="1">
                <a:solidFill>
                  <a:srgbClr val="E85F11"/>
                </a:solidFill>
                <a:latin typeface="Aptos"/>
              </a:defRPr>
            </a:pPr>
            <a:r>
              <a:t>PRESENTED BY THE POD GROUP</a:t>
            </a:r>
          </a:p>
        </p:txBody>
      </p:sp>
      <p:sp>
        <p:nvSpPr>
          <p:cNvPr id="18" name="TextBox 17"/>
          <p:cNvSpPr txBox="1"/>
          <p:nvPr/>
        </p:nvSpPr>
        <p:spPr>
          <a:xfrm>
            <a:off x="11112703" y="6547104"/>
            <a:ext cx="749808" cy="192024"/>
          </a:xfrm>
          <a:prstGeom prst="rect">
            <a:avLst/>
          </a:prstGeom>
          <a:noFill/>
        </p:spPr>
        <p:txBody>
          <a:bodyPr wrap="square">
            <a:spAutoFit/>
          </a:bodyPr>
          <a:lstStyle/>
          <a:p>
            <a:pPr>
              <a:defRPr sz="1000" b="0">
                <a:solidFill>
                  <a:srgbClr val="63676D"/>
                </a:solidFill>
                <a:latin typeface="Aptos"/>
              </a:defRPr>
            </a:pPr>
            <a:r>
              <a:rPr sz="800"/>
              <a:t>01 / 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74320"/>
            <a:ext cx="10972800" cy="502920"/>
          </a:xfrm>
          <a:prstGeom prst="rect">
            <a:avLst/>
          </a:prstGeom>
          <a:noFill/>
        </p:spPr>
        <p:txBody>
          <a:bodyPr wrap="square">
            <a:spAutoFit/>
          </a:bodyPr>
          <a:lstStyle/>
          <a:p>
            <a:r>
              <a:t>1.1 Overview</a:t>
            </a:r>
          </a:p>
        </p:txBody>
      </p:sp>
      <p:sp>
        <p:nvSpPr>
          <p:cNvPr id="3" name="Rectangle 2"/>
          <p:cNvSpPr/>
          <p:nvPr/>
        </p:nvSpPr>
        <p:spPr>
          <a:xfrm>
            <a:off x="594360" y="932688"/>
            <a:ext cx="786384" cy="50292"/>
          </a:xfrm>
          <a:prstGeom prst="rect">
            <a:avLst/>
          </a:prstGeom>
          <a:solidFill>
            <a:srgbClr val="E85F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112703" y="6547104"/>
            <a:ext cx="749808" cy="192024"/>
          </a:xfrm>
          <a:prstGeom prst="rect">
            <a:avLst/>
          </a:prstGeom>
          <a:noFill/>
        </p:spPr>
        <p:txBody>
          <a:bodyPr wrap="square">
            <a:spAutoFit/>
          </a:bodyPr>
          <a:lstStyle/>
          <a:p>
            <a:r>
              <a:rPr sz="800"/>
              <a:t>02 / 29</a:t>
            </a:r>
          </a:p>
        </p:txBody>
      </p:sp>
      <p:sp>
        <p:nvSpPr>
          <p:cNvPr id="5" name="TextBox 4"/>
          <p:cNvSpPr txBox="1"/>
          <p:nvPr/>
        </p:nvSpPr>
        <p:spPr>
          <a:xfrm>
            <a:off x="612648" y="6510528"/>
            <a:ext cx="3657600" cy="182880"/>
          </a:xfrm>
          <a:prstGeom prst="rect">
            <a:avLst/>
          </a:prstGeom>
          <a:noFill/>
        </p:spPr>
        <p:txBody>
          <a:bodyPr wrap="square">
            <a:spAutoFit/>
          </a:bodyPr>
          <a:lstStyle/>
          <a:p>
            <a:pPr>
              <a:defRPr sz="1000" b="1">
                <a:solidFill>
                  <a:srgbClr val="64696F"/>
                </a:solidFill>
                <a:latin typeface="Aptos"/>
              </a:defRPr>
            </a:pPr>
            <a:r>
              <a:t>ROSSMANN  /  STORE 800</a:t>
            </a:r>
          </a:p>
        </p:txBody>
      </p:sp>
      <p:sp>
        <p:nvSpPr>
          <p:cNvPr id="6" name="Rounded Rectangle 5"/>
          <p:cNvSpPr/>
          <p:nvPr/>
        </p:nvSpPr>
        <p:spPr>
          <a:xfrm>
            <a:off x="640080" y="1417320"/>
            <a:ext cx="2670048" cy="1965960"/>
          </a:xfrm>
          <a:prstGeom prst="roundRect">
            <a:avLst>
              <a:gd name="adj" fmla="val 12000"/>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1600200"/>
            <a:ext cx="2267712" cy="475488"/>
          </a:xfrm>
          <a:prstGeom prst="rect">
            <a:avLst/>
          </a:prstGeom>
          <a:noFill/>
        </p:spPr>
        <p:txBody>
          <a:bodyPr wrap="square">
            <a:spAutoFit/>
          </a:bodyPr>
          <a:lstStyle/>
          <a:p>
            <a:pPr>
              <a:defRPr sz="2000" b="1">
                <a:solidFill>
                  <a:srgbClr val="E85F11"/>
                </a:solidFill>
                <a:latin typeface="Aptos"/>
              </a:defRPr>
            </a:pPr>
            <a:r>
              <a:t>Retail industry</a:t>
            </a:r>
          </a:p>
        </p:txBody>
      </p:sp>
      <p:sp>
        <p:nvSpPr>
          <p:cNvPr id="8" name="TextBox 7"/>
          <p:cNvSpPr txBox="1"/>
          <p:nvPr/>
        </p:nvSpPr>
        <p:spPr>
          <a:xfrm>
            <a:off x="841247" y="2176272"/>
            <a:ext cx="2267712" cy="1051560"/>
          </a:xfrm>
          <a:prstGeom prst="rect">
            <a:avLst/>
          </a:prstGeom>
          <a:noFill/>
        </p:spPr>
        <p:txBody>
          <a:bodyPr wrap="square">
            <a:spAutoFit/>
          </a:bodyPr>
          <a:lstStyle/>
          <a:p>
            <a:pPr>
              <a:defRPr sz="1500" b="0">
                <a:solidFill>
                  <a:srgbClr val="1A222B"/>
                </a:solidFill>
                <a:latin typeface="Aptos"/>
              </a:defRPr>
            </a:pPr>
            <a:r>
              <a:t>Daily store-level demand</a:t>
            </a:r>
          </a:p>
        </p:txBody>
      </p:sp>
      <p:sp>
        <p:nvSpPr>
          <p:cNvPr id="9" name="Rounded Rectangle 8"/>
          <p:cNvSpPr/>
          <p:nvPr/>
        </p:nvSpPr>
        <p:spPr>
          <a:xfrm>
            <a:off x="3520439" y="1417320"/>
            <a:ext cx="2670048" cy="1965960"/>
          </a:xfrm>
          <a:prstGeom prst="roundRect">
            <a:avLst>
              <a:gd name="adj" fmla="val 12000"/>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21607" y="1600200"/>
            <a:ext cx="2267712" cy="475488"/>
          </a:xfrm>
          <a:prstGeom prst="rect">
            <a:avLst/>
          </a:prstGeom>
          <a:noFill/>
        </p:spPr>
        <p:txBody>
          <a:bodyPr wrap="square">
            <a:spAutoFit/>
          </a:bodyPr>
          <a:lstStyle/>
          <a:p>
            <a:pPr>
              <a:defRPr sz="2000" b="1">
                <a:solidFill>
                  <a:srgbClr val="E85F11"/>
                </a:solidFill>
                <a:latin typeface="Aptos"/>
              </a:defRPr>
            </a:pPr>
            <a:r>
              <a:t>Real-world data</a:t>
            </a:r>
          </a:p>
        </p:txBody>
      </p:sp>
      <p:sp>
        <p:nvSpPr>
          <p:cNvPr id="11" name="TextBox 10"/>
          <p:cNvSpPr txBox="1"/>
          <p:nvPr/>
        </p:nvSpPr>
        <p:spPr>
          <a:xfrm>
            <a:off x="3721607" y="2176272"/>
            <a:ext cx="2267712" cy="1051560"/>
          </a:xfrm>
          <a:prstGeom prst="rect">
            <a:avLst/>
          </a:prstGeom>
          <a:noFill/>
        </p:spPr>
        <p:txBody>
          <a:bodyPr wrap="square">
            <a:spAutoFit/>
          </a:bodyPr>
          <a:lstStyle/>
          <a:p>
            <a:pPr>
              <a:defRPr sz="1500" b="0">
                <a:solidFill>
                  <a:srgbClr val="1A222B"/>
                </a:solidFill>
                <a:latin typeface="Aptos"/>
              </a:defRPr>
            </a:pPr>
            <a:r>
              <a:t>Observed sales and calendar flags</a:t>
            </a:r>
          </a:p>
        </p:txBody>
      </p:sp>
      <p:sp>
        <p:nvSpPr>
          <p:cNvPr id="12" name="Rounded Rectangle 11"/>
          <p:cNvSpPr/>
          <p:nvPr/>
        </p:nvSpPr>
        <p:spPr>
          <a:xfrm>
            <a:off x="6400800" y="1417320"/>
            <a:ext cx="2670048" cy="1965960"/>
          </a:xfrm>
          <a:prstGeom prst="roundRect">
            <a:avLst>
              <a:gd name="adj" fmla="val 12000"/>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01968" y="1600200"/>
            <a:ext cx="2267712" cy="475488"/>
          </a:xfrm>
          <a:prstGeom prst="rect">
            <a:avLst/>
          </a:prstGeom>
          <a:noFill/>
        </p:spPr>
        <p:txBody>
          <a:bodyPr wrap="square">
            <a:spAutoFit/>
          </a:bodyPr>
          <a:lstStyle/>
          <a:p>
            <a:pPr>
              <a:defRPr sz="2000" b="1">
                <a:solidFill>
                  <a:srgbClr val="E85F11"/>
                </a:solidFill>
                <a:latin typeface="Aptos"/>
              </a:defRPr>
            </a:pPr>
            <a:r>
              <a:t>Time series</a:t>
            </a:r>
          </a:p>
        </p:txBody>
      </p:sp>
      <p:sp>
        <p:nvSpPr>
          <p:cNvPr id="14" name="TextBox 13"/>
          <p:cNvSpPr txBox="1"/>
          <p:nvPr/>
        </p:nvSpPr>
        <p:spPr>
          <a:xfrm>
            <a:off x="6601968" y="2176272"/>
            <a:ext cx="2267712" cy="1051560"/>
          </a:xfrm>
          <a:prstGeom prst="rect">
            <a:avLst/>
          </a:prstGeom>
          <a:noFill/>
        </p:spPr>
        <p:txBody>
          <a:bodyPr wrap="square">
            <a:spAutoFit/>
          </a:bodyPr>
          <a:lstStyle/>
          <a:p>
            <a:pPr>
              <a:defRPr sz="1500" b="0">
                <a:solidFill>
                  <a:srgbClr val="1A222B"/>
                </a:solidFill>
                <a:latin typeface="Aptos"/>
              </a:defRPr>
            </a:pPr>
            <a:r>
              <a:t>Trend, seasonality, and variability</a:t>
            </a:r>
          </a:p>
        </p:txBody>
      </p:sp>
      <p:sp>
        <p:nvSpPr>
          <p:cNvPr id="15" name="Rounded Rectangle 14"/>
          <p:cNvSpPr/>
          <p:nvPr/>
        </p:nvSpPr>
        <p:spPr>
          <a:xfrm>
            <a:off x="9281159" y="1417320"/>
            <a:ext cx="2670048" cy="1965960"/>
          </a:xfrm>
          <a:prstGeom prst="roundRect">
            <a:avLst>
              <a:gd name="adj" fmla="val 12000"/>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82328" y="1600200"/>
            <a:ext cx="2267712" cy="475488"/>
          </a:xfrm>
          <a:prstGeom prst="rect">
            <a:avLst/>
          </a:prstGeom>
          <a:noFill/>
        </p:spPr>
        <p:txBody>
          <a:bodyPr wrap="square">
            <a:spAutoFit/>
          </a:bodyPr>
          <a:lstStyle/>
          <a:p>
            <a:pPr>
              <a:defRPr sz="2000" b="1">
                <a:solidFill>
                  <a:srgbClr val="E85F11"/>
                </a:solidFill>
                <a:latin typeface="Aptos"/>
              </a:defRPr>
            </a:pPr>
            <a:r>
              <a:t>Business value</a:t>
            </a:r>
          </a:p>
        </p:txBody>
      </p:sp>
      <p:sp>
        <p:nvSpPr>
          <p:cNvPr id="17" name="TextBox 16"/>
          <p:cNvSpPr txBox="1"/>
          <p:nvPr/>
        </p:nvSpPr>
        <p:spPr>
          <a:xfrm>
            <a:off x="9482328" y="2176272"/>
            <a:ext cx="2267712" cy="1051560"/>
          </a:xfrm>
          <a:prstGeom prst="rect">
            <a:avLst/>
          </a:prstGeom>
          <a:noFill/>
        </p:spPr>
        <p:txBody>
          <a:bodyPr wrap="square">
            <a:spAutoFit/>
          </a:bodyPr>
          <a:lstStyle/>
          <a:p>
            <a:pPr>
              <a:defRPr sz="1500" b="0">
                <a:solidFill>
                  <a:srgbClr val="1A222B"/>
                </a:solidFill>
                <a:latin typeface="Aptos"/>
              </a:defRPr>
            </a:pPr>
            <a:r>
              <a:t>Staffing and inventory planning</a:t>
            </a:r>
          </a:p>
        </p:txBody>
      </p:sp>
      <p:sp>
        <p:nvSpPr>
          <p:cNvPr id="18" name="Rounded Rectangle 17"/>
          <p:cNvSpPr/>
          <p:nvPr/>
        </p:nvSpPr>
        <p:spPr>
          <a:xfrm>
            <a:off x="640080" y="3822191"/>
            <a:ext cx="10881360" cy="1508760"/>
          </a:xfrm>
          <a:prstGeom prst="roundRect">
            <a:avLst>
              <a:gd name="adj" fmla="val 12000"/>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059936"/>
            <a:ext cx="1828800" cy="411480"/>
          </a:xfrm>
          <a:prstGeom prst="rect">
            <a:avLst/>
          </a:prstGeom>
          <a:noFill/>
        </p:spPr>
        <p:txBody>
          <a:bodyPr wrap="square">
            <a:spAutoFit/>
          </a:bodyPr>
          <a:lstStyle/>
          <a:p>
            <a:pPr>
              <a:defRPr sz="1900" b="1">
                <a:solidFill>
                  <a:srgbClr val="E85F11"/>
                </a:solidFill>
                <a:latin typeface="Aptos"/>
              </a:defRPr>
            </a:pPr>
            <a:r>
              <a:t>Purpose</a:t>
            </a:r>
          </a:p>
        </p:txBody>
      </p:sp>
      <p:sp>
        <p:nvSpPr>
          <p:cNvPr id="20" name="TextBox 19"/>
          <p:cNvSpPr txBox="1"/>
          <p:nvPr/>
        </p:nvSpPr>
        <p:spPr>
          <a:xfrm>
            <a:off x="914400" y="4553712"/>
            <a:ext cx="9966960" cy="694944"/>
          </a:xfrm>
          <a:prstGeom prst="rect">
            <a:avLst/>
          </a:prstGeom>
          <a:noFill/>
        </p:spPr>
        <p:txBody>
          <a:bodyPr wrap="square">
            <a:spAutoFit/>
          </a:bodyPr>
          <a:lstStyle/>
          <a:p>
            <a:pPr>
              <a:defRPr sz="2100" b="0">
                <a:solidFill>
                  <a:srgbClr val="1A222B"/>
                </a:solidFill>
                <a:latin typeface="Aptos"/>
              </a:defRPr>
            </a:pPr>
            <a:r>
              <a:t>Develop a reproducible six-week sales forecasting approach for Rossmann Store 800 and compare it against simple benchmarks.</a:t>
            </a:r>
          </a:p>
        </p:txBody>
      </p:sp>
      <p:sp>
        <p:nvSpPr>
          <p:cNvPr id="21" name="TextBox 20"/>
          <p:cNvSpPr txBox="1"/>
          <p:nvPr/>
        </p:nvSpPr>
        <p:spPr>
          <a:xfrm>
            <a:off x="9875520" y="6501384"/>
            <a:ext cx="1097280" cy="201168"/>
          </a:xfrm>
          <a:prstGeom prst="rect">
            <a:avLst/>
          </a:prstGeom>
          <a:noFill/>
        </p:spPr>
        <p:txBody>
          <a:bodyPr wrap="square">
            <a:spAutoFit/>
          </a:bodyPr>
          <a:lstStyle/>
          <a:p>
            <a:pPr>
              <a:defRPr sz="900" b="1">
                <a:solidFill>
                  <a:srgbClr val="E85F11"/>
                </a:solidFill>
                <a:latin typeface="Aptos"/>
              </a:defRPr>
            </a:pPr>
            <a:r>
              <a:t>POD GROUP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74320"/>
            <a:ext cx="10972800" cy="502920"/>
          </a:xfrm>
          <a:prstGeom prst="rect">
            <a:avLst/>
          </a:prstGeom>
          <a:noFill/>
        </p:spPr>
        <p:txBody>
          <a:bodyPr wrap="square">
            <a:spAutoFit/>
          </a:bodyPr>
          <a:lstStyle/>
          <a:p>
            <a:r>
              <a:t>1.2 Business Problem</a:t>
            </a:r>
          </a:p>
        </p:txBody>
      </p:sp>
      <p:sp>
        <p:nvSpPr>
          <p:cNvPr id="3" name="Rectangle 2"/>
          <p:cNvSpPr/>
          <p:nvPr/>
        </p:nvSpPr>
        <p:spPr>
          <a:xfrm>
            <a:off x="594360" y="932688"/>
            <a:ext cx="786384" cy="50292"/>
          </a:xfrm>
          <a:prstGeom prst="rect">
            <a:avLst/>
          </a:prstGeom>
          <a:solidFill>
            <a:srgbClr val="E85F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112703" y="6547104"/>
            <a:ext cx="749808" cy="192024"/>
          </a:xfrm>
          <a:prstGeom prst="rect">
            <a:avLst/>
          </a:prstGeom>
          <a:noFill/>
        </p:spPr>
        <p:txBody>
          <a:bodyPr wrap="square">
            <a:spAutoFit/>
          </a:bodyPr>
          <a:lstStyle/>
          <a:p>
            <a:r>
              <a:rPr sz="800"/>
              <a:t>03 / 29</a:t>
            </a:r>
          </a:p>
        </p:txBody>
      </p:sp>
      <p:sp>
        <p:nvSpPr>
          <p:cNvPr id="5" name="TextBox 4"/>
          <p:cNvSpPr txBox="1"/>
          <p:nvPr/>
        </p:nvSpPr>
        <p:spPr>
          <a:xfrm>
            <a:off x="612648" y="6510528"/>
            <a:ext cx="3657600" cy="182880"/>
          </a:xfrm>
          <a:prstGeom prst="rect">
            <a:avLst/>
          </a:prstGeom>
          <a:noFill/>
        </p:spPr>
        <p:txBody>
          <a:bodyPr wrap="square">
            <a:spAutoFit/>
          </a:bodyPr>
          <a:lstStyle/>
          <a:p>
            <a:pPr>
              <a:defRPr sz="1000" b="1">
                <a:solidFill>
                  <a:srgbClr val="64696F"/>
                </a:solidFill>
                <a:latin typeface="Aptos"/>
              </a:defRPr>
            </a:pPr>
            <a:r>
              <a:t>ROSSMANN  /  STORE 800</a:t>
            </a:r>
          </a:p>
        </p:txBody>
      </p:sp>
      <p:sp>
        <p:nvSpPr>
          <p:cNvPr id="6" name="Rounded Rectangle 5"/>
          <p:cNvSpPr/>
          <p:nvPr/>
        </p:nvSpPr>
        <p:spPr>
          <a:xfrm>
            <a:off x="658368" y="1371600"/>
            <a:ext cx="5212080" cy="4297680"/>
          </a:xfrm>
          <a:prstGeom prst="roundRect">
            <a:avLst>
              <a:gd name="adj" fmla="val 12000"/>
            </a:avLst>
          </a:prstGeom>
          <a:solidFill>
            <a:srgbClr val="1A2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1554480"/>
            <a:ext cx="4809744" cy="475488"/>
          </a:xfrm>
          <a:prstGeom prst="rect">
            <a:avLst/>
          </a:prstGeom>
          <a:noFill/>
        </p:spPr>
        <p:txBody>
          <a:bodyPr wrap="square">
            <a:spAutoFit/>
          </a:bodyPr>
          <a:lstStyle/>
          <a:p>
            <a:pPr>
              <a:defRPr sz="2000" b="1">
                <a:solidFill>
                  <a:srgbClr val="FFFFFF"/>
                </a:solidFill>
                <a:latin typeface="Aptos"/>
              </a:defRPr>
            </a:pPr>
            <a:r>
              <a:t>Why accuracy matters</a:t>
            </a:r>
          </a:p>
        </p:txBody>
      </p:sp>
      <p:sp>
        <p:nvSpPr>
          <p:cNvPr id="8" name="TextBox 7"/>
          <p:cNvSpPr txBox="1"/>
          <p:nvPr/>
        </p:nvSpPr>
        <p:spPr>
          <a:xfrm>
            <a:off x="859536" y="2130552"/>
            <a:ext cx="4809744" cy="3383280"/>
          </a:xfrm>
          <a:prstGeom prst="rect">
            <a:avLst/>
          </a:prstGeom>
          <a:noFill/>
        </p:spPr>
        <p:txBody>
          <a:bodyPr wrap="square">
            <a:spAutoFit/>
          </a:bodyPr>
          <a:lstStyle/>
          <a:p>
            <a:pPr>
              <a:defRPr sz="1500" b="0">
                <a:solidFill>
                  <a:srgbClr val="FFFFFF"/>
                </a:solidFill>
                <a:latin typeface="Aptos"/>
              </a:defRPr>
            </a:pPr>
            <a:r>
              <a:t>Unpredictable sales create operational challenges: stock shortages, excess inventory, inefficient staffing and inconsistent planning.</a:t>
            </a:r>
          </a:p>
        </p:txBody>
      </p:sp>
      <p:sp>
        <p:nvSpPr>
          <p:cNvPr id="9" name="Rounded Rectangle 8"/>
          <p:cNvSpPr/>
          <p:nvPr/>
        </p:nvSpPr>
        <p:spPr>
          <a:xfrm>
            <a:off x="6080760" y="1371600"/>
            <a:ext cx="5440680" cy="1920240"/>
          </a:xfrm>
          <a:prstGeom prst="roundRect">
            <a:avLst>
              <a:gd name="adj" fmla="val 12000"/>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81928" y="1554480"/>
            <a:ext cx="5038344" cy="475488"/>
          </a:xfrm>
          <a:prstGeom prst="rect">
            <a:avLst/>
          </a:prstGeom>
          <a:noFill/>
        </p:spPr>
        <p:txBody>
          <a:bodyPr wrap="square">
            <a:spAutoFit/>
          </a:bodyPr>
          <a:lstStyle/>
          <a:p>
            <a:pPr>
              <a:defRPr sz="2000" b="1">
                <a:solidFill>
                  <a:srgbClr val="E85F11"/>
                </a:solidFill>
                <a:latin typeface="Aptos"/>
              </a:defRPr>
            </a:pPr>
            <a:r>
              <a:t>The challenge</a:t>
            </a:r>
          </a:p>
        </p:txBody>
      </p:sp>
      <p:sp>
        <p:nvSpPr>
          <p:cNvPr id="11" name="TextBox 10"/>
          <p:cNvSpPr txBox="1"/>
          <p:nvPr/>
        </p:nvSpPr>
        <p:spPr>
          <a:xfrm>
            <a:off x="6281928" y="2130552"/>
            <a:ext cx="5038344" cy="1005840"/>
          </a:xfrm>
          <a:prstGeom prst="rect">
            <a:avLst/>
          </a:prstGeom>
          <a:noFill/>
        </p:spPr>
        <p:txBody>
          <a:bodyPr wrap="square">
            <a:spAutoFit/>
          </a:bodyPr>
          <a:lstStyle/>
          <a:p>
            <a:pPr>
              <a:defRPr sz="1500" b="0">
                <a:solidFill>
                  <a:srgbClr val="1A222B"/>
                </a:solidFill>
                <a:latin typeface="Aptos"/>
              </a:defRPr>
            </a:pPr>
            <a:r>
              <a:t>Weekly cycles, promotions, holidays and store closures change daily sales.</a:t>
            </a:r>
          </a:p>
        </p:txBody>
      </p:sp>
      <p:sp>
        <p:nvSpPr>
          <p:cNvPr id="12" name="Rounded Rectangle 11"/>
          <p:cNvSpPr/>
          <p:nvPr/>
        </p:nvSpPr>
        <p:spPr>
          <a:xfrm>
            <a:off x="6080760" y="3520440"/>
            <a:ext cx="5440680" cy="2148840"/>
          </a:xfrm>
          <a:prstGeom prst="roundRect">
            <a:avLst>
              <a:gd name="adj" fmla="val 12000"/>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81928" y="3703320"/>
            <a:ext cx="5038344" cy="475488"/>
          </a:xfrm>
          <a:prstGeom prst="rect">
            <a:avLst/>
          </a:prstGeom>
          <a:noFill/>
        </p:spPr>
        <p:txBody>
          <a:bodyPr wrap="square">
            <a:spAutoFit/>
          </a:bodyPr>
          <a:lstStyle/>
          <a:p>
            <a:pPr>
              <a:defRPr sz="2000" b="1">
                <a:solidFill>
                  <a:srgbClr val="E85F11"/>
                </a:solidFill>
                <a:latin typeface="Aptos"/>
              </a:defRPr>
            </a:pPr>
            <a:r>
              <a:t>The analytical response</a:t>
            </a:r>
          </a:p>
        </p:txBody>
      </p:sp>
      <p:sp>
        <p:nvSpPr>
          <p:cNvPr id="14" name="TextBox 13"/>
          <p:cNvSpPr txBox="1"/>
          <p:nvPr/>
        </p:nvSpPr>
        <p:spPr>
          <a:xfrm>
            <a:off x="6281928" y="4279392"/>
            <a:ext cx="5038344" cy="1234440"/>
          </a:xfrm>
          <a:prstGeom prst="rect">
            <a:avLst/>
          </a:prstGeom>
          <a:noFill/>
        </p:spPr>
        <p:txBody>
          <a:bodyPr wrap="square">
            <a:spAutoFit/>
          </a:bodyPr>
          <a:lstStyle/>
          <a:p>
            <a:pPr>
              <a:defRPr sz="1500" b="0">
                <a:solidFill>
                  <a:srgbClr val="1A222B"/>
                </a:solidFill>
                <a:latin typeface="Aptos"/>
              </a:defRPr>
            </a:pPr>
            <a:r>
              <a:t>Compare forecasting methods fairly and recommend a model only if it improves on a simple seasonal benchmark.</a:t>
            </a:r>
          </a:p>
        </p:txBody>
      </p:sp>
      <p:sp>
        <p:nvSpPr>
          <p:cNvPr id="15" name="TextBox 14"/>
          <p:cNvSpPr txBox="1"/>
          <p:nvPr/>
        </p:nvSpPr>
        <p:spPr>
          <a:xfrm>
            <a:off x="9875520" y="6501384"/>
            <a:ext cx="1097280" cy="201168"/>
          </a:xfrm>
          <a:prstGeom prst="rect">
            <a:avLst/>
          </a:prstGeom>
          <a:noFill/>
        </p:spPr>
        <p:txBody>
          <a:bodyPr wrap="square">
            <a:spAutoFit/>
          </a:bodyPr>
          <a:lstStyle/>
          <a:p>
            <a:pPr>
              <a:defRPr sz="900" b="1">
                <a:solidFill>
                  <a:srgbClr val="E85F11"/>
                </a:solidFill>
                <a:latin typeface="Aptos"/>
              </a:defRPr>
            </a:pPr>
            <a:r>
              <a:t>POD GROUP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74320"/>
            <a:ext cx="10972800" cy="502920"/>
          </a:xfrm>
          <a:prstGeom prst="rect">
            <a:avLst/>
          </a:prstGeom>
          <a:noFill/>
        </p:spPr>
        <p:txBody>
          <a:bodyPr wrap="square">
            <a:spAutoFit/>
          </a:bodyPr>
          <a:lstStyle/>
          <a:p>
            <a:r>
              <a:t>1.3 Project Objectives</a:t>
            </a:r>
          </a:p>
        </p:txBody>
      </p:sp>
      <p:sp>
        <p:nvSpPr>
          <p:cNvPr id="3" name="Rectangle 2"/>
          <p:cNvSpPr/>
          <p:nvPr/>
        </p:nvSpPr>
        <p:spPr>
          <a:xfrm>
            <a:off x="594360" y="932688"/>
            <a:ext cx="786384" cy="50292"/>
          </a:xfrm>
          <a:prstGeom prst="rect">
            <a:avLst/>
          </a:prstGeom>
          <a:solidFill>
            <a:srgbClr val="E85F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112703" y="6547104"/>
            <a:ext cx="749808" cy="192024"/>
          </a:xfrm>
          <a:prstGeom prst="rect">
            <a:avLst/>
          </a:prstGeom>
          <a:noFill/>
        </p:spPr>
        <p:txBody>
          <a:bodyPr wrap="square">
            <a:spAutoFit/>
          </a:bodyPr>
          <a:lstStyle/>
          <a:p>
            <a:r>
              <a:rPr sz="800"/>
              <a:t>04 / 29</a:t>
            </a:r>
          </a:p>
        </p:txBody>
      </p:sp>
      <p:sp>
        <p:nvSpPr>
          <p:cNvPr id="5" name="TextBox 4"/>
          <p:cNvSpPr txBox="1"/>
          <p:nvPr/>
        </p:nvSpPr>
        <p:spPr>
          <a:xfrm>
            <a:off x="612648" y="6510528"/>
            <a:ext cx="3657600" cy="182880"/>
          </a:xfrm>
          <a:prstGeom prst="rect">
            <a:avLst/>
          </a:prstGeom>
          <a:noFill/>
        </p:spPr>
        <p:txBody>
          <a:bodyPr wrap="square">
            <a:spAutoFit/>
          </a:bodyPr>
          <a:lstStyle/>
          <a:p>
            <a:pPr>
              <a:defRPr sz="1000" b="1">
                <a:solidFill>
                  <a:srgbClr val="64696F"/>
                </a:solidFill>
                <a:latin typeface="Aptos"/>
              </a:defRPr>
            </a:pPr>
            <a:r>
              <a:t>ROSSMANN  /  STORE 800</a:t>
            </a:r>
          </a:p>
        </p:txBody>
      </p:sp>
      <p:sp>
        <p:nvSpPr>
          <p:cNvPr id="6" name="Rounded Rectangle 5"/>
          <p:cNvSpPr/>
          <p:nvPr/>
        </p:nvSpPr>
        <p:spPr>
          <a:xfrm>
            <a:off x="713232" y="1353312"/>
            <a:ext cx="466344" cy="466344"/>
          </a:xfrm>
          <a:prstGeom prst="roundRect">
            <a:avLst>
              <a:gd name="adj" fmla="val 12000"/>
            </a:avLst>
          </a:prstGeom>
          <a:solidFill>
            <a:srgbClr val="E85F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435608"/>
            <a:ext cx="347472" cy="237744"/>
          </a:xfrm>
          <a:prstGeom prst="rect">
            <a:avLst/>
          </a:prstGeom>
          <a:noFill/>
        </p:spPr>
        <p:txBody>
          <a:bodyPr wrap="square">
            <a:spAutoFit/>
          </a:bodyPr>
          <a:lstStyle/>
          <a:p>
            <a:pPr>
              <a:defRPr sz="1300" b="1">
                <a:solidFill>
                  <a:srgbClr val="FFFFFF"/>
                </a:solidFill>
                <a:latin typeface="Aptos"/>
              </a:defRPr>
            </a:pPr>
            <a:r>
              <a:t>01</a:t>
            </a:r>
          </a:p>
        </p:txBody>
      </p:sp>
      <p:sp>
        <p:nvSpPr>
          <p:cNvPr id="8" name="Rounded Rectangle 7"/>
          <p:cNvSpPr/>
          <p:nvPr/>
        </p:nvSpPr>
        <p:spPr>
          <a:xfrm>
            <a:off x="1353312" y="1353312"/>
            <a:ext cx="10021824" cy="512064"/>
          </a:xfrm>
          <a:prstGeom prst="roundRect">
            <a:avLst>
              <a:gd name="adj" fmla="val 12000"/>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91056" y="1435608"/>
            <a:ext cx="9418320" cy="320040"/>
          </a:xfrm>
          <a:prstGeom prst="rect">
            <a:avLst/>
          </a:prstGeom>
          <a:noFill/>
        </p:spPr>
        <p:txBody>
          <a:bodyPr wrap="square">
            <a:spAutoFit/>
          </a:bodyPr>
          <a:lstStyle/>
          <a:p>
            <a:pPr>
              <a:defRPr sz="1800" b="0">
                <a:solidFill>
                  <a:srgbClr val="1A222B"/>
                </a:solidFill>
                <a:latin typeface="Aptos"/>
              </a:defRPr>
            </a:pPr>
            <a:r>
              <a:t>Prepare and explore historical daily sales</a:t>
            </a:r>
          </a:p>
        </p:txBody>
      </p:sp>
      <p:sp>
        <p:nvSpPr>
          <p:cNvPr id="10" name="Rounded Rectangle 9"/>
          <p:cNvSpPr/>
          <p:nvPr/>
        </p:nvSpPr>
        <p:spPr>
          <a:xfrm>
            <a:off x="713232" y="2075688"/>
            <a:ext cx="466344" cy="466344"/>
          </a:xfrm>
          <a:prstGeom prst="roundRect">
            <a:avLst>
              <a:gd name="adj" fmla="val 12000"/>
            </a:avLst>
          </a:prstGeom>
          <a:solidFill>
            <a:srgbClr val="E85F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157984"/>
            <a:ext cx="347472" cy="237744"/>
          </a:xfrm>
          <a:prstGeom prst="rect">
            <a:avLst/>
          </a:prstGeom>
          <a:noFill/>
        </p:spPr>
        <p:txBody>
          <a:bodyPr wrap="square">
            <a:spAutoFit/>
          </a:bodyPr>
          <a:lstStyle/>
          <a:p>
            <a:pPr>
              <a:defRPr sz="1300" b="1">
                <a:solidFill>
                  <a:srgbClr val="FFFFFF"/>
                </a:solidFill>
                <a:latin typeface="Aptos"/>
              </a:defRPr>
            </a:pPr>
            <a:r>
              <a:t>02</a:t>
            </a:r>
          </a:p>
        </p:txBody>
      </p:sp>
      <p:sp>
        <p:nvSpPr>
          <p:cNvPr id="12" name="Rounded Rectangle 11"/>
          <p:cNvSpPr/>
          <p:nvPr/>
        </p:nvSpPr>
        <p:spPr>
          <a:xfrm>
            <a:off x="1353312" y="2075688"/>
            <a:ext cx="10021824" cy="512064"/>
          </a:xfrm>
          <a:prstGeom prst="roundRect">
            <a:avLst>
              <a:gd name="adj" fmla="val 12000"/>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91056" y="2157984"/>
            <a:ext cx="9418320" cy="320040"/>
          </a:xfrm>
          <a:prstGeom prst="rect">
            <a:avLst/>
          </a:prstGeom>
          <a:noFill/>
        </p:spPr>
        <p:txBody>
          <a:bodyPr wrap="square">
            <a:spAutoFit/>
          </a:bodyPr>
          <a:lstStyle/>
          <a:p>
            <a:pPr>
              <a:defRPr sz="1800" b="0">
                <a:solidFill>
                  <a:srgbClr val="1A222B"/>
                </a:solidFill>
                <a:latin typeface="Aptos"/>
              </a:defRPr>
            </a:pPr>
            <a:r>
              <a:t>Identify trends, weekly seasonality and calendar effects</a:t>
            </a:r>
          </a:p>
        </p:txBody>
      </p:sp>
      <p:sp>
        <p:nvSpPr>
          <p:cNvPr id="14" name="Rounded Rectangle 13"/>
          <p:cNvSpPr/>
          <p:nvPr/>
        </p:nvSpPr>
        <p:spPr>
          <a:xfrm>
            <a:off x="713232" y="2798064"/>
            <a:ext cx="466344" cy="466344"/>
          </a:xfrm>
          <a:prstGeom prst="roundRect">
            <a:avLst>
              <a:gd name="adj" fmla="val 12000"/>
            </a:avLst>
          </a:prstGeom>
          <a:solidFill>
            <a:srgbClr val="E85F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2880360"/>
            <a:ext cx="347472" cy="237744"/>
          </a:xfrm>
          <a:prstGeom prst="rect">
            <a:avLst/>
          </a:prstGeom>
          <a:noFill/>
        </p:spPr>
        <p:txBody>
          <a:bodyPr wrap="square">
            <a:spAutoFit/>
          </a:bodyPr>
          <a:lstStyle/>
          <a:p>
            <a:pPr>
              <a:defRPr sz="1300" b="1">
                <a:solidFill>
                  <a:srgbClr val="FFFFFF"/>
                </a:solidFill>
                <a:latin typeface="Aptos"/>
              </a:defRPr>
            </a:pPr>
            <a:r>
              <a:t>03</a:t>
            </a:r>
          </a:p>
        </p:txBody>
      </p:sp>
      <p:sp>
        <p:nvSpPr>
          <p:cNvPr id="16" name="Rounded Rectangle 15"/>
          <p:cNvSpPr/>
          <p:nvPr/>
        </p:nvSpPr>
        <p:spPr>
          <a:xfrm>
            <a:off x="1353312" y="2798064"/>
            <a:ext cx="10021824" cy="512064"/>
          </a:xfrm>
          <a:prstGeom prst="roundRect">
            <a:avLst>
              <a:gd name="adj" fmla="val 12000"/>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91056" y="2880360"/>
            <a:ext cx="9418320" cy="320040"/>
          </a:xfrm>
          <a:prstGeom prst="rect">
            <a:avLst/>
          </a:prstGeom>
          <a:noFill/>
        </p:spPr>
        <p:txBody>
          <a:bodyPr wrap="square">
            <a:spAutoFit/>
          </a:bodyPr>
          <a:lstStyle/>
          <a:p>
            <a:pPr>
              <a:defRPr sz="1800" b="0">
                <a:solidFill>
                  <a:srgbClr val="1A222B"/>
                </a:solidFill>
                <a:latin typeface="Aptos"/>
              </a:defRPr>
            </a:pPr>
            <a:r>
              <a:t>Test stationarity; examine ACF and PACF</a:t>
            </a:r>
          </a:p>
        </p:txBody>
      </p:sp>
      <p:sp>
        <p:nvSpPr>
          <p:cNvPr id="18" name="Rounded Rectangle 17"/>
          <p:cNvSpPr/>
          <p:nvPr/>
        </p:nvSpPr>
        <p:spPr>
          <a:xfrm>
            <a:off x="713232" y="3520440"/>
            <a:ext cx="466344" cy="466344"/>
          </a:xfrm>
          <a:prstGeom prst="roundRect">
            <a:avLst>
              <a:gd name="adj" fmla="val 12000"/>
            </a:avLst>
          </a:prstGeom>
          <a:solidFill>
            <a:srgbClr val="E85F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602736"/>
            <a:ext cx="347472" cy="237744"/>
          </a:xfrm>
          <a:prstGeom prst="rect">
            <a:avLst/>
          </a:prstGeom>
          <a:noFill/>
        </p:spPr>
        <p:txBody>
          <a:bodyPr wrap="square">
            <a:spAutoFit/>
          </a:bodyPr>
          <a:lstStyle/>
          <a:p>
            <a:pPr>
              <a:defRPr sz="1300" b="1">
                <a:solidFill>
                  <a:srgbClr val="FFFFFF"/>
                </a:solidFill>
                <a:latin typeface="Aptos"/>
              </a:defRPr>
            </a:pPr>
            <a:r>
              <a:t>04</a:t>
            </a:r>
          </a:p>
        </p:txBody>
      </p:sp>
      <p:sp>
        <p:nvSpPr>
          <p:cNvPr id="20" name="Rounded Rectangle 19"/>
          <p:cNvSpPr/>
          <p:nvPr/>
        </p:nvSpPr>
        <p:spPr>
          <a:xfrm>
            <a:off x="1353312" y="3520440"/>
            <a:ext cx="10021824" cy="512064"/>
          </a:xfrm>
          <a:prstGeom prst="roundRect">
            <a:avLst>
              <a:gd name="adj" fmla="val 12000"/>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91056" y="3602736"/>
            <a:ext cx="9418320" cy="320040"/>
          </a:xfrm>
          <a:prstGeom prst="rect">
            <a:avLst/>
          </a:prstGeom>
          <a:noFill/>
        </p:spPr>
        <p:txBody>
          <a:bodyPr wrap="square">
            <a:spAutoFit/>
          </a:bodyPr>
          <a:lstStyle/>
          <a:p>
            <a:pPr>
              <a:defRPr sz="1800" b="0">
                <a:solidFill>
                  <a:srgbClr val="1A222B"/>
                </a:solidFill>
                <a:latin typeface="Aptos"/>
              </a:defRPr>
            </a:pPr>
            <a:r>
              <a:t>Develop and compare baseline and SARIMA forecasts</a:t>
            </a:r>
          </a:p>
        </p:txBody>
      </p:sp>
      <p:sp>
        <p:nvSpPr>
          <p:cNvPr id="22" name="Rounded Rectangle 21"/>
          <p:cNvSpPr/>
          <p:nvPr/>
        </p:nvSpPr>
        <p:spPr>
          <a:xfrm>
            <a:off x="713232" y="4242816"/>
            <a:ext cx="466344" cy="466344"/>
          </a:xfrm>
          <a:prstGeom prst="roundRect">
            <a:avLst>
              <a:gd name="adj" fmla="val 12000"/>
            </a:avLst>
          </a:prstGeom>
          <a:solidFill>
            <a:srgbClr val="E85F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325112"/>
            <a:ext cx="347472" cy="237744"/>
          </a:xfrm>
          <a:prstGeom prst="rect">
            <a:avLst/>
          </a:prstGeom>
          <a:noFill/>
        </p:spPr>
        <p:txBody>
          <a:bodyPr wrap="square">
            <a:spAutoFit/>
          </a:bodyPr>
          <a:lstStyle/>
          <a:p>
            <a:pPr>
              <a:defRPr sz="1300" b="1">
                <a:solidFill>
                  <a:srgbClr val="FFFFFF"/>
                </a:solidFill>
                <a:latin typeface="Aptos"/>
              </a:defRPr>
            </a:pPr>
            <a:r>
              <a:t>05</a:t>
            </a:r>
          </a:p>
        </p:txBody>
      </p:sp>
      <p:sp>
        <p:nvSpPr>
          <p:cNvPr id="24" name="Rounded Rectangle 23"/>
          <p:cNvSpPr/>
          <p:nvPr/>
        </p:nvSpPr>
        <p:spPr>
          <a:xfrm>
            <a:off x="1353312" y="4242816"/>
            <a:ext cx="10021824" cy="512064"/>
          </a:xfrm>
          <a:prstGeom prst="roundRect">
            <a:avLst>
              <a:gd name="adj" fmla="val 12000"/>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591056" y="4325112"/>
            <a:ext cx="9418320" cy="320040"/>
          </a:xfrm>
          <a:prstGeom prst="rect">
            <a:avLst/>
          </a:prstGeom>
          <a:noFill/>
        </p:spPr>
        <p:txBody>
          <a:bodyPr wrap="square">
            <a:spAutoFit/>
          </a:bodyPr>
          <a:lstStyle/>
          <a:p>
            <a:pPr>
              <a:defRPr sz="1800" b="0">
                <a:solidFill>
                  <a:srgbClr val="1A222B"/>
                </a:solidFill>
                <a:latin typeface="Aptos"/>
              </a:defRPr>
            </a:pPr>
            <a:r>
              <a:t>Evaluate MAE, RMSE, residuals and rolling backtests</a:t>
            </a:r>
          </a:p>
        </p:txBody>
      </p:sp>
      <p:sp>
        <p:nvSpPr>
          <p:cNvPr id="26" name="Rounded Rectangle 25"/>
          <p:cNvSpPr/>
          <p:nvPr/>
        </p:nvSpPr>
        <p:spPr>
          <a:xfrm>
            <a:off x="713232" y="4965192"/>
            <a:ext cx="466344" cy="466344"/>
          </a:xfrm>
          <a:prstGeom prst="roundRect">
            <a:avLst>
              <a:gd name="adj" fmla="val 12000"/>
            </a:avLst>
          </a:prstGeom>
          <a:solidFill>
            <a:srgbClr val="E85F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5047488"/>
            <a:ext cx="347472" cy="237744"/>
          </a:xfrm>
          <a:prstGeom prst="rect">
            <a:avLst/>
          </a:prstGeom>
          <a:noFill/>
        </p:spPr>
        <p:txBody>
          <a:bodyPr wrap="square">
            <a:spAutoFit/>
          </a:bodyPr>
          <a:lstStyle/>
          <a:p>
            <a:pPr>
              <a:defRPr sz="1300" b="1">
                <a:solidFill>
                  <a:srgbClr val="FFFFFF"/>
                </a:solidFill>
                <a:latin typeface="Aptos"/>
              </a:defRPr>
            </a:pPr>
            <a:r>
              <a:t>06</a:t>
            </a:r>
          </a:p>
        </p:txBody>
      </p:sp>
      <p:sp>
        <p:nvSpPr>
          <p:cNvPr id="28" name="Rounded Rectangle 27"/>
          <p:cNvSpPr/>
          <p:nvPr/>
        </p:nvSpPr>
        <p:spPr>
          <a:xfrm>
            <a:off x="1353312" y="4965192"/>
            <a:ext cx="10021824" cy="512064"/>
          </a:xfrm>
          <a:prstGeom prst="roundRect">
            <a:avLst>
              <a:gd name="adj" fmla="val 12000"/>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591056" y="5047488"/>
            <a:ext cx="9418320" cy="320040"/>
          </a:xfrm>
          <a:prstGeom prst="rect">
            <a:avLst/>
          </a:prstGeom>
          <a:noFill/>
        </p:spPr>
        <p:txBody>
          <a:bodyPr wrap="square">
            <a:spAutoFit/>
          </a:bodyPr>
          <a:lstStyle/>
          <a:p>
            <a:r>
              <a:t>Produce a six-week forecast and Interpretation of Findings</a:t>
            </a:r>
          </a:p>
        </p:txBody>
      </p:sp>
      <p:sp>
        <p:nvSpPr>
          <p:cNvPr id="30" name="TextBox 29"/>
          <p:cNvSpPr txBox="1"/>
          <p:nvPr/>
        </p:nvSpPr>
        <p:spPr>
          <a:xfrm>
            <a:off x="9875520" y="6501384"/>
            <a:ext cx="1097280" cy="201168"/>
          </a:xfrm>
          <a:prstGeom prst="rect">
            <a:avLst/>
          </a:prstGeom>
          <a:noFill/>
        </p:spPr>
        <p:txBody>
          <a:bodyPr wrap="square">
            <a:spAutoFit/>
          </a:bodyPr>
          <a:lstStyle/>
          <a:p>
            <a:pPr>
              <a:defRPr sz="900" b="1">
                <a:solidFill>
                  <a:srgbClr val="E85F11"/>
                </a:solidFill>
                <a:latin typeface="Aptos"/>
              </a:defRPr>
            </a:pPr>
            <a:r>
              <a:t>POD GROUP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74320"/>
            <a:ext cx="10972800" cy="502920"/>
          </a:xfrm>
          <a:prstGeom prst="rect">
            <a:avLst/>
          </a:prstGeom>
          <a:noFill/>
        </p:spPr>
        <p:txBody>
          <a:bodyPr wrap="square">
            <a:spAutoFit/>
          </a:bodyPr>
          <a:lstStyle/>
          <a:p>
            <a:r>
              <a:t>2.0 Data Overview</a:t>
            </a:r>
          </a:p>
        </p:txBody>
      </p:sp>
      <p:sp>
        <p:nvSpPr>
          <p:cNvPr id="3" name="Rectangle 2"/>
          <p:cNvSpPr/>
          <p:nvPr/>
        </p:nvSpPr>
        <p:spPr>
          <a:xfrm>
            <a:off x="594360" y="932688"/>
            <a:ext cx="786384" cy="50292"/>
          </a:xfrm>
          <a:prstGeom prst="rect">
            <a:avLst/>
          </a:prstGeom>
          <a:solidFill>
            <a:srgbClr val="E85F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112703" y="6547104"/>
            <a:ext cx="749808" cy="192024"/>
          </a:xfrm>
          <a:prstGeom prst="rect">
            <a:avLst/>
          </a:prstGeom>
          <a:noFill/>
        </p:spPr>
        <p:txBody>
          <a:bodyPr wrap="square">
            <a:spAutoFit/>
          </a:bodyPr>
          <a:lstStyle/>
          <a:p>
            <a:r>
              <a:rPr sz="800"/>
              <a:t>05 / 29</a:t>
            </a:r>
          </a:p>
        </p:txBody>
      </p:sp>
      <p:sp>
        <p:nvSpPr>
          <p:cNvPr id="5" name="TextBox 4"/>
          <p:cNvSpPr txBox="1"/>
          <p:nvPr/>
        </p:nvSpPr>
        <p:spPr>
          <a:xfrm>
            <a:off x="612648" y="6510528"/>
            <a:ext cx="3657600" cy="182880"/>
          </a:xfrm>
          <a:prstGeom prst="rect">
            <a:avLst/>
          </a:prstGeom>
          <a:noFill/>
        </p:spPr>
        <p:txBody>
          <a:bodyPr wrap="square">
            <a:spAutoFit/>
          </a:bodyPr>
          <a:lstStyle/>
          <a:p>
            <a:pPr>
              <a:defRPr sz="1000" b="1">
                <a:solidFill>
                  <a:srgbClr val="64696F"/>
                </a:solidFill>
                <a:latin typeface="Aptos"/>
              </a:defRPr>
            </a:pPr>
            <a:r>
              <a:t>ROSSMANN  /  STORE 800</a:t>
            </a:r>
          </a:p>
        </p:txBody>
      </p:sp>
      <p:sp>
        <p:nvSpPr>
          <p:cNvPr id="6" name="Rounded Rectangle 5"/>
          <p:cNvSpPr/>
          <p:nvPr/>
        </p:nvSpPr>
        <p:spPr>
          <a:xfrm>
            <a:off x="731520" y="1335024"/>
            <a:ext cx="4846320" cy="932688"/>
          </a:xfrm>
          <a:prstGeom prst="roundRect">
            <a:avLst>
              <a:gd name="adj" fmla="val 12000"/>
            </a:avLst>
          </a:prstGeom>
          <a:solidFill>
            <a:srgbClr val="1A2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1517904"/>
            <a:ext cx="4443983" cy="475488"/>
          </a:xfrm>
          <a:prstGeom prst="rect">
            <a:avLst/>
          </a:prstGeom>
          <a:noFill/>
        </p:spPr>
        <p:txBody>
          <a:bodyPr wrap="square">
            <a:spAutoFit/>
          </a:bodyPr>
          <a:lstStyle/>
          <a:p>
            <a:pPr>
              <a:defRPr sz="2000" b="1">
                <a:solidFill>
                  <a:srgbClr val="FFFFFF"/>
                </a:solidFill>
                <a:latin typeface="Aptos"/>
              </a:defRPr>
            </a:pPr>
            <a:r>
              <a:t>1,115</a:t>
            </a:r>
          </a:p>
        </p:txBody>
      </p:sp>
      <p:sp>
        <p:nvSpPr>
          <p:cNvPr id="8" name="TextBox 7"/>
          <p:cNvSpPr txBox="1"/>
          <p:nvPr/>
        </p:nvSpPr>
        <p:spPr>
          <a:xfrm>
            <a:off x="932688" y="2093976"/>
            <a:ext cx="4443983" cy="18288"/>
          </a:xfrm>
          <a:prstGeom prst="rect">
            <a:avLst/>
          </a:prstGeom>
          <a:noFill/>
        </p:spPr>
        <p:txBody>
          <a:bodyPr wrap="square">
            <a:spAutoFit/>
          </a:bodyPr>
          <a:lstStyle/>
          <a:p>
            <a:pPr>
              <a:defRPr sz="1500" b="0">
                <a:solidFill>
                  <a:srgbClr val="FFFFFF"/>
                </a:solidFill>
                <a:latin typeface="Aptos"/>
              </a:defRPr>
            </a:pPr>
            <a:r>
              <a:t>Stores in source dataset</a:t>
            </a:r>
          </a:p>
        </p:txBody>
      </p:sp>
      <p:sp>
        <p:nvSpPr>
          <p:cNvPr id="9" name="Rounded Rectangle 8"/>
          <p:cNvSpPr/>
          <p:nvPr/>
        </p:nvSpPr>
        <p:spPr>
          <a:xfrm>
            <a:off x="731520" y="2414015"/>
            <a:ext cx="4846320" cy="932688"/>
          </a:xfrm>
          <a:prstGeom prst="roundRect">
            <a:avLst>
              <a:gd name="adj" fmla="val 12000"/>
            </a:avLst>
          </a:prstGeom>
          <a:solidFill>
            <a:srgbClr val="1A2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96896"/>
            <a:ext cx="4443983" cy="475488"/>
          </a:xfrm>
          <a:prstGeom prst="rect">
            <a:avLst/>
          </a:prstGeom>
          <a:noFill/>
        </p:spPr>
        <p:txBody>
          <a:bodyPr wrap="square">
            <a:spAutoFit/>
          </a:bodyPr>
          <a:lstStyle/>
          <a:p>
            <a:pPr>
              <a:defRPr sz="2000" b="1">
                <a:solidFill>
                  <a:srgbClr val="FFFFFF"/>
                </a:solidFill>
                <a:latin typeface="Aptos"/>
              </a:defRPr>
            </a:pPr>
            <a:r>
              <a:t>942</a:t>
            </a:r>
          </a:p>
        </p:txBody>
      </p:sp>
      <p:sp>
        <p:nvSpPr>
          <p:cNvPr id="11" name="TextBox 10"/>
          <p:cNvSpPr txBox="1"/>
          <p:nvPr/>
        </p:nvSpPr>
        <p:spPr>
          <a:xfrm>
            <a:off x="932688" y="3172968"/>
            <a:ext cx="4443983" cy="18288"/>
          </a:xfrm>
          <a:prstGeom prst="rect">
            <a:avLst/>
          </a:prstGeom>
          <a:noFill/>
        </p:spPr>
        <p:txBody>
          <a:bodyPr wrap="square">
            <a:spAutoFit/>
          </a:bodyPr>
          <a:lstStyle/>
          <a:p>
            <a:pPr>
              <a:defRPr sz="1500" b="0">
                <a:solidFill>
                  <a:srgbClr val="FFFFFF"/>
                </a:solidFill>
                <a:latin typeface="Aptos"/>
              </a:defRPr>
            </a:pPr>
            <a:r>
              <a:t>Daily records — Store 800</a:t>
            </a:r>
          </a:p>
        </p:txBody>
      </p:sp>
      <p:sp>
        <p:nvSpPr>
          <p:cNvPr id="12" name="Rounded Rectangle 11"/>
          <p:cNvSpPr/>
          <p:nvPr/>
        </p:nvSpPr>
        <p:spPr>
          <a:xfrm>
            <a:off x="731520" y="3493008"/>
            <a:ext cx="4846320" cy="932688"/>
          </a:xfrm>
          <a:prstGeom prst="roundRect">
            <a:avLst>
              <a:gd name="adj" fmla="val 12000"/>
            </a:avLst>
          </a:prstGeom>
          <a:solidFill>
            <a:srgbClr val="1A2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675887"/>
            <a:ext cx="4443983" cy="475488"/>
          </a:xfrm>
          <a:prstGeom prst="rect">
            <a:avLst/>
          </a:prstGeom>
          <a:noFill/>
        </p:spPr>
        <p:txBody>
          <a:bodyPr wrap="square">
            <a:spAutoFit/>
          </a:bodyPr>
          <a:lstStyle/>
          <a:p>
            <a:pPr>
              <a:defRPr sz="2000" b="1">
                <a:solidFill>
                  <a:srgbClr val="FFFFFF"/>
                </a:solidFill>
                <a:latin typeface="Aptos"/>
              </a:defRPr>
            </a:pPr>
            <a:r>
              <a:t>2013–2015</a:t>
            </a:r>
          </a:p>
        </p:txBody>
      </p:sp>
      <p:sp>
        <p:nvSpPr>
          <p:cNvPr id="14" name="TextBox 13"/>
          <p:cNvSpPr txBox="1"/>
          <p:nvPr/>
        </p:nvSpPr>
        <p:spPr>
          <a:xfrm>
            <a:off x="932688" y="4251959"/>
            <a:ext cx="4443983" cy="18288"/>
          </a:xfrm>
          <a:prstGeom prst="rect">
            <a:avLst/>
          </a:prstGeom>
          <a:noFill/>
        </p:spPr>
        <p:txBody>
          <a:bodyPr wrap="square">
            <a:spAutoFit/>
          </a:bodyPr>
          <a:lstStyle/>
          <a:p>
            <a:pPr>
              <a:defRPr sz="1500" b="0">
                <a:solidFill>
                  <a:srgbClr val="FFFFFF"/>
                </a:solidFill>
                <a:latin typeface="Aptos"/>
              </a:defRPr>
            </a:pPr>
            <a:r>
              <a:t>Observation period</a:t>
            </a:r>
          </a:p>
        </p:txBody>
      </p:sp>
      <p:sp>
        <p:nvSpPr>
          <p:cNvPr id="15" name="Rounded Rectangle 14"/>
          <p:cNvSpPr/>
          <p:nvPr/>
        </p:nvSpPr>
        <p:spPr>
          <a:xfrm>
            <a:off x="731520" y="4572000"/>
            <a:ext cx="4846320" cy="932688"/>
          </a:xfrm>
          <a:prstGeom prst="roundRect">
            <a:avLst>
              <a:gd name="adj" fmla="val 12000"/>
            </a:avLst>
          </a:prstGeom>
          <a:solidFill>
            <a:srgbClr val="1A2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754880"/>
            <a:ext cx="4443983" cy="475488"/>
          </a:xfrm>
          <a:prstGeom prst="rect">
            <a:avLst/>
          </a:prstGeom>
          <a:noFill/>
        </p:spPr>
        <p:txBody>
          <a:bodyPr wrap="square">
            <a:spAutoFit/>
          </a:bodyPr>
          <a:lstStyle/>
          <a:p>
            <a:pPr>
              <a:defRPr sz="2000" b="1">
                <a:solidFill>
                  <a:srgbClr val="FFFFFF"/>
                </a:solidFill>
                <a:latin typeface="Aptos"/>
              </a:defRPr>
            </a:pPr>
            <a:r>
              <a:t>4,157,860</a:t>
            </a:r>
          </a:p>
        </p:txBody>
      </p:sp>
      <p:sp>
        <p:nvSpPr>
          <p:cNvPr id="17" name="TextBox 16"/>
          <p:cNvSpPr txBox="1"/>
          <p:nvPr/>
        </p:nvSpPr>
        <p:spPr>
          <a:xfrm>
            <a:off x="932688" y="5330952"/>
            <a:ext cx="4443983" cy="18288"/>
          </a:xfrm>
          <a:prstGeom prst="rect">
            <a:avLst/>
          </a:prstGeom>
          <a:noFill/>
        </p:spPr>
        <p:txBody>
          <a:bodyPr wrap="square">
            <a:spAutoFit/>
          </a:bodyPr>
          <a:lstStyle/>
          <a:p>
            <a:pPr>
              <a:defRPr sz="1500" b="0">
                <a:solidFill>
                  <a:srgbClr val="FFFFFF"/>
                </a:solidFill>
                <a:latin typeface="Aptos"/>
              </a:defRPr>
            </a:pPr>
            <a:r>
              <a:t>Total sales — Store 800</a:t>
            </a:r>
          </a:p>
        </p:txBody>
      </p:sp>
      <p:sp>
        <p:nvSpPr>
          <p:cNvPr id="18" name="Rounded Rectangle 17"/>
          <p:cNvSpPr/>
          <p:nvPr/>
        </p:nvSpPr>
        <p:spPr>
          <a:xfrm>
            <a:off x="5925312" y="1371600"/>
            <a:ext cx="5440680" cy="4251960"/>
          </a:xfrm>
          <a:prstGeom prst="roundRect">
            <a:avLst>
              <a:gd name="adj" fmla="val 12000"/>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63640" y="1664208"/>
            <a:ext cx="4480560" cy="411480"/>
          </a:xfrm>
          <a:prstGeom prst="rect">
            <a:avLst/>
          </a:prstGeom>
          <a:noFill/>
        </p:spPr>
        <p:txBody>
          <a:bodyPr wrap="square">
            <a:spAutoFit/>
          </a:bodyPr>
          <a:lstStyle/>
          <a:p>
            <a:pPr>
              <a:defRPr sz="2300" b="1">
                <a:solidFill>
                  <a:srgbClr val="1A222B"/>
                </a:solidFill>
                <a:latin typeface="Aptos"/>
              </a:defRPr>
            </a:pPr>
            <a:r>
              <a:t>Data fields</a:t>
            </a:r>
          </a:p>
        </p:txBody>
      </p:sp>
      <p:sp>
        <p:nvSpPr>
          <p:cNvPr id="20" name="TextBox 19"/>
          <p:cNvSpPr txBox="1"/>
          <p:nvPr/>
        </p:nvSpPr>
        <p:spPr>
          <a:xfrm>
            <a:off x="6309360" y="2350008"/>
            <a:ext cx="228600" cy="274320"/>
          </a:xfrm>
          <a:prstGeom prst="rect">
            <a:avLst/>
          </a:prstGeom>
          <a:noFill/>
        </p:spPr>
        <p:txBody>
          <a:bodyPr wrap="square">
            <a:spAutoFit/>
          </a:bodyPr>
          <a:lstStyle/>
          <a:p>
            <a:pPr>
              <a:defRPr sz="1700" b="1">
                <a:solidFill>
                  <a:srgbClr val="E85F11"/>
                </a:solidFill>
                <a:latin typeface="Aptos"/>
              </a:defRPr>
            </a:pPr>
            <a:r>
              <a:t>▸</a:t>
            </a:r>
          </a:p>
        </p:txBody>
      </p:sp>
      <p:sp>
        <p:nvSpPr>
          <p:cNvPr id="21" name="TextBox 20"/>
          <p:cNvSpPr txBox="1"/>
          <p:nvPr/>
        </p:nvSpPr>
        <p:spPr>
          <a:xfrm>
            <a:off x="6601968" y="2350008"/>
            <a:ext cx="4279392" cy="539496"/>
          </a:xfrm>
          <a:prstGeom prst="rect">
            <a:avLst/>
          </a:prstGeom>
          <a:noFill/>
        </p:spPr>
        <p:txBody>
          <a:bodyPr wrap="square">
            <a:spAutoFit/>
          </a:bodyPr>
          <a:lstStyle/>
          <a:p>
            <a:pPr>
              <a:defRPr sz="1900" b="0">
                <a:solidFill>
                  <a:srgbClr val="1A222B"/>
                </a:solidFill>
                <a:latin typeface="Aptos"/>
              </a:defRPr>
            </a:pPr>
            <a:r>
              <a:t>Date and Sales</a:t>
            </a:r>
          </a:p>
        </p:txBody>
      </p:sp>
      <p:sp>
        <p:nvSpPr>
          <p:cNvPr id="22" name="TextBox 21"/>
          <p:cNvSpPr txBox="1"/>
          <p:nvPr/>
        </p:nvSpPr>
        <p:spPr>
          <a:xfrm>
            <a:off x="6309360" y="2935224"/>
            <a:ext cx="228600" cy="274320"/>
          </a:xfrm>
          <a:prstGeom prst="rect">
            <a:avLst/>
          </a:prstGeom>
          <a:noFill/>
        </p:spPr>
        <p:txBody>
          <a:bodyPr wrap="square">
            <a:spAutoFit/>
          </a:bodyPr>
          <a:lstStyle/>
          <a:p>
            <a:pPr>
              <a:defRPr sz="1700" b="1">
                <a:solidFill>
                  <a:srgbClr val="E85F11"/>
                </a:solidFill>
                <a:latin typeface="Aptos"/>
              </a:defRPr>
            </a:pPr>
            <a:r>
              <a:t>▸</a:t>
            </a:r>
          </a:p>
        </p:txBody>
      </p:sp>
      <p:sp>
        <p:nvSpPr>
          <p:cNvPr id="23" name="TextBox 22"/>
          <p:cNvSpPr txBox="1"/>
          <p:nvPr/>
        </p:nvSpPr>
        <p:spPr>
          <a:xfrm>
            <a:off x="6601968" y="2935224"/>
            <a:ext cx="4279392" cy="539496"/>
          </a:xfrm>
          <a:prstGeom prst="rect">
            <a:avLst/>
          </a:prstGeom>
          <a:noFill/>
        </p:spPr>
        <p:txBody>
          <a:bodyPr wrap="square">
            <a:spAutoFit/>
          </a:bodyPr>
          <a:lstStyle/>
          <a:p>
            <a:pPr>
              <a:defRPr sz="1900" b="0">
                <a:solidFill>
                  <a:srgbClr val="1A222B"/>
                </a:solidFill>
                <a:latin typeface="Aptos"/>
              </a:defRPr>
            </a:pPr>
            <a:r>
              <a:t>Store operating status</a:t>
            </a:r>
          </a:p>
        </p:txBody>
      </p:sp>
      <p:sp>
        <p:nvSpPr>
          <p:cNvPr id="24" name="TextBox 23"/>
          <p:cNvSpPr txBox="1"/>
          <p:nvPr/>
        </p:nvSpPr>
        <p:spPr>
          <a:xfrm>
            <a:off x="6309360" y="3520439"/>
            <a:ext cx="228600" cy="274320"/>
          </a:xfrm>
          <a:prstGeom prst="rect">
            <a:avLst/>
          </a:prstGeom>
          <a:noFill/>
        </p:spPr>
        <p:txBody>
          <a:bodyPr wrap="square">
            <a:spAutoFit/>
          </a:bodyPr>
          <a:lstStyle/>
          <a:p>
            <a:pPr>
              <a:defRPr sz="1700" b="1">
                <a:solidFill>
                  <a:srgbClr val="E85F11"/>
                </a:solidFill>
                <a:latin typeface="Aptos"/>
              </a:defRPr>
            </a:pPr>
            <a:r>
              <a:t>▸</a:t>
            </a:r>
          </a:p>
        </p:txBody>
      </p:sp>
      <p:sp>
        <p:nvSpPr>
          <p:cNvPr id="25" name="TextBox 24"/>
          <p:cNvSpPr txBox="1"/>
          <p:nvPr/>
        </p:nvSpPr>
        <p:spPr>
          <a:xfrm>
            <a:off x="6601968" y="3520439"/>
            <a:ext cx="4279392" cy="539496"/>
          </a:xfrm>
          <a:prstGeom prst="rect">
            <a:avLst/>
          </a:prstGeom>
          <a:noFill/>
        </p:spPr>
        <p:txBody>
          <a:bodyPr wrap="square">
            <a:spAutoFit/>
          </a:bodyPr>
          <a:lstStyle/>
          <a:p>
            <a:pPr>
              <a:defRPr sz="1900" b="0">
                <a:solidFill>
                  <a:srgbClr val="1A222B"/>
                </a:solidFill>
                <a:latin typeface="Aptos"/>
              </a:defRPr>
            </a:pPr>
            <a:r>
              <a:t>Promotions</a:t>
            </a:r>
          </a:p>
        </p:txBody>
      </p:sp>
      <p:sp>
        <p:nvSpPr>
          <p:cNvPr id="26" name="TextBox 25"/>
          <p:cNvSpPr txBox="1"/>
          <p:nvPr/>
        </p:nvSpPr>
        <p:spPr>
          <a:xfrm>
            <a:off x="6309360" y="4105656"/>
            <a:ext cx="228600" cy="274320"/>
          </a:xfrm>
          <a:prstGeom prst="rect">
            <a:avLst/>
          </a:prstGeom>
          <a:noFill/>
        </p:spPr>
        <p:txBody>
          <a:bodyPr wrap="square">
            <a:spAutoFit/>
          </a:bodyPr>
          <a:lstStyle/>
          <a:p>
            <a:pPr>
              <a:defRPr sz="1700" b="1">
                <a:solidFill>
                  <a:srgbClr val="E85F11"/>
                </a:solidFill>
                <a:latin typeface="Aptos"/>
              </a:defRPr>
            </a:pPr>
            <a:r>
              <a:t>▸</a:t>
            </a:r>
          </a:p>
        </p:txBody>
      </p:sp>
      <p:sp>
        <p:nvSpPr>
          <p:cNvPr id="27" name="TextBox 26"/>
          <p:cNvSpPr txBox="1"/>
          <p:nvPr/>
        </p:nvSpPr>
        <p:spPr>
          <a:xfrm>
            <a:off x="6601968" y="4105656"/>
            <a:ext cx="4279392" cy="539496"/>
          </a:xfrm>
          <a:prstGeom prst="rect">
            <a:avLst/>
          </a:prstGeom>
          <a:noFill/>
        </p:spPr>
        <p:txBody>
          <a:bodyPr wrap="square">
            <a:spAutoFit/>
          </a:bodyPr>
          <a:lstStyle/>
          <a:p>
            <a:pPr>
              <a:defRPr sz="1900" b="0">
                <a:solidFill>
                  <a:srgbClr val="1A222B"/>
                </a:solidFill>
                <a:latin typeface="Aptos"/>
              </a:defRPr>
            </a:pPr>
            <a:r>
              <a:t>State and school holidays</a:t>
            </a:r>
          </a:p>
        </p:txBody>
      </p:sp>
      <p:sp>
        <p:nvSpPr>
          <p:cNvPr id="28" name="TextBox 27"/>
          <p:cNvSpPr txBox="1"/>
          <p:nvPr/>
        </p:nvSpPr>
        <p:spPr>
          <a:xfrm>
            <a:off x="6309360" y="4690872"/>
            <a:ext cx="228600" cy="274320"/>
          </a:xfrm>
          <a:prstGeom prst="rect">
            <a:avLst/>
          </a:prstGeom>
          <a:noFill/>
        </p:spPr>
        <p:txBody>
          <a:bodyPr wrap="square">
            <a:spAutoFit/>
          </a:bodyPr>
          <a:lstStyle/>
          <a:p>
            <a:pPr>
              <a:defRPr sz="1700" b="1">
                <a:solidFill>
                  <a:srgbClr val="E85F11"/>
                </a:solidFill>
                <a:latin typeface="Aptos"/>
              </a:defRPr>
            </a:pPr>
            <a:r>
              <a:t>▸</a:t>
            </a:r>
          </a:p>
        </p:txBody>
      </p:sp>
      <p:sp>
        <p:nvSpPr>
          <p:cNvPr id="29" name="TextBox 28"/>
          <p:cNvSpPr txBox="1"/>
          <p:nvPr/>
        </p:nvSpPr>
        <p:spPr>
          <a:xfrm>
            <a:off x="6601968" y="4690872"/>
            <a:ext cx="4279392" cy="539496"/>
          </a:xfrm>
          <a:prstGeom prst="rect">
            <a:avLst/>
          </a:prstGeom>
          <a:noFill/>
        </p:spPr>
        <p:txBody>
          <a:bodyPr wrap="square">
            <a:spAutoFit/>
          </a:bodyPr>
          <a:lstStyle/>
          <a:p>
            <a:pPr>
              <a:defRPr sz="1900" b="0">
                <a:solidFill>
                  <a:srgbClr val="1A222B"/>
                </a:solidFill>
                <a:latin typeface="Aptos"/>
              </a:defRPr>
            </a:pPr>
            <a:r>
              <a:t>Day of week</a:t>
            </a:r>
          </a:p>
        </p:txBody>
      </p:sp>
      <p:sp>
        <p:nvSpPr>
          <p:cNvPr id="30" name="TextBox 29"/>
          <p:cNvSpPr txBox="1"/>
          <p:nvPr/>
        </p:nvSpPr>
        <p:spPr>
          <a:xfrm>
            <a:off x="9875520" y="6501384"/>
            <a:ext cx="1097280" cy="201168"/>
          </a:xfrm>
          <a:prstGeom prst="rect">
            <a:avLst/>
          </a:prstGeom>
          <a:noFill/>
        </p:spPr>
        <p:txBody>
          <a:bodyPr wrap="square">
            <a:spAutoFit/>
          </a:bodyPr>
          <a:lstStyle/>
          <a:p>
            <a:pPr>
              <a:defRPr sz="900" b="1">
                <a:solidFill>
                  <a:srgbClr val="E85F11"/>
                </a:solidFill>
                <a:latin typeface="Aptos"/>
              </a:defRPr>
            </a:pPr>
            <a:r>
              <a:t>POD GROUP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74320"/>
            <a:ext cx="10972800" cy="502920"/>
          </a:xfrm>
          <a:prstGeom prst="rect">
            <a:avLst/>
          </a:prstGeom>
          <a:noFill/>
        </p:spPr>
        <p:txBody>
          <a:bodyPr wrap="square">
            <a:spAutoFit/>
          </a:bodyPr>
          <a:lstStyle/>
          <a:p>
            <a:r>
              <a:t>2.1 Data Preparation</a:t>
            </a:r>
          </a:p>
        </p:txBody>
      </p:sp>
      <p:sp>
        <p:nvSpPr>
          <p:cNvPr id="3" name="Rectangle 2"/>
          <p:cNvSpPr/>
          <p:nvPr/>
        </p:nvSpPr>
        <p:spPr>
          <a:xfrm>
            <a:off x="594360" y="932688"/>
            <a:ext cx="786384" cy="50292"/>
          </a:xfrm>
          <a:prstGeom prst="rect">
            <a:avLst/>
          </a:prstGeom>
          <a:solidFill>
            <a:srgbClr val="E85F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112703" y="6547104"/>
            <a:ext cx="749808" cy="192024"/>
          </a:xfrm>
          <a:prstGeom prst="rect">
            <a:avLst/>
          </a:prstGeom>
          <a:noFill/>
        </p:spPr>
        <p:txBody>
          <a:bodyPr wrap="square">
            <a:spAutoFit/>
          </a:bodyPr>
          <a:lstStyle/>
          <a:p>
            <a:r>
              <a:rPr sz="800"/>
              <a:t>06 / 29</a:t>
            </a:r>
          </a:p>
        </p:txBody>
      </p:sp>
      <p:sp>
        <p:nvSpPr>
          <p:cNvPr id="5" name="TextBox 4"/>
          <p:cNvSpPr txBox="1"/>
          <p:nvPr/>
        </p:nvSpPr>
        <p:spPr>
          <a:xfrm>
            <a:off x="612648" y="6510528"/>
            <a:ext cx="3657600" cy="182880"/>
          </a:xfrm>
          <a:prstGeom prst="rect">
            <a:avLst/>
          </a:prstGeom>
          <a:noFill/>
        </p:spPr>
        <p:txBody>
          <a:bodyPr wrap="square">
            <a:spAutoFit/>
          </a:bodyPr>
          <a:lstStyle/>
          <a:p>
            <a:pPr>
              <a:defRPr sz="1000" b="1">
                <a:solidFill>
                  <a:srgbClr val="64696F"/>
                </a:solidFill>
                <a:latin typeface="Aptos"/>
              </a:defRPr>
            </a:pPr>
            <a:r>
              <a:t>ROSSMANN  /  STORE 800</a:t>
            </a:r>
          </a:p>
        </p:txBody>
      </p:sp>
      <p:sp>
        <p:nvSpPr>
          <p:cNvPr id="6" name="Rounded Rectangle 5"/>
          <p:cNvSpPr/>
          <p:nvPr/>
        </p:nvSpPr>
        <p:spPr>
          <a:xfrm>
            <a:off x="685800" y="1371600"/>
            <a:ext cx="5349240" cy="1920240"/>
          </a:xfrm>
          <a:prstGeom prst="roundRect">
            <a:avLst>
              <a:gd name="adj" fmla="val 12000"/>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1554480"/>
            <a:ext cx="4946903" cy="475488"/>
          </a:xfrm>
          <a:prstGeom prst="rect">
            <a:avLst/>
          </a:prstGeom>
          <a:noFill/>
        </p:spPr>
        <p:txBody>
          <a:bodyPr wrap="square">
            <a:spAutoFit/>
          </a:bodyPr>
          <a:lstStyle/>
          <a:p>
            <a:pPr>
              <a:defRPr sz="2000" b="1">
                <a:solidFill>
                  <a:srgbClr val="E85F11"/>
                </a:solidFill>
                <a:latin typeface="Aptos"/>
              </a:defRPr>
            </a:pPr>
            <a:r>
              <a:t>01  Clean</a:t>
            </a:r>
          </a:p>
        </p:txBody>
      </p:sp>
      <p:sp>
        <p:nvSpPr>
          <p:cNvPr id="8" name="TextBox 7"/>
          <p:cNvSpPr txBox="1"/>
          <p:nvPr/>
        </p:nvSpPr>
        <p:spPr>
          <a:xfrm>
            <a:off x="886968" y="2130552"/>
            <a:ext cx="4946903" cy="1005840"/>
          </a:xfrm>
          <a:prstGeom prst="rect">
            <a:avLst/>
          </a:prstGeom>
          <a:noFill/>
        </p:spPr>
        <p:txBody>
          <a:bodyPr wrap="square">
            <a:spAutoFit/>
          </a:bodyPr>
          <a:lstStyle/>
          <a:p>
            <a:pPr>
              <a:defRPr sz="1500" b="0">
                <a:solidFill>
                  <a:srgbClr val="1A222B"/>
                </a:solidFill>
                <a:latin typeface="Aptos"/>
              </a:defRPr>
            </a:pPr>
            <a:r>
              <a:t>Review missing and duplicate records</a:t>
            </a:r>
          </a:p>
        </p:txBody>
      </p:sp>
      <p:sp>
        <p:nvSpPr>
          <p:cNvPr id="9" name="Rounded Rectangle 8"/>
          <p:cNvSpPr/>
          <p:nvPr/>
        </p:nvSpPr>
        <p:spPr>
          <a:xfrm>
            <a:off x="6355080" y="1371600"/>
            <a:ext cx="5349240" cy="1920240"/>
          </a:xfrm>
          <a:prstGeom prst="roundRect">
            <a:avLst>
              <a:gd name="adj" fmla="val 12000"/>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56248" y="1554480"/>
            <a:ext cx="4946903" cy="475488"/>
          </a:xfrm>
          <a:prstGeom prst="rect">
            <a:avLst/>
          </a:prstGeom>
          <a:noFill/>
        </p:spPr>
        <p:txBody>
          <a:bodyPr wrap="square">
            <a:spAutoFit/>
          </a:bodyPr>
          <a:lstStyle/>
          <a:p>
            <a:pPr>
              <a:defRPr sz="2000" b="1">
                <a:solidFill>
                  <a:srgbClr val="E85F11"/>
                </a:solidFill>
                <a:latin typeface="Aptos"/>
              </a:defRPr>
            </a:pPr>
            <a:r>
              <a:t>02  Format</a:t>
            </a:r>
          </a:p>
        </p:txBody>
      </p:sp>
      <p:sp>
        <p:nvSpPr>
          <p:cNvPr id="11" name="TextBox 10"/>
          <p:cNvSpPr txBox="1"/>
          <p:nvPr/>
        </p:nvSpPr>
        <p:spPr>
          <a:xfrm>
            <a:off x="6556248" y="2130552"/>
            <a:ext cx="4946903" cy="1005840"/>
          </a:xfrm>
          <a:prstGeom prst="rect">
            <a:avLst/>
          </a:prstGeom>
          <a:noFill/>
        </p:spPr>
        <p:txBody>
          <a:bodyPr wrap="square">
            <a:spAutoFit/>
          </a:bodyPr>
          <a:lstStyle/>
          <a:p>
            <a:pPr>
              <a:defRPr sz="1500" b="0">
                <a:solidFill>
                  <a:srgbClr val="1A222B"/>
                </a:solidFill>
                <a:latin typeface="Aptos"/>
              </a:defRPr>
            </a:pPr>
            <a:r>
              <a:t>Convert dates and standardize categories</a:t>
            </a:r>
          </a:p>
        </p:txBody>
      </p:sp>
      <p:sp>
        <p:nvSpPr>
          <p:cNvPr id="12" name="Rounded Rectangle 11"/>
          <p:cNvSpPr/>
          <p:nvPr/>
        </p:nvSpPr>
        <p:spPr>
          <a:xfrm>
            <a:off x="685800" y="3547872"/>
            <a:ext cx="5349240" cy="1920240"/>
          </a:xfrm>
          <a:prstGeom prst="roundRect">
            <a:avLst>
              <a:gd name="adj" fmla="val 12000"/>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6968" y="3730752"/>
            <a:ext cx="4946903" cy="475488"/>
          </a:xfrm>
          <a:prstGeom prst="rect">
            <a:avLst/>
          </a:prstGeom>
          <a:noFill/>
        </p:spPr>
        <p:txBody>
          <a:bodyPr wrap="square">
            <a:spAutoFit/>
          </a:bodyPr>
          <a:lstStyle/>
          <a:p>
            <a:pPr>
              <a:defRPr sz="2000" b="1">
                <a:solidFill>
                  <a:srgbClr val="E85F11"/>
                </a:solidFill>
                <a:latin typeface="Aptos"/>
              </a:defRPr>
            </a:pPr>
            <a:r>
              <a:t>03  Order</a:t>
            </a:r>
          </a:p>
        </p:txBody>
      </p:sp>
      <p:sp>
        <p:nvSpPr>
          <p:cNvPr id="14" name="TextBox 13"/>
          <p:cNvSpPr txBox="1"/>
          <p:nvPr/>
        </p:nvSpPr>
        <p:spPr>
          <a:xfrm>
            <a:off x="886968" y="4306824"/>
            <a:ext cx="4946903" cy="1005840"/>
          </a:xfrm>
          <a:prstGeom prst="rect">
            <a:avLst/>
          </a:prstGeom>
          <a:noFill/>
        </p:spPr>
        <p:txBody>
          <a:bodyPr wrap="square">
            <a:spAutoFit/>
          </a:bodyPr>
          <a:lstStyle/>
          <a:p>
            <a:pPr>
              <a:defRPr sz="1500" b="0">
                <a:solidFill>
                  <a:srgbClr val="1A222B"/>
                </a:solidFill>
                <a:latin typeface="Aptos"/>
              </a:defRPr>
            </a:pPr>
            <a:r>
              <a:t>Sort observations chronologically</a:t>
            </a:r>
          </a:p>
        </p:txBody>
      </p:sp>
      <p:sp>
        <p:nvSpPr>
          <p:cNvPr id="15" name="Rounded Rectangle 14"/>
          <p:cNvSpPr/>
          <p:nvPr/>
        </p:nvSpPr>
        <p:spPr>
          <a:xfrm>
            <a:off x="6355080" y="3547872"/>
            <a:ext cx="5349240" cy="1920240"/>
          </a:xfrm>
          <a:prstGeom prst="roundRect">
            <a:avLst>
              <a:gd name="adj" fmla="val 12000"/>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56248" y="3730752"/>
            <a:ext cx="4946903" cy="475488"/>
          </a:xfrm>
          <a:prstGeom prst="rect">
            <a:avLst/>
          </a:prstGeom>
          <a:noFill/>
        </p:spPr>
        <p:txBody>
          <a:bodyPr wrap="square">
            <a:spAutoFit/>
          </a:bodyPr>
          <a:lstStyle/>
          <a:p>
            <a:pPr>
              <a:defRPr sz="2000" b="1">
                <a:solidFill>
                  <a:srgbClr val="E85F11"/>
                </a:solidFill>
                <a:latin typeface="Aptos"/>
              </a:defRPr>
            </a:pPr>
            <a:r>
              <a:t>04  Split</a:t>
            </a:r>
          </a:p>
        </p:txBody>
      </p:sp>
      <p:sp>
        <p:nvSpPr>
          <p:cNvPr id="17" name="TextBox 16"/>
          <p:cNvSpPr txBox="1"/>
          <p:nvPr/>
        </p:nvSpPr>
        <p:spPr>
          <a:xfrm>
            <a:off x="6556248" y="4306824"/>
            <a:ext cx="4946903" cy="1005840"/>
          </a:xfrm>
          <a:prstGeom prst="rect">
            <a:avLst/>
          </a:prstGeom>
          <a:noFill/>
        </p:spPr>
        <p:txBody>
          <a:bodyPr wrap="square">
            <a:spAutoFit/>
          </a:bodyPr>
          <a:lstStyle/>
          <a:p>
            <a:pPr>
              <a:defRPr sz="1500" b="0">
                <a:solidFill>
                  <a:srgbClr val="1A222B"/>
                </a:solidFill>
                <a:latin typeface="Aptos"/>
              </a:defRPr>
            </a:pPr>
            <a:r>
              <a:t>Preserve time order for evaluation</a:t>
            </a:r>
          </a:p>
        </p:txBody>
      </p:sp>
      <p:sp>
        <p:nvSpPr>
          <p:cNvPr id="18" name="TextBox 17"/>
          <p:cNvSpPr txBox="1"/>
          <p:nvPr/>
        </p:nvSpPr>
        <p:spPr>
          <a:xfrm>
            <a:off x="9875520" y="6501384"/>
            <a:ext cx="1097280" cy="201168"/>
          </a:xfrm>
          <a:prstGeom prst="rect">
            <a:avLst/>
          </a:prstGeom>
          <a:noFill/>
        </p:spPr>
        <p:txBody>
          <a:bodyPr wrap="square">
            <a:spAutoFit/>
          </a:bodyPr>
          <a:lstStyle/>
          <a:p>
            <a:pPr>
              <a:defRPr sz="900" b="1">
                <a:solidFill>
                  <a:srgbClr val="E85F11"/>
                </a:solidFill>
                <a:latin typeface="Aptos"/>
              </a:defRPr>
            </a:pPr>
            <a:r>
              <a:t>POD GROUP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74320"/>
            <a:ext cx="10972800" cy="502920"/>
          </a:xfrm>
          <a:prstGeom prst="rect">
            <a:avLst/>
          </a:prstGeom>
          <a:noFill/>
        </p:spPr>
        <p:txBody>
          <a:bodyPr wrap="square">
            <a:spAutoFit/>
          </a:bodyPr>
          <a:lstStyle/>
          <a:p>
            <a:r>
              <a:t>2.2 Sales Distribution and Outliers</a:t>
            </a:r>
          </a:p>
        </p:txBody>
      </p:sp>
      <p:sp>
        <p:nvSpPr>
          <p:cNvPr id="3" name="Rectangle 2"/>
          <p:cNvSpPr/>
          <p:nvPr/>
        </p:nvSpPr>
        <p:spPr>
          <a:xfrm>
            <a:off x="594360" y="932688"/>
            <a:ext cx="786384" cy="50292"/>
          </a:xfrm>
          <a:prstGeom prst="rect">
            <a:avLst/>
          </a:prstGeom>
          <a:solidFill>
            <a:srgbClr val="E85F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112703" y="6547104"/>
            <a:ext cx="749808" cy="192024"/>
          </a:xfrm>
          <a:prstGeom prst="rect">
            <a:avLst/>
          </a:prstGeom>
          <a:noFill/>
        </p:spPr>
        <p:txBody>
          <a:bodyPr wrap="square">
            <a:spAutoFit/>
          </a:bodyPr>
          <a:lstStyle/>
          <a:p>
            <a:r>
              <a:rPr sz="800"/>
              <a:t>07 / 29</a:t>
            </a:r>
          </a:p>
        </p:txBody>
      </p:sp>
      <p:sp>
        <p:nvSpPr>
          <p:cNvPr id="5" name="TextBox 4"/>
          <p:cNvSpPr txBox="1"/>
          <p:nvPr/>
        </p:nvSpPr>
        <p:spPr>
          <a:xfrm>
            <a:off x="612648" y="6510528"/>
            <a:ext cx="3657600" cy="182880"/>
          </a:xfrm>
          <a:prstGeom prst="rect">
            <a:avLst/>
          </a:prstGeom>
          <a:noFill/>
        </p:spPr>
        <p:txBody>
          <a:bodyPr wrap="square">
            <a:spAutoFit/>
          </a:bodyPr>
          <a:lstStyle/>
          <a:p>
            <a:pPr>
              <a:defRPr sz="1000" b="1">
                <a:solidFill>
                  <a:srgbClr val="64696F"/>
                </a:solidFill>
                <a:latin typeface="Aptos"/>
              </a:defRPr>
            </a:pPr>
            <a:r>
              <a:t>ROSSMANN  /  STORE 800</a:t>
            </a:r>
          </a:p>
        </p:txBody>
      </p:sp>
      <p:sp>
        <p:nvSpPr>
          <p:cNvPr id="6" name="Rounded Rectangle 5"/>
          <p:cNvSpPr/>
          <p:nvPr/>
        </p:nvSpPr>
        <p:spPr>
          <a:xfrm>
            <a:off x="658368" y="1371600"/>
            <a:ext cx="6720840" cy="4480560"/>
          </a:xfrm>
          <a:prstGeom prst="roundRect">
            <a:avLst>
              <a:gd name="adj" fmla="val 12000"/>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850392" y="1600200"/>
            <a:ext cx="6309360" cy="3986784"/>
          </a:xfrm>
          <a:prstGeom prst="rect">
            <a:avLst/>
          </a:prstGeom>
        </p:spPr>
      </p:pic>
      <p:sp>
        <p:nvSpPr>
          <p:cNvPr id="8" name="Rounded Rectangle 7"/>
          <p:cNvSpPr/>
          <p:nvPr/>
        </p:nvSpPr>
        <p:spPr>
          <a:xfrm>
            <a:off x="7635240" y="1371600"/>
            <a:ext cx="3840480" cy="4480560"/>
          </a:xfrm>
          <a:prstGeom prst="roundRect">
            <a:avLst>
              <a:gd name="adj" fmla="val 12000"/>
            </a:avLst>
          </a:prstGeom>
          <a:solidFill>
            <a:srgbClr val="1A2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36408" y="1554480"/>
            <a:ext cx="3438144" cy="475488"/>
          </a:xfrm>
          <a:prstGeom prst="rect">
            <a:avLst/>
          </a:prstGeom>
          <a:noFill/>
        </p:spPr>
        <p:txBody>
          <a:bodyPr wrap="square">
            <a:spAutoFit/>
          </a:bodyPr>
          <a:lstStyle/>
          <a:p>
            <a:pPr>
              <a:defRPr sz="2000" b="1">
                <a:solidFill>
                  <a:srgbClr val="FFFFFF"/>
                </a:solidFill>
                <a:latin typeface="Aptos"/>
              </a:defRPr>
            </a:pPr>
            <a:r>
              <a:t>Key observations</a:t>
            </a:r>
          </a:p>
        </p:txBody>
      </p:sp>
      <p:sp>
        <p:nvSpPr>
          <p:cNvPr id="10" name="TextBox 9"/>
          <p:cNvSpPr txBox="1"/>
          <p:nvPr/>
        </p:nvSpPr>
        <p:spPr>
          <a:xfrm>
            <a:off x="7836408" y="2130552"/>
            <a:ext cx="3438144" cy="3566160"/>
          </a:xfrm>
          <a:prstGeom prst="rect">
            <a:avLst/>
          </a:prstGeom>
          <a:noFill/>
        </p:spPr>
        <p:txBody>
          <a:bodyPr wrap="square">
            <a:spAutoFit/>
          </a:bodyPr>
          <a:lstStyle/>
          <a:p>
            <a:pPr>
              <a:defRPr sz="1500" b="0">
                <a:solidFill>
                  <a:srgbClr val="FFFFFF"/>
                </a:solidFill>
                <a:latin typeface="Aptos"/>
              </a:defRPr>
            </a:pPr>
            <a:r>
              <a:t>Average daily sales: 4,413.86</a:t>
            </a:r>
          </a:p>
          <a:p>
            <a:pPr>
              <a:defRPr sz="1500" b="0">
                <a:solidFill>
                  <a:srgbClr val="FFFFFF"/>
                </a:solidFill>
                <a:latin typeface="Aptos"/>
              </a:defRPr>
            </a:pPr>
          </a:p>
          <a:p>
            <a:pPr>
              <a:defRPr sz="1500" b="0">
                <a:solidFill>
                  <a:srgbClr val="FFFFFF"/>
                </a:solidFill>
                <a:latin typeface="Aptos"/>
              </a:defRPr>
            </a:pPr>
            <a:r>
              <a:t>Zero-sales days: 163</a:t>
            </a:r>
          </a:p>
          <a:p>
            <a:pPr>
              <a:defRPr sz="1500" b="0">
                <a:solidFill>
                  <a:srgbClr val="FFFFFF"/>
                </a:solidFill>
                <a:latin typeface="Aptos"/>
              </a:defRPr>
            </a:pPr>
          </a:p>
          <a:p>
            <a:pPr>
              <a:defRPr sz="1500" b="0">
                <a:solidFill>
                  <a:srgbClr val="FFFFFF"/>
                </a:solidFill>
                <a:latin typeface="Aptos"/>
              </a:defRPr>
            </a:pPr>
            <a:r>
              <a:t>Sales concentrate in the middle range, with occasional high spikes.</a:t>
            </a:r>
          </a:p>
        </p:txBody>
      </p:sp>
      <p:sp>
        <p:nvSpPr>
          <p:cNvPr id="11" name="TextBox 10"/>
          <p:cNvSpPr txBox="1"/>
          <p:nvPr/>
        </p:nvSpPr>
        <p:spPr>
          <a:xfrm>
            <a:off x="9875520" y="6501384"/>
            <a:ext cx="1097280" cy="201168"/>
          </a:xfrm>
          <a:prstGeom prst="rect">
            <a:avLst/>
          </a:prstGeom>
          <a:noFill/>
        </p:spPr>
        <p:txBody>
          <a:bodyPr wrap="square">
            <a:spAutoFit/>
          </a:bodyPr>
          <a:lstStyle/>
          <a:p>
            <a:pPr>
              <a:defRPr sz="900" b="1">
                <a:solidFill>
                  <a:srgbClr val="E85F11"/>
                </a:solidFill>
                <a:latin typeface="Aptos"/>
              </a:defRPr>
            </a:pPr>
            <a:r>
              <a:t>POD GROUP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74320"/>
            <a:ext cx="10972800" cy="502920"/>
          </a:xfrm>
          <a:prstGeom prst="rect">
            <a:avLst/>
          </a:prstGeom>
          <a:noFill/>
        </p:spPr>
        <p:txBody>
          <a:bodyPr wrap="square">
            <a:spAutoFit/>
          </a:bodyPr>
          <a:lstStyle/>
          <a:p>
            <a:r>
              <a:t>2.3 Store Operations</a:t>
            </a:r>
          </a:p>
        </p:txBody>
      </p:sp>
      <p:sp>
        <p:nvSpPr>
          <p:cNvPr id="3" name="Rectangle 2"/>
          <p:cNvSpPr/>
          <p:nvPr/>
        </p:nvSpPr>
        <p:spPr>
          <a:xfrm>
            <a:off x="594360" y="932688"/>
            <a:ext cx="786384" cy="50292"/>
          </a:xfrm>
          <a:prstGeom prst="rect">
            <a:avLst/>
          </a:prstGeom>
          <a:solidFill>
            <a:srgbClr val="E85F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112703" y="6547104"/>
            <a:ext cx="749808" cy="192024"/>
          </a:xfrm>
          <a:prstGeom prst="rect">
            <a:avLst/>
          </a:prstGeom>
          <a:noFill/>
        </p:spPr>
        <p:txBody>
          <a:bodyPr wrap="square">
            <a:spAutoFit/>
          </a:bodyPr>
          <a:lstStyle/>
          <a:p>
            <a:r>
              <a:rPr sz="800"/>
              <a:t>08 / 29</a:t>
            </a:r>
          </a:p>
        </p:txBody>
      </p:sp>
      <p:sp>
        <p:nvSpPr>
          <p:cNvPr id="5" name="TextBox 4"/>
          <p:cNvSpPr txBox="1"/>
          <p:nvPr/>
        </p:nvSpPr>
        <p:spPr>
          <a:xfrm>
            <a:off x="612648" y="6510528"/>
            <a:ext cx="3657600" cy="182880"/>
          </a:xfrm>
          <a:prstGeom prst="rect">
            <a:avLst/>
          </a:prstGeom>
          <a:noFill/>
        </p:spPr>
        <p:txBody>
          <a:bodyPr wrap="square">
            <a:spAutoFit/>
          </a:bodyPr>
          <a:lstStyle/>
          <a:p>
            <a:pPr>
              <a:defRPr sz="1000" b="1">
                <a:solidFill>
                  <a:srgbClr val="64696F"/>
                </a:solidFill>
                <a:latin typeface="Aptos"/>
              </a:defRPr>
            </a:pPr>
            <a:r>
              <a:t>ROSSMANN  /  STORE 800</a:t>
            </a:r>
          </a:p>
        </p:txBody>
      </p:sp>
      <p:sp>
        <p:nvSpPr>
          <p:cNvPr id="6" name="Rounded Rectangle 5"/>
          <p:cNvSpPr/>
          <p:nvPr/>
        </p:nvSpPr>
        <p:spPr>
          <a:xfrm>
            <a:off x="685800" y="1371600"/>
            <a:ext cx="4069080" cy="4480560"/>
          </a:xfrm>
          <a:prstGeom prst="roundRect">
            <a:avLst>
              <a:gd name="adj" fmla="val 12000"/>
            </a:avLst>
          </a:prstGeom>
          <a:solidFill>
            <a:srgbClr val="1A2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1554480"/>
            <a:ext cx="3666744" cy="475488"/>
          </a:xfrm>
          <a:prstGeom prst="rect">
            <a:avLst/>
          </a:prstGeom>
          <a:noFill/>
        </p:spPr>
        <p:txBody>
          <a:bodyPr wrap="square">
            <a:spAutoFit/>
          </a:bodyPr>
          <a:lstStyle/>
          <a:p>
            <a:pPr>
              <a:defRPr sz="2000" b="1">
                <a:solidFill>
                  <a:srgbClr val="FFFFFF"/>
                </a:solidFill>
                <a:latin typeface="Aptos"/>
              </a:defRPr>
            </a:pPr>
            <a:r>
              <a:t>Operating status</a:t>
            </a:r>
          </a:p>
        </p:txBody>
      </p:sp>
      <p:sp>
        <p:nvSpPr>
          <p:cNvPr id="8" name="TextBox 7"/>
          <p:cNvSpPr txBox="1"/>
          <p:nvPr/>
        </p:nvSpPr>
        <p:spPr>
          <a:xfrm>
            <a:off x="886968" y="2130552"/>
            <a:ext cx="3666744" cy="3566160"/>
          </a:xfrm>
          <a:prstGeom prst="rect">
            <a:avLst/>
          </a:prstGeom>
          <a:noFill/>
        </p:spPr>
        <p:txBody>
          <a:bodyPr wrap="square">
            <a:spAutoFit/>
          </a:bodyPr>
          <a:lstStyle/>
          <a:p>
            <a:pPr>
              <a:defRPr sz="1500" b="0">
                <a:solidFill>
                  <a:srgbClr val="FFFFFF"/>
                </a:solidFill>
                <a:latin typeface="Aptos"/>
              </a:defRPr>
            </a:pPr>
            <a:r>
              <a:t>82.7% of days: open</a:t>
            </a:r>
          </a:p>
          <a:p>
            <a:pPr>
              <a:defRPr sz="1500" b="0">
                <a:solidFill>
                  <a:srgbClr val="FFFFFF"/>
                </a:solidFill>
                <a:latin typeface="Aptos"/>
              </a:defRPr>
            </a:pPr>
          </a:p>
          <a:p>
            <a:pPr>
              <a:defRPr sz="1500" b="0">
                <a:solidFill>
                  <a:srgbClr val="FFFFFF"/>
                </a:solidFill>
                <a:latin typeface="Aptos"/>
              </a:defRPr>
            </a:pPr>
            <a:r>
              <a:t>17.3% of days: closed</a:t>
            </a:r>
          </a:p>
          <a:p>
            <a:pPr>
              <a:defRPr sz="1500" b="0">
                <a:solidFill>
                  <a:srgbClr val="FFFFFF"/>
                </a:solidFill>
                <a:latin typeface="Aptos"/>
              </a:defRPr>
            </a:pPr>
          </a:p>
          <a:p>
            <a:pPr>
              <a:defRPr sz="1500" b="0">
                <a:solidFill>
                  <a:srgbClr val="FFFFFF"/>
                </a:solidFill>
                <a:latin typeface="Aptos"/>
              </a:defRPr>
            </a:pPr>
            <a:r>
              <a:t>Average sales on open days: 5,337.43</a:t>
            </a:r>
          </a:p>
          <a:p>
            <a:pPr>
              <a:defRPr sz="1500" b="0">
                <a:solidFill>
                  <a:srgbClr val="FFFFFF"/>
                </a:solidFill>
                <a:latin typeface="Aptos"/>
              </a:defRPr>
            </a:pPr>
          </a:p>
          <a:p>
            <a:pPr>
              <a:defRPr sz="1500" b="0">
                <a:solidFill>
                  <a:srgbClr val="FFFFFF"/>
                </a:solidFill>
                <a:latin typeface="Aptos"/>
              </a:defRPr>
            </a:pPr>
            <a:r>
              <a:t>Closed days recorded zero sales.</a:t>
            </a:r>
          </a:p>
        </p:txBody>
      </p:sp>
      <p:graphicFrame>
        <p:nvGraphicFramePr>
          <p:cNvPr id="9" name="Chart 8"/>
          <p:cNvGraphicFramePr>
            <a:graphicFrameLocks noGrp="1"/>
          </p:cNvGraphicFramePr>
          <p:nvPr/>
        </p:nvGraphicFramePr>
        <p:xfrm>
          <a:off x="5138928" y="1517904"/>
          <a:ext cx="5943600" cy="4114800"/>
        </p:xfrm>
        <a:graphic>
          <a:graphicData uri="http://schemas.openxmlformats.org/drawingml/2006/chart">
            <c:chart xmlns:c="http://schemas.openxmlformats.org/drawingml/2006/chart" r:id="rId2"/>
          </a:graphicData>
        </a:graphic>
      </p:graphicFrame>
      <p:sp>
        <p:nvSpPr>
          <p:cNvPr id="10" name="TextBox 9"/>
          <p:cNvSpPr txBox="1"/>
          <p:nvPr/>
        </p:nvSpPr>
        <p:spPr>
          <a:xfrm>
            <a:off x="9875520" y="6501384"/>
            <a:ext cx="1097280" cy="201168"/>
          </a:xfrm>
          <a:prstGeom prst="rect">
            <a:avLst/>
          </a:prstGeom>
          <a:noFill/>
        </p:spPr>
        <p:txBody>
          <a:bodyPr wrap="square">
            <a:spAutoFit/>
          </a:bodyPr>
          <a:lstStyle/>
          <a:p>
            <a:pPr>
              <a:defRPr sz="900" b="1">
                <a:solidFill>
                  <a:srgbClr val="E85F11"/>
                </a:solidFill>
                <a:latin typeface="Aptos"/>
              </a:defRPr>
            </a:pPr>
            <a:r>
              <a:t>POD GROUP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74320"/>
            <a:ext cx="10972800" cy="502920"/>
          </a:xfrm>
          <a:prstGeom prst="rect">
            <a:avLst/>
          </a:prstGeom>
          <a:noFill/>
        </p:spPr>
        <p:txBody>
          <a:bodyPr wrap="square">
            <a:spAutoFit/>
          </a:bodyPr>
          <a:lstStyle/>
          <a:p>
            <a:r>
              <a:t>2.3 Promotion Impact</a:t>
            </a:r>
          </a:p>
        </p:txBody>
      </p:sp>
      <p:sp>
        <p:nvSpPr>
          <p:cNvPr id="3" name="Rectangle 2"/>
          <p:cNvSpPr/>
          <p:nvPr/>
        </p:nvSpPr>
        <p:spPr>
          <a:xfrm>
            <a:off x="594360" y="932688"/>
            <a:ext cx="786384" cy="50292"/>
          </a:xfrm>
          <a:prstGeom prst="rect">
            <a:avLst/>
          </a:prstGeom>
          <a:solidFill>
            <a:srgbClr val="E85F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112703" y="6547104"/>
            <a:ext cx="749808" cy="192024"/>
          </a:xfrm>
          <a:prstGeom prst="rect">
            <a:avLst/>
          </a:prstGeom>
          <a:noFill/>
        </p:spPr>
        <p:txBody>
          <a:bodyPr wrap="square">
            <a:spAutoFit/>
          </a:bodyPr>
          <a:lstStyle/>
          <a:p>
            <a:r>
              <a:rPr sz="800"/>
              <a:t>09 / 29</a:t>
            </a:r>
          </a:p>
        </p:txBody>
      </p:sp>
      <p:sp>
        <p:nvSpPr>
          <p:cNvPr id="5" name="TextBox 4"/>
          <p:cNvSpPr txBox="1"/>
          <p:nvPr/>
        </p:nvSpPr>
        <p:spPr>
          <a:xfrm>
            <a:off x="612648" y="6510528"/>
            <a:ext cx="3657600" cy="182880"/>
          </a:xfrm>
          <a:prstGeom prst="rect">
            <a:avLst/>
          </a:prstGeom>
          <a:noFill/>
        </p:spPr>
        <p:txBody>
          <a:bodyPr wrap="square">
            <a:spAutoFit/>
          </a:bodyPr>
          <a:lstStyle/>
          <a:p>
            <a:pPr>
              <a:defRPr sz="1000" b="1">
                <a:solidFill>
                  <a:srgbClr val="64696F"/>
                </a:solidFill>
                <a:latin typeface="Aptos"/>
              </a:defRPr>
            </a:pPr>
            <a:r>
              <a:t>ROSSMANN  /  STORE 800</a:t>
            </a:r>
          </a:p>
        </p:txBody>
      </p:sp>
      <p:sp>
        <p:nvSpPr>
          <p:cNvPr id="6" name="Rounded Rectangle 5"/>
          <p:cNvSpPr/>
          <p:nvPr/>
        </p:nvSpPr>
        <p:spPr>
          <a:xfrm>
            <a:off x="658368" y="1371600"/>
            <a:ext cx="3749039" cy="4480560"/>
          </a:xfrm>
          <a:prstGeom prst="roundRect">
            <a:avLst>
              <a:gd name="adj" fmla="val 12000"/>
            </a:avLst>
          </a:prstGeom>
          <a:solidFill>
            <a:srgbClr val="1A2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1554480"/>
            <a:ext cx="3346703" cy="475488"/>
          </a:xfrm>
          <a:prstGeom prst="rect">
            <a:avLst/>
          </a:prstGeom>
          <a:noFill/>
        </p:spPr>
        <p:txBody>
          <a:bodyPr wrap="square">
            <a:spAutoFit/>
          </a:bodyPr>
          <a:lstStyle/>
          <a:p>
            <a:pPr>
              <a:defRPr sz="2000" b="1">
                <a:solidFill>
                  <a:srgbClr val="FFFFFF"/>
                </a:solidFill>
                <a:latin typeface="Aptos"/>
              </a:defRPr>
            </a:pPr>
            <a:r>
              <a:t>Promotion effect</a:t>
            </a:r>
          </a:p>
        </p:txBody>
      </p:sp>
      <p:sp>
        <p:nvSpPr>
          <p:cNvPr id="8" name="TextBox 7"/>
          <p:cNvSpPr txBox="1"/>
          <p:nvPr/>
        </p:nvSpPr>
        <p:spPr>
          <a:xfrm>
            <a:off x="859536" y="2130552"/>
            <a:ext cx="3346703" cy="3566160"/>
          </a:xfrm>
          <a:prstGeom prst="rect">
            <a:avLst/>
          </a:prstGeom>
          <a:noFill/>
        </p:spPr>
        <p:txBody>
          <a:bodyPr wrap="square">
            <a:spAutoFit/>
          </a:bodyPr>
          <a:lstStyle/>
          <a:p>
            <a:pPr>
              <a:defRPr sz="1500" b="0">
                <a:solidFill>
                  <a:srgbClr val="FFFFFF"/>
                </a:solidFill>
                <a:latin typeface="Aptos"/>
              </a:defRPr>
            </a:pPr>
            <a:r>
              <a:t>3,427.26</a:t>
            </a:r>
          </a:p>
          <a:p>
            <a:pPr>
              <a:defRPr sz="1500" b="0">
                <a:solidFill>
                  <a:srgbClr val="FFFFFF"/>
                </a:solidFill>
                <a:latin typeface="Aptos"/>
              </a:defRPr>
            </a:pPr>
            <a:r>
              <a:t>Average sales without promotion</a:t>
            </a:r>
          </a:p>
          <a:p>
            <a:pPr>
              <a:defRPr sz="1500" b="0">
                <a:solidFill>
                  <a:srgbClr val="FFFFFF"/>
                </a:solidFill>
                <a:latin typeface="Aptos"/>
              </a:defRPr>
            </a:pPr>
          </a:p>
          <a:p>
            <a:pPr>
              <a:defRPr sz="1500" b="0">
                <a:solidFill>
                  <a:srgbClr val="FFFFFF"/>
                </a:solidFill>
                <a:latin typeface="Aptos"/>
              </a:defRPr>
            </a:pPr>
            <a:r>
              <a:t>6,008.87</a:t>
            </a:r>
          </a:p>
          <a:p>
            <a:pPr>
              <a:defRPr sz="1500" b="0">
                <a:solidFill>
                  <a:srgbClr val="FFFFFF"/>
                </a:solidFill>
                <a:latin typeface="Aptos"/>
              </a:defRPr>
            </a:pPr>
            <a:r>
              <a:t>Average sales with promotion</a:t>
            </a:r>
          </a:p>
          <a:p>
            <a:pPr>
              <a:defRPr sz="1500" b="0">
                <a:solidFill>
                  <a:srgbClr val="FFFFFF"/>
                </a:solidFill>
                <a:latin typeface="Aptos"/>
              </a:defRPr>
            </a:pPr>
          </a:p>
          <a:p>
            <a:pPr>
              <a:defRPr sz="1500" b="0">
                <a:solidFill>
                  <a:srgbClr val="FFFFFF"/>
                </a:solidFill>
                <a:latin typeface="Aptos"/>
              </a:defRPr>
            </a:pPr>
            <a:r>
              <a:t>52.03% of sales occurred on promotional days.</a:t>
            </a:r>
          </a:p>
        </p:txBody>
      </p:sp>
      <p:graphicFrame>
        <p:nvGraphicFramePr>
          <p:cNvPr id="9" name="Chart 8"/>
          <p:cNvGraphicFramePr>
            <a:graphicFrameLocks noGrp="1"/>
          </p:cNvGraphicFramePr>
          <p:nvPr/>
        </p:nvGraphicFramePr>
        <p:xfrm>
          <a:off x="4709160" y="1536192"/>
          <a:ext cx="6400800" cy="4114800"/>
        </p:xfrm>
        <a:graphic>
          <a:graphicData uri="http://schemas.openxmlformats.org/drawingml/2006/chart">
            <c:chart xmlns:c="http://schemas.openxmlformats.org/drawingml/2006/chart" r:id="rId2"/>
          </a:graphicData>
        </a:graphic>
      </p:graphicFrame>
      <p:sp>
        <p:nvSpPr>
          <p:cNvPr id="10" name="TextBox 9"/>
          <p:cNvSpPr txBox="1"/>
          <p:nvPr/>
        </p:nvSpPr>
        <p:spPr>
          <a:xfrm>
            <a:off x="9875520" y="6501384"/>
            <a:ext cx="1097280" cy="201168"/>
          </a:xfrm>
          <a:prstGeom prst="rect">
            <a:avLst/>
          </a:prstGeom>
          <a:noFill/>
        </p:spPr>
        <p:txBody>
          <a:bodyPr wrap="square">
            <a:spAutoFit/>
          </a:bodyPr>
          <a:lstStyle/>
          <a:p>
            <a:pPr>
              <a:defRPr sz="900" b="1">
                <a:solidFill>
                  <a:srgbClr val="E85F11"/>
                </a:solidFill>
                <a:latin typeface="Aptos"/>
              </a:defRPr>
            </a:pPr>
            <a:r>
              <a:t>POD GROUP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74320"/>
            <a:ext cx="10972800" cy="502920"/>
          </a:xfrm>
          <a:prstGeom prst="rect">
            <a:avLst/>
          </a:prstGeom>
          <a:noFill/>
        </p:spPr>
        <p:txBody>
          <a:bodyPr wrap="square">
            <a:spAutoFit/>
          </a:bodyPr>
          <a:lstStyle/>
          <a:p>
            <a:r>
              <a:t>2.4 Holidays and Special Events</a:t>
            </a:r>
          </a:p>
        </p:txBody>
      </p:sp>
      <p:sp>
        <p:nvSpPr>
          <p:cNvPr id="3" name="Rectangle 2"/>
          <p:cNvSpPr/>
          <p:nvPr/>
        </p:nvSpPr>
        <p:spPr>
          <a:xfrm>
            <a:off x="594360" y="932688"/>
            <a:ext cx="786384" cy="50292"/>
          </a:xfrm>
          <a:prstGeom prst="rect">
            <a:avLst/>
          </a:prstGeom>
          <a:solidFill>
            <a:srgbClr val="E85F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112703" y="6547104"/>
            <a:ext cx="749808" cy="192024"/>
          </a:xfrm>
          <a:prstGeom prst="rect">
            <a:avLst/>
          </a:prstGeom>
          <a:noFill/>
        </p:spPr>
        <p:txBody>
          <a:bodyPr wrap="square">
            <a:spAutoFit/>
          </a:bodyPr>
          <a:lstStyle/>
          <a:p>
            <a:r>
              <a:rPr sz="800"/>
              <a:t>10 / 29</a:t>
            </a:r>
          </a:p>
        </p:txBody>
      </p:sp>
      <p:sp>
        <p:nvSpPr>
          <p:cNvPr id="5" name="TextBox 4"/>
          <p:cNvSpPr txBox="1"/>
          <p:nvPr/>
        </p:nvSpPr>
        <p:spPr>
          <a:xfrm>
            <a:off x="612648" y="6510528"/>
            <a:ext cx="3657600" cy="182880"/>
          </a:xfrm>
          <a:prstGeom prst="rect">
            <a:avLst/>
          </a:prstGeom>
          <a:noFill/>
        </p:spPr>
        <p:txBody>
          <a:bodyPr wrap="square">
            <a:spAutoFit/>
          </a:bodyPr>
          <a:lstStyle/>
          <a:p>
            <a:pPr>
              <a:defRPr sz="1000" b="1">
                <a:solidFill>
                  <a:srgbClr val="64696F"/>
                </a:solidFill>
                <a:latin typeface="Aptos"/>
              </a:defRPr>
            </a:pPr>
            <a:r>
              <a:t>ROSSMANN  /  STORE 800</a:t>
            </a:r>
          </a:p>
        </p:txBody>
      </p:sp>
      <p:sp>
        <p:nvSpPr>
          <p:cNvPr id="6" name="Rounded Rectangle 5"/>
          <p:cNvSpPr/>
          <p:nvPr/>
        </p:nvSpPr>
        <p:spPr>
          <a:xfrm>
            <a:off x="658368" y="1371600"/>
            <a:ext cx="4937760" cy="4480560"/>
          </a:xfrm>
          <a:prstGeom prst="roundRect">
            <a:avLst>
              <a:gd name="adj" fmla="val 12000"/>
            </a:avLst>
          </a:prstGeom>
          <a:solidFill>
            <a:srgbClr val="1A2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1554480"/>
            <a:ext cx="4535424" cy="475488"/>
          </a:xfrm>
          <a:prstGeom prst="rect">
            <a:avLst/>
          </a:prstGeom>
          <a:noFill/>
        </p:spPr>
        <p:txBody>
          <a:bodyPr wrap="square">
            <a:spAutoFit/>
          </a:bodyPr>
          <a:lstStyle/>
          <a:p>
            <a:pPr>
              <a:defRPr sz="2000" b="1">
                <a:solidFill>
                  <a:srgbClr val="FFFFFF"/>
                </a:solidFill>
                <a:latin typeface="Aptos"/>
              </a:defRPr>
            </a:pPr>
            <a:r>
              <a:t>Holiday patterns</a:t>
            </a:r>
          </a:p>
        </p:txBody>
      </p:sp>
      <p:sp>
        <p:nvSpPr>
          <p:cNvPr id="8" name="TextBox 7"/>
          <p:cNvSpPr txBox="1"/>
          <p:nvPr/>
        </p:nvSpPr>
        <p:spPr>
          <a:xfrm>
            <a:off x="859536" y="2130552"/>
            <a:ext cx="4535424" cy="3566160"/>
          </a:xfrm>
          <a:prstGeom prst="rect">
            <a:avLst/>
          </a:prstGeom>
          <a:noFill/>
        </p:spPr>
        <p:txBody>
          <a:bodyPr wrap="square">
            <a:spAutoFit/>
          </a:bodyPr>
          <a:lstStyle/>
          <a:p>
            <a:pPr>
              <a:defRPr sz="1500" b="0">
                <a:solidFill>
                  <a:srgbClr val="FFFFFF"/>
                </a:solidFill>
                <a:latin typeface="Aptos"/>
              </a:defRPr>
            </a:pPr>
            <a:r>
              <a:t>Public, Easter and Christmas holidays recorded zero sales in this store sample.</a:t>
            </a:r>
          </a:p>
          <a:p>
            <a:pPr>
              <a:defRPr sz="1500" b="0">
                <a:solidFill>
                  <a:srgbClr val="FFFFFF"/>
                </a:solidFill>
                <a:latin typeface="Aptos"/>
              </a:defRPr>
            </a:pPr>
          </a:p>
          <a:p>
            <a:pPr>
              <a:defRPr sz="1500" b="0">
                <a:solidFill>
                  <a:srgbClr val="FFFFFF"/>
                </a:solidFill>
                <a:latin typeface="Aptos"/>
              </a:defRPr>
            </a:pPr>
            <a:r>
              <a:t>School-holiday days had higher average sales than other days.</a:t>
            </a:r>
          </a:p>
          <a:p>
            <a:pPr>
              <a:defRPr sz="1500" b="0">
                <a:solidFill>
                  <a:srgbClr val="FFFFFF"/>
                </a:solidFill>
                <a:latin typeface="Aptos"/>
              </a:defRPr>
            </a:pPr>
          </a:p>
          <a:p>
            <a:pPr>
              <a:defRPr sz="1500" b="0">
                <a:solidFill>
                  <a:srgbClr val="FFFFFF"/>
                </a:solidFill>
                <a:latin typeface="Aptos"/>
              </a:defRPr>
            </a:pPr>
            <a:r>
              <a:t>Interpret associations cautiously.</a:t>
            </a:r>
          </a:p>
        </p:txBody>
      </p:sp>
      <p:graphicFrame>
        <p:nvGraphicFramePr>
          <p:cNvPr id="9" name="Chart 8"/>
          <p:cNvGraphicFramePr>
            <a:graphicFrameLocks noGrp="1"/>
          </p:cNvGraphicFramePr>
          <p:nvPr/>
        </p:nvGraphicFramePr>
        <p:xfrm>
          <a:off x="5870448" y="1545336"/>
          <a:ext cx="5166360" cy="4069080"/>
        </p:xfrm>
        <a:graphic>
          <a:graphicData uri="http://schemas.openxmlformats.org/drawingml/2006/chart">
            <c:chart xmlns:c="http://schemas.openxmlformats.org/drawingml/2006/chart" r:id="rId2"/>
          </a:graphicData>
        </a:graphic>
      </p:graphicFrame>
      <p:sp>
        <p:nvSpPr>
          <p:cNvPr id="10" name="TextBox 9"/>
          <p:cNvSpPr txBox="1"/>
          <p:nvPr/>
        </p:nvSpPr>
        <p:spPr>
          <a:xfrm>
            <a:off x="9875520" y="6501384"/>
            <a:ext cx="1097280" cy="201168"/>
          </a:xfrm>
          <a:prstGeom prst="rect">
            <a:avLst/>
          </a:prstGeom>
          <a:noFill/>
        </p:spPr>
        <p:txBody>
          <a:bodyPr wrap="square">
            <a:spAutoFit/>
          </a:bodyPr>
          <a:lstStyle/>
          <a:p>
            <a:pPr>
              <a:defRPr sz="900" b="1">
                <a:solidFill>
                  <a:srgbClr val="E85F11"/>
                </a:solidFill>
                <a:latin typeface="Aptos"/>
              </a:defRPr>
            </a:pPr>
            <a:r>
              <a:t>POD GROUP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74320"/>
            <a:ext cx="10972800" cy="502920"/>
          </a:xfrm>
          <a:prstGeom prst="rect">
            <a:avLst/>
          </a:prstGeom>
          <a:noFill/>
        </p:spPr>
        <p:txBody>
          <a:bodyPr wrap="square">
            <a:spAutoFit/>
          </a:bodyPr>
          <a:lstStyle/>
          <a:p>
            <a:r>
              <a:t>2.5 Sales Pattern by Day of Week</a:t>
            </a:r>
          </a:p>
        </p:txBody>
      </p:sp>
      <p:sp>
        <p:nvSpPr>
          <p:cNvPr id="3" name="Rectangle 2"/>
          <p:cNvSpPr/>
          <p:nvPr/>
        </p:nvSpPr>
        <p:spPr>
          <a:xfrm>
            <a:off x="594360" y="932688"/>
            <a:ext cx="786384" cy="50292"/>
          </a:xfrm>
          <a:prstGeom prst="rect">
            <a:avLst/>
          </a:prstGeom>
          <a:solidFill>
            <a:srgbClr val="E85F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112703" y="6547104"/>
            <a:ext cx="749808" cy="192024"/>
          </a:xfrm>
          <a:prstGeom prst="rect">
            <a:avLst/>
          </a:prstGeom>
          <a:noFill/>
        </p:spPr>
        <p:txBody>
          <a:bodyPr wrap="square">
            <a:spAutoFit/>
          </a:bodyPr>
          <a:lstStyle/>
          <a:p>
            <a:r>
              <a:rPr sz="800"/>
              <a:t>11 / 29</a:t>
            </a:r>
          </a:p>
        </p:txBody>
      </p:sp>
      <p:sp>
        <p:nvSpPr>
          <p:cNvPr id="5" name="TextBox 4"/>
          <p:cNvSpPr txBox="1"/>
          <p:nvPr/>
        </p:nvSpPr>
        <p:spPr>
          <a:xfrm>
            <a:off x="612648" y="6510528"/>
            <a:ext cx="3657600" cy="182880"/>
          </a:xfrm>
          <a:prstGeom prst="rect">
            <a:avLst/>
          </a:prstGeom>
          <a:noFill/>
        </p:spPr>
        <p:txBody>
          <a:bodyPr wrap="square">
            <a:spAutoFit/>
          </a:bodyPr>
          <a:lstStyle/>
          <a:p>
            <a:pPr>
              <a:defRPr sz="1000" b="1">
                <a:solidFill>
                  <a:srgbClr val="64696F"/>
                </a:solidFill>
                <a:latin typeface="Aptos"/>
              </a:defRPr>
            </a:pPr>
            <a:r>
              <a:t>ROSSMANN  /  STORE 800</a:t>
            </a:r>
          </a:p>
        </p:txBody>
      </p:sp>
      <p:graphicFrame>
        <p:nvGraphicFramePr>
          <p:cNvPr id="6" name="Chart 5"/>
          <p:cNvGraphicFramePr>
            <a:graphicFrameLocks noGrp="1"/>
          </p:cNvGraphicFramePr>
          <p:nvPr/>
        </p:nvGraphicFramePr>
        <p:xfrm>
          <a:off x="667512" y="1353312"/>
          <a:ext cx="7955279" cy="4480560"/>
        </p:xfrm>
        <a:graphic>
          <a:graphicData uri="http://schemas.openxmlformats.org/drawingml/2006/chart">
            <c:chart xmlns:c="http://schemas.openxmlformats.org/drawingml/2006/chart" r:id="rId2"/>
          </a:graphicData>
        </a:graphic>
      </p:graphicFrame>
      <p:sp>
        <p:nvSpPr>
          <p:cNvPr id="7" name="Rounded Rectangle 6"/>
          <p:cNvSpPr/>
          <p:nvPr/>
        </p:nvSpPr>
        <p:spPr>
          <a:xfrm>
            <a:off x="8842248" y="1353312"/>
            <a:ext cx="2587752" cy="4480560"/>
          </a:xfrm>
          <a:prstGeom prst="roundRect">
            <a:avLst>
              <a:gd name="adj" fmla="val 12000"/>
            </a:avLst>
          </a:prstGeom>
          <a:solidFill>
            <a:srgbClr val="1A2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43416" y="1536192"/>
            <a:ext cx="2185416" cy="475488"/>
          </a:xfrm>
          <a:prstGeom prst="rect">
            <a:avLst/>
          </a:prstGeom>
          <a:noFill/>
        </p:spPr>
        <p:txBody>
          <a:bodyPr wrap="square">
            <a:spAutoFit/>
          </a:bodyPr>
          <a:lstStyle/>
          <a:p>
            <a:pPr>
              <a:defRPr sz="2000" b="1">
                <a:solidFill>
                  <a:srgbClr val="FFFFFF"/>
                </a:solidFill>
                <a:latin typeface="Aptos"/>
              </a:defRPr>
            </a:pPr>
            <a:r>
              <a:t>Weekly cycle</a:t>
            </a:r>
          </a:p>
        </p:txBody>
      </p:sp>
      <p:sp>
        <p:nvSpPr>
          <p:cNvPr id="9" name="TextBox 8"/>
          <p:cNvSpPr txBox="1"/>
          <p:nvPr/>
        </p:nvSpPr>
        <p:spPr>
          <a:xfrm>
            <a:off x="9043416" y="2112264"/>
            <a:ext cx="2185416" cy="3566160"/>
          </a:xfrm>
          <a:prstGeom prst="rect">
            <a:avLst/>
          </a:prstGeom>
          <a:noFill/>
        </p:spPr>
        <p:txBody>
          <a:bodyPr wrap="square">
            <a:spAutoFit/>
          </a:bodyPr>
          <a:lstStyle/>
          <a:p>
            <a:pPr>
              <a:defRPr sz="1500" b="0">
                <a:solidFill>
                  <a:srgbClr val="FFFFFF"/>
                </a:solidFill>
                <a:latin typeface="Aptos"/>
              </a:defRPr>
            </a:pPr>
            <a:r>
              <a:t>Monday has the highest average sales.</a:t>
            </a:r>
          </a:p>
          <a:p>
            <a:pPr>
              <a:defRPr sz="1500" b="0">
                <a:solidFill>
                  <a:srgbClr val="FFFFFF"/>
                </a:solidFill>
                <a:latin typeface="Aptos"/>
              </a:defRPr>
            </a:pPr>
          </a:p>
          <a:p>
            <a:pPr>
              <a:defRPr sz="1500" b="0">
                <a:solidFill>
                  <a:srgbClr val="FFFFFF"/>
                </a:solidFill>
                <a:latin typeface="Aptos"/>
              </a:defRPr>
            </a:pPr>
            <a:r>
              <a:t>Sunday sales are zero.</a:t>
            </a:r>
          </a:p>
          <a:p>
            <a:pPr>
              <a:defRPr sz="1500" b="0">
                <a:solidFill>
                  <a:srgbClr val="FFFFFF"/>
                </a:solidFill>
                <a:latin typeface="Aptos"/>
              </a:defRPr>
            </a:pPr>
          </a:p>
          <a:p>
            <a:pPr>
              <a:defRPr sz="1500" b="0">
                <a:solidFill>
                  <a:srgbClr val="FFFFFF"/>
                </a:solidFill>
                <a:latin typeface="Aptos"/>
              </a:defRPr>
            </a:pPr>
            <a:r>
              <a:t>This supports a seven-day seasonal pattern.</a:t>
            </a:r>
          </a:p>
        </p:txBody>
      </p:sp>
      <p:sp>
        <p:nvSpPr>
          <p:cNvPr id="10" name="TextBox 9"/>
          <p:cNvSpPr txBox="1"/>
          <p:nvPr/>
        </p:nvSpPr>
        <p:spPr>
          <a:xfrm>
            <a:off x="9875520" y="6501384"/>
            <a:ext cx="1097280" cy="201168"/>
          </a:xfrm>
          <a:prstGeom prst="rect">
            <a:avLst/>
          </a:prstGeom>
          <a:noFill/>
        </p:spPr>
        <p:txBody>
          <a:bodyPr wrap="square">
            <a:spAutoFit/>
          </a:bodyPr>
          <a:lstStyle/>
          <a:p>
            <a:pPr>
              <a:defRPr sz="900" b="1">
                <a:solidFill>
                  <a:srgbClr val="E85F11"/>
                </a:solidFill>
                <a:latin typeface="Aptos"/>
              </a:defRPr>
            </a:pPr>
            <a:r>
              <a:t>POD GROUP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74320"/>
            <a:ext cx="10972800" cy="502920"/>
          </a:xfrm>
          <a:prstGeom prst="rect">
            <a:avLst/>
          </a:prstGeom>
          <a:noFill/>
        </p:spPr>
        <p:txBody>
          <a:bodyPr wrap="square">
            <a:spAutoFit/>
          </a:bodyPr>
          <a:lstStyle/>
          <a:p>
            <a:r>
              <a:t>2.6 Trend and Seasonality</a:t>
            </a:r>
          </a:p>
        </p:txBody>
      </p:sp>
      <p:sp>
        <p:nvSpPr>
          <p:cNvPr id="3" name="Rectangle 2"/>
          <p:cNvSpPr/>
          <p:nvPr/>
        </p:nvSpPr>
        <p:spPr>
          <a:xfrm>
            <a:off x="594360" y="932688"/>
            <a:ext cx="786384" cy="50292"/>
          </a:xfrm>
          <a:prstGeom prst="rect">
            <a:avLst/>
          </a:prstGeom>
          <a:solidFill>
            <a:srgbClr val="E85F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112703" y="6547104"/>
            <a:ext cx="749808" cy="192024"/>
          </a:xfrm>
          <a:prstGeom prst="rect">
            <a:avLst/>
          </a:prstGeom>
          <a:noFill/>
        </p:spPr>
        <p:txBody>
          <a:bodyPr wrap="square">
            <a:spAutoFit/>
          </a:bodyPr>
          <a:lstStyle/>
          <a:p>
            <a:r>
              <a:rPr sz="800"/>
              <a:t>12 / 29</a:t>
            </a:r>
          </a:p>
        </p:txBody>
      </p:sp>
      <p:sp>
        <p:nvSpPr>
          <p:cNvPr id="5" name="TextBox 4"/>
          <p:cNvSpPr txBox="1"/>
          <p:nvPr/>
        </p:nvSpPr>
        <p:spPr>
          <a:xfrm>
            <a:off x="612648" y="6510528"/>
            <a:ext cx="3657600" cy="182880"/>
          </a:xfrm>
          <a:prstGeom prst="rect">
            <a:avLst/>
          </a:prstGeom>
          <a:noFill/>
        </p:spPr>
        <p:txBody>
          <a:bodyPr wrap="square">
            <a:spAutoFit/>
          </a:bodyPr>
          <a:lstStyle/>
          <a:p>
            <a:pPr>
              <a:defRPr sz="1000" b="1">
                <a:solidFill>
                  <a:srgbClr val="64696F"/>
                </a:solidFill>
                <a:latin typeface="Aptos"/>
              </a:defRPr>
            </a:pPr>
            <a:r>
              <a:t>ROSSMANN  /  STORE 800</a:t>
            </a:r>
          </a:p>
        </p:txBody>
      </p:sp>
      <p:sp>
        <p:nvSpPr>
          <p:cNvPr id="6" name="Rounded Rectangle 5"/>
          <p:cNvSpPr/>
          <p:nvPr/>
        </p:nvSpPr>
        <p:spPr>
          <a:xfrm>
            <a:off x="621792" y="1335024"/>
            <a:ext cx="10945368" cy="4535424"/>
          </a:xfrm>
          <a:prstGeom prst="roundRect">
            <a:avLst>
              <a:gd name="adj" fmla="val 12000"/>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841248" y="1609344"/>
            <a:ext cx="10515600" cy="3913632"/>
          </a:xfrm>
          <a:prstGeom prst="rect">
            <a:avLst/>
          </a:prstGeom>
        </p:spPr>
      </p:pic>
      <p:sp>
        <p:nvSpPr>
          <p:cNvPr id="8" name="TextBox 7"/>
          <p:cNvSpPr txBox="1"/>
          <p:nvPr/>
        </p:nvSpPr>
        <p:spPr>
          <a:xfrm>
            <a:off x="9875520" y="6501384"/>
            <a:ext cx="1097280" cy="201168"/>
          </a:xfrm>
          <a:prstGeom prst="rect">
            <a:avLst/>
          </a:prstGeom>
          <a:noFill/>
        </p:spPr>
        <p:txBody>
          <a:bodyPr wrap="square">
            <a:spAutoFit/>
          </a:bodyPr>
          <a:lstStyle/>
          <a:p>
            <a:pPr>
              <a:defRPr sz="900" b="1">
                <a:solidFill>
                  <a:srgbClr val="E85F11"/>
                </a:solidFill>
                <a:latin typeface="Aptos"/>
              </a:defRPr>
            </a:pPr>
            <a:r>
              <a:t>POD GROUP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83464"/>
            <a:ext cx="10972800" cy="640080"/>
          </a:xfrm>
          <a:prstGeom prst="rect">
            <a:avLst/>
          </a:prstGeom>
          <a:noFill/>
        </p:spPr>
        <p:txBody>
          <a:bodyPr wrap="square">
            <a:spAutoFit/>
          </a:bodyPr>
          <a:lstStyle/>
          <a:p>
            <a:pPr>
              <a:defRPr sz="2500" b="1">
                <a:solidFill>
                  <a:srgbClr val="1B232C"/>
                </a:solidFill>
                <a:latin typeface="Aptos"/>
              </a:defRPr>
            </a:pPr>
            <a:r>
              <a:t>2.8 Detecting Stationarity and Time Series Diagnostics</a:t>
            </a:r>
          </a:p>
        </p:txBody>
      </p:sp>
      <p:sp>
        <p:nvSpPr>
          <p:cNvPr id="3" name="Rectangle 2"/>
          <p:cNvSpPr/>
          <p:nvPr/>
        </p:nvSpPr>
        <p:spPr>
          <a:xfrm>
            <a:off x="594360" y="960120"/>
            <a:ext cx="822960" cy="54864"/>
          </a:xfrm>
          <a:prstGeom prst="rect">
            <a:avLst/>
          </a:prstGeom>
          <a:solidFill>
            <a:srgbClr val="E85F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483096"/>
            <a:ext cx="3657600" cy="201168"/>
          </a:xfrm>
          <a:prstGeom prst="rect">
            <a:avLst/>
          </a:prstGeom>
          <a:noFill/>
        </p:spPr>
        <p:txBody>
          <a:bodyPr wrap="square">
            <a:spAutoFit/>
          </a:bodyPr>
          <a:lstStyle/>
          <a:p>
            <a:pPr>
              <a:defRPr sz="1000" b="1">
                <a:solidFill>
                  <a:srgbClr val="63676D"/>
                </a:solidFill>
                <a:latin typeface="Aptos"/>
              </a:defRPr>
            </a:pPr>
            <a:r>
              <a:t>ROSSMANN  /  STORE 800</a:t>
            </a:r>
          </a:p>
        </p:txBody>
      </p:sp>
      <p:sp>
        <p:nvSpPr>
          <p:cNvPr id="5" name="TextBox 4"/>
          <p:cNvSpPr txBox="1"/>
          <p:nvPr/>
        </p:nvSpPr>
        <p:spPr>
          <a:xfrm>
            <a:off x="8138160" y="6483096"/>
            <a:ext cx="3200400" cy="201168"/>
          </a:xfrm>
          <a:prstGeom prst="rect">
            <a:avLst/>
          </a:prstGeom>
          <a:noFill/>
        </p:spPr>
        <p:txBody>
          <a:bodyPr wrap="square">
            <a:spAutoFit/>
          </a:bodyPr>
          <a:lstStyle/>
          <a:p>
            <a:pPr>
              <a:defRPr sz="1000" b="1">
                <a:solidFill>
                  <a:srgbClr val="E85F11"/>
                </a:solidFill>
                <a:latin typeface="Aptos"/>
              </a:defRPr>
            </a:pPr>
            <a:r>
              <a:t>PRESENTED BY THE POD GROUP</a:t>
            </a:r>
          </a:p>
        </p:txBody>
      </p:sp>
      <p:sp>
        <p:nvSpPr>
          <p:cNvPr id="6" name="Rounded Rectangle 5"/>
          <p:cNvSpPr/>
          <p:nvPr/>
        </p:nvSpPr>
        <p:spPr>
          <a:xfrm>
            <a:off x="621792" y="1307592"/>
            <a:ext cx="7607808" cy="4736592"/>
          </a:xfrm>
          <a:prstGeom prst="roundRect">
            <a:avLst/>
          </a:prstGeom>
          <a:solidFill>
            <a:srgbClr val="F4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4"/>
          <a:stretch>
            <a:fillRect/>
          </a:stretch>
        </p:blipFill>
        <p:spPr>
          <a:xfrm>
            <a:off x="1452383" y="1463040"/>
            <a:ext cx="5937481" cy="4315968"/>
          </a:xfrm>
          <a:prstGeom prst="rect">
            <a:avLst/>
          </a:prstGeom>
        </p:spPr>
      </p:pic>
      <p:sp>
        <p:nvSpPr>
          <p:cNvPr id="8" name="Rounded Rectangle 7"/>
          <p:cNvSpPr/>
          <p:nvPr/>
        </p:nvSpPr>
        <p:spPr>
          <a:xfrm>
            <a:off x="8394192" y="1307592"/>
            <a:ext cx="3127248" cy="4736592"/>
          </a:xfrm>
          <a:prstGeom prst="roundRect">
            <a:avLst/>
          </a:prstGeom>
          <a:solidFill>
            <a:srgbClr val="1B23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22792" y="1627632"/>
            <a:ext cx="2670048" cy="594360"/>
          </a:xfrm>
          <a:prstGeom prst="rect">
            <a:avLst/>
          </a:prstGeom>
          <a:noFill/>
        </p:spPr>
        <p:txBody>
          <a:bodyPr wrap="square">
            <a:spAutoFit/>
          </a:bodyPr>
          <a:lstStyle/>
          <a:p>
            <a:pPr>
              <a:defRPr sz="1800" b="1">
                <a:solidFill>
                  <a:srgbClr val="E85F11"/>
                </a:solidFill>
                <a:latin typeface="Aptos"/>
              </a:defRPr>
            </a:pPr>
            <a:r>
              <a:t>STORE 800 DAILY SALES</a:t>
            </a:r>
          </a:p>
        </p:txBody>
      </p:sp>
      <p:sp>
        <p:nvSpPr>
          <p:cNvPr id="10" name="TextBox 9"/>
          <p:cNvSpPr txBox="1"/>
          <p:nvPr/>
        </p:nvSpPr>
        <p:spPr>
          <a:xfrm>
            <a:off x="8622792" y="2377440"/>
            <a:ext cx="2651760" cy="914400"/>
          </a:xfrm>
          <a:prstGeom prst="rect">
            <a:avLst/>
          </a:prstGeom>
          <a:noFill/>
        </p:spPr>
        <p:txBody>
          <a:bodyPr wrap="square">
            <a:spAutoFit/>
          </a:bodyPr>
          <a:lstStyle/>
          <a:p>
            <a:pPr>
              <a:defRPr sz="2300" b="1">
                <a:solidFill>
                  <a:srgbClr val="FFFFFF"/>
                </a:solidFill>
                <a:latin typeface="Aptos"/>
              </a:defRPr>
            </a:pPr>
            <a:r>
              <a:t>ADF statistic</a:t>
            </a:r>
          </a:p>
          <a:p>
            <a:pPr>
              <a:defRPr sz="2300" b="1">
                <a:solidFill>
                  <a:srgbClr val="FFFFFF"/>
                </a:solidFill>
                <a:latin typeface="Aptos"/>
              </a:defRPr>
            </a:pPr>
            <a:r>
              <a:t>−3.6074</a:t>
            </a:r>
          </a:p>
        </p:txBody>
      </p:sp>
      <p:sp>
        <p:nvSpPr>
          <p:cNvPr id="11" name="TextBox 10"/>
          <p:cNvSpPr txBox="1"/>
          <p:nvPr/>
        </p:nvSpPr>
        <p:spPr>
          <a:xfrm>
            <a:off x="8622792" y="3584448"/>
            <a:ext cx="2670048" cy="960120"/>
          </a:xfrm>
          <a:prstGeom prst="rect">
            <a:avLst/>
          </a:prstGeom>
          <a:noFill/>
        </p:spPr>
        <p:txBody>
          <a:bodyPr wrap="square">
            <a:spAutoFit/>
          </a:bodyPr>
          <a:lstStyle/>
          <a:p>
            <a:pPr>
              <a:defRPr sz="2300" b="1">
                <a:solidFill>
                  <a:srgbClr val="FFFFFF"/>
                </a:solidFill>
                <a:latin typeface="Aptos"/>
              </a:defRPr>
            </a:pPr>
            <a:r>
              <a:t>p-value</a:t>
            </a:r>
          </a:p>
          <a:p>
            <a:pPr>
              <a:defRPr sz="2300" b="1">
                <a:solidFill>
                  <a:srgbClr val="FFFFFF"/>
                </a:solidFill>
                <a:latin typeface="Aptos"/>
              </a:defRPr>
            </a:pPr>
            <a:r>
              <a:t>0.0056</a:t>
            </a:r>
          </a:p>
        </p:txBody>
      </p:sp>
      <p:sp>
        <p:nvSpPr>
          <p:cNvPr id="12" name="TextBox 11"/>
          <p:cNvSpPr txBox="1"/>
          <p:nvPr/>
        </p:nvSpPr>
        <p:spPr>
          <a:xfrm>
            <a:off x="8622792" y="4773168"/>
            <a:ext cx="2651760" cy="1005840"/>
          </a:xfrm>
          <a:prstGeom prst="rect">
            <a:avLst/>
          </a:prstGeom>
          <a:noFill/>
        </p:spPr>
        <p:txBody>
          <a:bodyPr wrap="square">
            <a:spAutoFit/>
          </a:bodyPr>
          <a:lstStyle/>
          <a:p>
            <a:pPr>
              <a:defRPr sz="1400" b="0">
                <a:solidFill>
                  <a:srgbClr val="FFFFFF"/>
                </a:solidFill>
                <a:latin typeface="Aptos"/>
              </a:defRPr>
            </a:pPr>
            <a:r>
              <a:t>Reject the unit-root null at 5%. Diagnostic plots also indicate non-normality and autocorrelation.</a:t>
            </a:r>
          </a:p>
        </p:txBody>
      </p:sp>
      <p:sp>
        <p:nvSpPr>
          <p:cNvPr id="13" name="TextBox 12"/>
          <p:cNvSpPr txBox="1"/>
          <p:nvPr/>
        </p:nvSpPr>
        <p:spPr>
          <a:xfrm>
            <a:off x="11112703" y="6547104"/>
            <a:ext cx="749808" cy="192024"/>
          </a:xfrm>
          <a:prstGeom prst="rect">
            <a:avLst/>
          </a:prstGeom>
          <a:noFill/>
        </p:spPr>
        <p:txBody>
          <a:bodyPr wrap="square">
            <a:spAutoFit/>
          </a:bodyPr>
          <a:lstStyle/>
          <a:p>
            <a:pPr>
              <a:defRPr sz="1000" b="0">
                <a:solidFill>
                  <a:srgbClr val="63676D"/>
                </a:solidFill>
                <a:latin typeface="Aptos"/>
              </a:defRPr>
            </a:pPr>
            <a:r>
              <a:rPr sz="800"/>
              <a:t>13 / 29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92608"/>
            <a:ext cx="10881360" cy="566928"/>
          </a:xfrm>
          <a:prstGeom prst="rect">
            <a:avLst/>
          </a:prstGeom>
          <a:noFill/>
        </p:spPr>
        <p:txBody>
          <a:bodyPr wrap="square">
            <a:spAutoFit/>
          </a:bodyPr>
          <a:lstStyle/>
          <a:p>
            <a:r>
              <a:t>2.9 Baseline Forecasting Results and Interpretation</a:t>
            </a:r>
          </a:p>
        </p:txBody>
      </p:sp>
      <p:sp>
        <p:nvSpPr>
          <p:cNvPr id="3" name="Rectangle 2"/>
          <p:cNvSpPr/>
          <p:nvPr/>
        </p:nvSpPr>
        <p:spPr>
          <a:xfrm>
            <a:off x="612648" y="932688"/>
            <a:ext cx="822960" cy="54864"/>
          </a:xfrm>
          <a:prstGeom prst="rect">
            <a:avLst/>
          </a:prstGeom>
          <a:solidFill>
            <a:srgbClr val="E85F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58368" y="1353312"/>
            <a:ext cx="10853928" cy="749808"/>
          </a:xfrm>
          <a:prstGeom prst="roundRect">
            <a:avLst/>
          </a:prstGeom>
          <a:solidFill>
            <a:srgbClr val="1A2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96112" y="1581912"/>
            <a:ext cx="4023360" cy="274320"/>
          </a:xfrm>
          <a:prstGeom prst="rect">
            <a:avLst/>
          </a:prstGeom>
          <a:noFill/>
        </p:spPr>
        <p:txBody>
          <a:bodyPr wrap="square">
            <a:spAutoFit/>
          </a:bodyPr>
          <a:lstStyle/>
          <a:p>
            <a:pPr>
              <a:defRPr sz="1500" b="1">
                <a:solidFill>
                  <a:srgbClr val="FFFFFF"/>
                </a:solidFill>
                <a:latin typeface="Aptos"/>
              </a:defRPr>
            </a:pPr>
            <a:r>
              <a:t>MODEL</a:t>
            </a:r>
          </a:p>
        </p:txBody>
      </p:sp>
      <p:sp>
        <p:nvSpPr>
          <p:cNvPr id="6" name="TextBox 5"/>
          <p:cNvSpPr txBox="1"/>
          <p:nvPr/>
        </p:nvSpPr>
        <p:spPr>
          <a:xfrm>
            <a:off x="5056632" y="1581912"/>
            <a:ext cx="2560320" cy="274320"/>
          </a:xfrm>
          <a:prstGeom prst="rect">
            <a:avLst/>
          </a:prstGeom>
          <a:noFill/>
        </p:spPr>
        <p:txBody>
          <a:bodyPr wrap="square">
            <a:spAutoFit/>
          </a:bodyPr>
          <a:lstStyle/>
          <a:p>
            <a:pPr>
              <a:defRPr sz="1500" b="1">
                <a:solidFill>
                  <a:srgbClr val="FFFFFF"/>
                </a:solidFill>
                <a:latin typeface="Aptos"/>
              </a:defRPr>
            </a:pPr>
            <a:r>
              <a:t>MAE</a:t>
            </a:r>
          </a:p>
        </p:txBody>
      </p:sp>
      <p:sp>
        <p:nvSpPr>
          <p:cNvPr id="7" name="TextBox 6"/>
          <p:cNvSpPr txBox="1"/>
          <p:nvPr/>
        </p:nvSpPr>
        <p:spPr>
          <a:xfrm>
            <a:off x="8229600" y="1581912"/>
            <a:ext cx="2651760" cy="274320"/>
          </a:xfrm>
          <a:prstGeom prst="rect">
            <a:avLst/>
          </a:prstGeom>
          <a:noFill/>
        </p:spPr>
        <p:txBody>
          <a:bodyPr wrap="square">
            <a:spAutoFit/>
          </a:bodyPr>
          <a:lstStyle/>
          <a:p>
            <a:pPr>
              <a:defRPr sz="1500" b="1">
                <a:solidFill>
                  <a:srgbClr val="FFFFFF"/>
                </a:solidFill>
                <a:latin typeface="Aptos"/>
              </a:defRPr>
            </a:pPr>
            <a:r>
              <a:t>RMSE</a:t>
            </a:r>
          </a:p>
        </p:txBody>
      </p:sp>
      <p:sp>
        <p:nvSpPr>
          <p:cNvPr id="8" name="Rounded Rectangle 7"/>
          <p:cNvSpPr/>
          <p:nvPr/>
        </p:nvSpPr>
        <p:spPr>
          <a:xfrm>
            <a:off x="658368" y="2231136"/>
            <a:ext cx="10853928" cy="640080"/>
          </a:xfrm>
          <a:prstGeom prst="roundRect">
            <a:avLst/>
          </a:prstGeom>
          <a:solidFill>
            <a:srgbClr val="FCE5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395728"/>
            <a:ext cx="4023360" cy="310896"/>
          </a:xfrm>
          <a:prstGeom prst="rect">
            <a:avLst/>
          </a:prstGeom>
          <a:noFill/>
        </p:spPr>
        <p:txBody>
          <a:bodyPr wrap="square">
            <a:spAutoFit/>
          </a:bodyPr>
          <a:lstStyle/>
          <a:p>
            <a:pPr>
              <a:defRPr sz="1700" b="1">
                <a:solidFill>
                  <a:srgbClr val="1A222B"/>
                </a:solidFill>
                <a:latin typeface="Aptos"/>
              </a:defRPr>
            </a:pPr>
            <a:r>
              <a:t>Seasonal Naive</a:t>
            </a:r>
          </a:p>
        </p:txBody>
      </p:sp>
      <p:sp>
        <p:nvSpPr>
          <p:cNvPr id="10" name="TextBox 9"/>
          <p:cNvSpPr txBox="1"/>
          <p:nvPr/>
        </p:nvSpPr>
        <p:spPr>
          <a:xfrm>
            <a:off x="5056632" y="2395728"/>
            <a:ext cx="2560320" cy="310896"/>
          </a:xfrm>
          <a:prstGeom prst="rect">
            <a:avLst/>
          </a:prstGeom>
          <a:noFill/>
        </p:spPr>
        <p:txBody>
          <a:bodyPr wrap="square">
            <a:spAutoFit/>
          </a:bodyPr>
          <a:lstStyle/>
          <a:p>
            <a:pPr>
              <a:defRPr sz="1700" b="1">
                <a:solidFill>
                  <a:srgbClr val="1A222B"/>
                </a:solidFill>
                <a:latin typeface="Aptos"/>
              </a:defRPr>
            </a:pPr>
            <a:r>
              <a:t>1,004.83</a:t>
            </a:r>
          </a:p>
        </p:txBody>
      </p:sp>
      <p:sp>
        <p:nvSpPr>
          <p:cNvPr id="11" name="TextBox 10"/>
          <p:cNvSpPr txBox="1"/>
          <p:nvPr/>
        </p:nvSpPr>
        <p:spPr>
          <a:xfrm>
            <a:off x="8229600" y="2395728"/>
            <a:ext cx="2651760" cy="310896"/>
          </a:xfrm>
          <a:prstGeom prst="rect">
            <a:avLst/>
          </a:prstGeom>
          <a:noFill/>
        </p:spPr>
        <p:txBody>
          <a:bodyPr wrap="square">
            <a:spAutoFit/>
          </a:bodyPr>
          <a:lstStyle/>
          <a:p>
            <a:pPr>
              <a:defRPr sz="1700" b="1">
                <a:solidFill>
                  <a:srgbClr val="1A222B"/>
                </a:solidFill>
                <a:latin typeface="Aptos"/>
              </a:defRPr>
            </a:pPr>
            <a:r>
              <a:t>1,479.89</a:t>
            </a:r>
          </a:p>
        </p:txBody>
      </p:sp>
      <p:sp>
        <p:nvSpPr>
          <p:cNvPr id="12" name="Rounded Rectangle 11"/>
          <p:cNvSpPr/>
          <p:nvPr/>
        </p:nvSpPr>
        <p:spPr>
          <a:xfrm>
            <a:off x="658368" y="2944368"/>
            <a:ext cx="10853928" cy="640080"/>
          </a:xfrm>
          <a:prstGeom prst="roundRect">
            <a:avLst/>
          </a:prstGeom>
          <a:solidFill>
            <a:srgbClr val="F8F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3108960"/>
            <a:ext cx="4023360" cy="310896"/>
          </a:xfrm>
          <a:prstGeom prst="rect">
            <a:avLst/>
          </a:prstGeom>
          <a:noFill/>
        </p:spPr>
        <p:txBody>
          <a:bodyPr wrap="square">
            <a:spAutoFit/>
          </a:bodyPr>
          <a:lstStyle/>
          <a:p>
            <a:pPr>
              <a:defRPr sz="1700" b="0">
                <a:solidFill>
                  <a:srgbClr val="1A222B"/>
                </a:solidFill>
                <a:latin typeface="Aptos"/>
              </a:defRPr>
            </a:pPr>
            <a:r>
              <a:t>Naive</a:t>
            </a:r>
          </a:p>
        </p:txBody>
      </p:sp>
      <p:sp>
        <p:nvSpPr>
          <p:cNvPr id="14" name="TextBox 13"/>
          <p:cNvSpPr txBox="1"/>
          <p:nvPr/>
        </p:nvSpPr>
        <p:spPr>
          <a:xfrm>
            <a:off x="5056632" y="3108960"/>
            <a:ext cx="2560320" cy="310896"/>
          </a:xfrm>
          <a:prstGeom prst="rect">
            <a:avLst/>
          </a:prstGeom>
          <a:noFill/>
        </p:spPr>
        <p:txBody>
          <a:bodyPr wrap="square">
            <a:spAutoFit/>
          </a:bodyPr>
          <a:lstStyle/>
          <a:p>
            <a:pPr>
              <a:defRPr sz="1700" b="0">
                <a:solidFill>
                  <a:srgbClr val="1A222B"/>
                </a:solidFill>
                <a:latin typeface="Aptos"/>
              </a:defRPr>
            </a:pPr>
            <a:r>
              <a:t>1,449.17</a:t>
            </a:r>
          </a:p>
        </p:txBody>
      </p:sp>
      <p:sp>
        <p:nvSpPr>
          <p:cNvPr id="15" name="TextBox 14"/>
          <p:cNvSpPr txBox="1"/>
          <p:nvPr/>
        </p:nvSpPr>
        <p:spPr>
          <a:xfrm>
            <a:off x="8229600" y="3108960"/>
            <a:ext cx="2651760" cy="310896"/>
          </a:xfrm>
          <a:prstGeom prst="rect">
            <a:avLst/>
          </a:prstGeom>
          <a:noFill/>
        </p:spPr>
        <p:txBody>
          <a:bodyPr wrap="square">
            <a:spAutoFit/>
          </a:bodyPr>
          <a:lstStyle/>
          <a:p>
            <a:pPr>
              <a:defRPr sz="1700" b="0">
                <a:solidFill>
                  <a:srgbClr val="1A222B"/>
                </a:solidFill>
                <a:latin typeface="Aptos"/>
              </a:defRPr>
            </a:pPr>
            <a:r>
              <a:t>1,976.13</a:t>
            </a:r>
          </a:p>
        </p:txBody>
      </p:sp>
      <p:sp>
        <p:nvSpPr>
          <p:cNvPr id="16" name="Rounded Rectangle 15"/>
          <p:cNvSpPr/>
          <p:nvPr/>
        </p:nvSpPr>
        <p:spPr>
          <a:xfrm>
            <a:off x="658368" y="3657600"/>
            <a:ext cx="10853928" cy="640080"/>
          </a:xfrm>
          <a:prstGeom prst="roundRect">
            <a:avLst/>
          </a:prstGeom>
          <a:solidFill>
            <a:srgbClr val="F8F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3822191"/>
            <a:ext cx="4023360" cy="310896"/>
          </a:xfrm>
          <a:prstGeom prst="rect">
            <a:avLst/>
          </a:prstGeom>
          <a:noFill/>
        </p:spPr>
        <p:txBody>
          <a:bodyPr wrap="square">
            <a:spAutoFit/>
          </a:bodyPr>
          <a:lstStyle/>
          <a:p>
            <a:pPr>
              <a:defRPr sz="1700" b="0">
                <a:solidFill>
                  <a:srgbClr val="1A222B"/>
                </a:solidFill>
                <a:latin typeface="Aptos"/>
              </a:defRPr>
            </a:pPr>
            <a:r>
              <a:t>Drift</a:t>
            </a:r>
          </a:p>
        </p:txBody>
      </p:sp>
      <p:sp>
        <p:nvSpPr>
          <p:cNvPr id="18" name="TextBox 17"/>
          <p:cNvSpPr txBox="1"/>
          <p:nvPr/>
        </p:nvSpPr>
        <p:spPr>
          <a:xfrm>
            <a:off x="5056632" y="3822191"/>
            <a:ext cx="2560320" cy="310896"/>
          </a:xfrm>
          <a:prstGeom prst="rect">
            <a:avLst/>
          </a:prstGeom>
          <a:noFill/>
        </p:spPr>
        <p:txBody>
          <a:bodyPr wrap="square">
            <a:spAutoFit/>
          </a:bodyPr>
          <a:lstStyle/>
          <a:p>
            <a:pPr>
              <a:defRPr sz="1700" b="0">
                <a:solidFill>
                  <a:srgbClr val="1A222B"/>
                </a:solidFill>
                <a:latin typeface="Aptos"/>
              </a:defRPr>
            </a:pPr>
            <a:r>
              <a:t>1,450.92</a:t>
            </a:r>
          </a:p>
        </p:txBody>
      </p:sp>
      <p:sp>
        <p:nvSpPr>
          <p:cNvPr id="19" name="TextBox 18"/>
          <p:cNvSpPr txBox="1"/>
          <p:nvPr/>
        </p:nvSpPr>
        <p:spPr>
          <a:xfrm>
            <a:off x="8229600" y="3822191"/>
            <a:ext cx="2651760" cy="310896"/>
          </a:xfrm>
          <a:prstGeom prst="rect">
            <a:avLst/>
          </a:prstGeom>
          <a:noFill/>
        </p:spPr>
        <p:txBody>
          <a:bodyPr wrap="square">
            <a:spAutoFit/>
          </a:bodyPr>
          <a:lstStyle/>
          <a:p>
            <a:pPr>
              <a:defRPr sz="1700" b="0">
                <a:solidFill>
                  <a:srgbClr val="1A222B"/>
                </a:solidFill>
                <a:latin typeface="Aptos"/>
              </a:defRPr>
            </a:pPr>
            <a:r>
              <a:t>1,993.41</a:t>
            </a:r>
          </a:p>
        </p:txBody>
      </p:sp>
      <p:sp>
        <p:nvSpPr>
          <p:cNvPr id="20" name="Rounded Rectangle 19"/>
          <p:cNvSpPr/>
          <p:nvPr/>
        </p:nvSpPr>
        <p:spPr>
          <a:xfrm>
            <a:off x="658368" y="4370831"/>
            <a:ext cx="10853928" cy="640080"/>
          </a:xfrm>
          <a:prstGeom prst="roundRect">
            <a:avLst/>
          </a:prstGeom>
          <a:solidFill>
            <a:srgbClr val="F8F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4535423"/>
            <a:ext cx="4023360" cy="310896"/>
          </a:xfrm>
          <a:prstGeom prst="rect">
            <a:avLst/>
          </a:prstGeom>
          <a:noFill/>
        </p:spPr>
        <p:txBody>
          <a:bodyPr wrap="square">
            <a:spAutoFit/>
          </a:bodyPr>
          <a:lstStyle/>
          <a:p>
            <a:pPr>
              <a:defRPr sz="1700" b="0">
                <a:solidFill>
                  <a:srgbClr val="1A222B"/>
                </a:solidFill>
                <a:latin typeface="Aptos"/>
              </a:defRPr>
            </a:pPr>
            <a:r>
              <a:t>Moving Average</a:t>
            </a:r>
          </a:p>
        </p:txBody>
      </p:sp>
      <p:sp>
        <p:nvSpPr>
          <p:cNvPr id="22" name="TextBox 21"/>
          <p:cNvSpPr txBox="1"/>
          <p:nvPr/>
        </p:nvSpPr>
        <p:spPr>
          <a:xfrm>
            <a:off x="5056632" y="4535423"/>
            <a:ext cx="2560320" cy="310896"/>
          </a:xfrm>
          <a:prstGeom prst="rect">
            <a:avLst/>
          </a:prstGeom>
          <a:noFill/>
        </p:spPr>
        <p:txBody>
          <a:bodyPr wrap="square">
            <a:spAutoFit/>
          </a:bodyPr>
          <a:lstStyle/>
          <a:p>
            <a:pPr>
              <a:defRPr sz="1700" b="0">
                <a:solidFill>
                  <a:srgbClr val="1A222B"/>
                </a:solidFill>
                <a:latin typeface="Aptos"/>
              </a:defRPr>
            </a:pPr>
            <a:r>
              <a:t>1,471.68</a:t>
            </a:r>
          </a:p>
        </p:txBody>
      </p:sp>
      <p:sp>
        <p:nvSpPr>
          <p:cNvPr id="23" name="TextBox 22"/>
          <p:cNvSpPr txBox="1"/>
          <p:nvPr/>
        </p:nvSpPr>
        <p:spPr>
          <a:xfrm>
            <a:off x="8229600" y="4535423"/>
            <a:ext cx="2651760" cy="310896"/>
          </a:xfrm>
          <a:prstGeom prst="rect">
            <a:avLst/>
          </a:prstGeom>
          <a:noFill/>
        </p:spPr>
        <p:txBody>
          <a:bodyPr wrap="square">
            <a:spAutoFit/>
          </a:bodyPr>
          <a:lstStyle/>
          <a:p>
            <a:pPr>
              <a:defRPr sz="1700" b="0">
                <a:solidFill>
                  <a:srgbClr val="1A222B"/>
                </a:solidFill>
                <a:latin typeface="Aptos"/>
              </a:defRPr>
            </a:pPr>
            <a:r>
              <a:t>2,019.25</a:t>
            </a:r>
          </a:p>
        </p:txBody>
      </p:sp>
      <p:sp>
        <p:nvSpPr>
          <p:cNvPr id="24" name="Rounded Rectangle 23"/>
          <p:cNvSpPr/>
          <p:nvPr/>
        </p:nvSpPr>
        <p:spPr>
          <a:xfrm>
            <a:off x="685800" y="5266944"/>
            <a:ext cx="10789920" cy="868680"/>
          </a:xfrm>
          <a:prstGeom prst="roundRect">
            <a:avLst/>
          </a:prstGeom>
          <a:solidFill>
            <a:srgbClr val="1A2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0120" y="5468112"/>
            <a:ext cx="10058400" cy="530352"/>
          </a:xfrm>
          <a:prstGeom prst="rect">
            <a:avLst/>
          </a:prstGeom>
          <a:noFill/>
        </p:spPr>
        <p:txBody>
          <a:bodyPr wrap="square">
            <a:spAutoFit/>
          </a:bodyPr>
          <a:lstStyle/>
          <a:p>
            <a:pPr>
              <a:defRPr sz="1700" b="1">
                <a:solidFill>
                  <a:srgbClr val="FFFFFF"/>
                </a:solidFill>
                <a:latin typeface="Aptos"/>
              </a:defRPr>
            </a:pPr>
            <a:r>
              <a:t>Key finding: Seasonal Naive had the lowest MAE and RMSE among all four baseline models.</a:t>
            </a:r>
          </a:p>
        </p:txBody>
      </p:sp>
      <p:sp>
        <p:nvSpPr>
          <p:cNvPr id="26" name="TextBox 25"/>
          <p:cNvSpPr txBox="1"/>
          <p:nvPr/>
        </p:nvSpPr>
        <p:spPr>
          <a:xfrm>
            <a:off x="658368" y="6528816"/>
            <a:ext cx="3657600" cy="201168"/>
          </a:xfrm>
          <a:prstGeom prst="rect">
            <a:avLst/>
          </a:prstGeom>
          <a:noFill/>
        </p:spPr>
        <p:txBody>
          <a:bodyPr wrap="square">
            <a:spAutoFit/>
          </a:bodyPr>
          <a:lstStyle/>
          <a:p>
            <a:pPr>
              <a:defRPr sz="1000" b="1">
                <a:solidFill>
                  <a:srgbClr val="1A222B"/>
                </a:solidFill>
                <a:latin typeface="Aptos"/>
              </a:defRPr>
            </a:pPr>
            <a:r>
              <a:t>ROSSMANN  /  STORE 800</a:t>
            </a:r>
          </a:p>
        </p:txBody>
      </p:sp>
      <p:sp>
        <p:nvSpPr>
          <p:cNvPr id="27" name="TextBox 26"/>
          <p:cNvSpPr txBox="1"/>
          <p:nvPr/>
        </p:nvSpPr>
        <p:spPr>
          <a:xfrm>
            <a:off x="9875520" y="6501384"/>
            <a:ext cx="1097280" cy="201168"/>
          </a:xfrm>
          <a:prstGeom prst="rect">
            <a:avLst/>
          </a:prstGeom>
          <a:noFill/>
        </p:spPr>
        <p:txBody>
          <a:bodyPr wrap="square">
            <a:spAutoFit/>
          </a:bodyPr>
          <a:lstStyle/>
          <a:p>
            <a:pPr>
              <a:defRPr sz="900" b="1">
                <a:solidFill>
                  <a:srgbClr val="E85F11"/>
                </a:solidFill>
                <a:latin typeface="Aptos"/>
              </a:defRPr>
            </a:pPr>
            <a:r>
              <a:t>POD GROUP</a:t>
            </a:r>
          </a:p>
        </p:txBody>
      </p:sp>
      <p:sp>
        <p:nvSpPr>
          <p:cNvPr id="28" name="TextBox 27"/>
          <p:cNvSpPr txBox="1"/>
          <p:nvPr/>
        </p:nvSpPr>
        <p:spPr>
          <a:xfrm>
            <a:off x="11112703" y="6547104"/>
            <a:ext cx="749808" cy="192024"/>
          </a:xfrm>
          <a:prstGeom prst="rect">
            <a:avLst/>
          </a:prstGeom>
          <a:noFill/>
        </p:spPr>
        <p:txBody>
          <a:bodyPr wrap="square">
            <a:spAutoFit/>
          </a:bodyPr>
          <a:lstStyle/>
          <a:p>
            <a:r>
              <a:rPr sz="800"/>
              <a:t>14 / 29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74320"/>
            <a:ext cx="10972800" cy="594360"/>
          </a:xfrm>
          <a:prstGeom prst="rect">
            <a:avLst/>
          </a:prstGeom>
          <a:noFill/>
        </p:spPr>
        <p:txBody>
          <a:bodyPr wrap="square">
            <a:spAutoFit/>
          </a:bodyPr>
          <a:lstStyle/>
          <a:p>
            <a:r>
              <a:t>2.9 Actual Sales vs. Baseline Forecasts</a:t>
            </a:r>
          </a:p>
        </p:txBody>
      </p:sp>
      <p:sp>
        <p:nvSpPr>
          <p:cNvPr id="3" name="Rectangle 2"/>
          <p:cNvSpPr/>
          <p:nvPr/>
        </p:nvSpPr>
        <p:spPr>
          <a:xfrm>
            <a:off x="594360" y="941832"/>
            <a:ext cx="786384" cy="54864"/>
          </a:xfrm>
          <a:prstGeom prst="rect">
            <a:avLst/>
          </a:prstGeom>
          <a:solidFill>
            <a:srgbClr val="E85F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6492240"/>
            <a:ext cx="3657600" cy="228600"/>
          </a:xfrm>
          <a:prstGeom prst="rect">
            <a:avLst/>
          </a:prstGeom>
          <a:noFill/>
        </p:spPr>
        <p:txBody>
          <a:bodyPr wrap="square">
            <a:spAutoFit/>
          </a:bodyPr>
          <a:lstStyle/>
          <a:p>
            <a:pPr>
              <a:defRPr sz="1000" b="1">
                <a:solidFill>
                  <a:srgbClr val="64696F"/>
                </a:solidFill>
                <a:latin typeface="Aptos"/>
              </a:defRPr>
            </a:pPr>
            <a:r>
              <a:t>ROSSMANN  /  STORE 800</a:t>
            </a:r>
          </a:p>
        </p:txBody>
      </p:sp>
      <p:sp>
        <p:nvSpPr>
          <p:cNvPr id="5" name="TextBox 4"/>
          <p:cNvSpPr txBox="1"/>
          <p:nvPr/>
        </p:nvSpPr>
        <p:spPr>
          <a:xfrm>
            <a:off x="8869680" y="6492240"/>
            <a:ext cx="2651760" cy="237744"/>
          </a:xfrm>
          <a:prstGeom prst="rect">
            <a:avLst/>
          </a:prstGeom>
          <a:noFill/>
        </p:spPr>
        <p:txBody>
          <a:bodyPr wrap="square">
            <a:spAutoFit/>
          </a:bodyPr>
          <a:lstStyle/>
          <a:p>
            <a:pPr>
              <a:defRPr sz="1000" b="1">
                <a:solidFill>
                  <a:srgbClr val="E85F11"/>
                </a:solidFill>
                <a:latin typeface="Aptos"/>
              </a:defRPr>
            </a:pPr>
            <a:r>
              <a:t>PRESENTED BY THE POD GROUP</a:t>
            </a:r>
          </a:p>
        </p:txBody>
      </p:sp>
      <p:sp>
        <p:nvSpPr>
          <p:cNvPr id="6" name="Rounded Rectangle 5"/>
          <p:cNvSpPr/>
          <p:nvPr/>
        </p:nvSpPr>
        <p:spPr>
          <a:xfrm>
            <a:off x="621792" y="1261872"/>
            <a:ext cx="10945368" cy="4498848"/>
          </a:xfrm>
          <a:prstGeom prst="roundRect">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1206581" y="1417320"/>
            <a:ext cx="9766644" cy="4160520"/>
          </a:xfrm>
          <a:prstGeom prst="rect">
            <a:avLst/>
          </a:prstGeom>
        </p:spPr>
      </p:pic>
      <p:sp>
        <p:nvSpPr>
          <p:cNvPr id="8" name="TextBox 7"/>
          <p:cNvSpPr txBox="1"/>
          <p:nvPr/>
        </p:nvSpPr>
        <p:spPr>
          <a:xfrm>
            <a:off x="868680" y="5870448"/>
            <a:ext cx="10607040" cy="384048"/>
          </a:xfrm>
          <a:prstGeom prst="rect">
            <a:avLst/>
          </a:prstGeom>
          <a:noFill/>
        </p:spPr>
        <p:txBody>
          <a:bodyPr wrap="square">
            <a:spAutoFit/>
          </a:bodyPr>
          <a:lstStyle/>
          <a:p>
            <a:pPr>
              <a:defRPr sz="1400" b="0">
                <a:solidFill>
                  <a:srgbClr val="64696F"/>
                </a:solidFill>
                <a:latin typeface="Aptos"/>
              </a:defRPr>
            </a:pPr>
            <a:r>
              <a:t>Store 800 — Naive, Seasonal Naive, Moving Average and Drift forecasts against actual daily sales</a:t>
            </a:r>
          </a:p>
        </p:txBody>
      </p:sp>
      <p:sp>
        <p:nvSpPr>
          <p:cNvPr id="9" name="TextBox 8"/>
          <p:cNvSpPr txBox="1"/>
          <p:nvPr/>
        </p:nvSpPr>
        <p:spPr>
          <a:xfrm>
            <a:off x="11112703" y="6547104"/>
            <a:ext cx="749808" cy="192024"/>
          </a:xfrm>
          <a:prstGeom prst="rect">
            <a:avLst/>
          </a:prstGeom>
          <a:noFill/>
        </p:spPr>
        <p:txBody>
          <a:bodyPr wrap="square">
            <a:spAutoFit/>
          </a:bodyPr>
          <a:lstStyle/>
          <a:p>
            <a:r>
              <a:rPr sz="800"/>
              <a:t>15 / 29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74320"/>
            <a:ext cx="10972800" cy="530352"/>
          </a:xfrm>
          <a:prstGeom prst="rect">
            <a:avLst/>
          </a:prstGeom>
          <a:noFill/>
        </p:spPr>
        <p:txBody>
          <a:bodyPr wrap="square">
            <a:spAutoFit/>
          </a:bodyPr>
          <a:lstStyle/>
          <a:p>
            <a:pPr>
              <a:defRPr sz="2800" b="1">
                <a:solidFill>
                  <a:srgbClr val="1A222B"/>
                </a:solidFill>
                <a:latin typeface="Aptos"/>
              </a:defRPr>
            </a:pPr>
            <a:r>
              <a:t>3.1 Training and Testing Data</a:t>
            </a:r>
          </a:p>
        </p:txBody>
      </p:sp>
      <p:sp>
        <p:nvSpPr>
          <p:cNvPr id="3" name="Rectangle 2"/>
          <p:cNvSpPr/>
          <p:nvPr/>
        </p:nvSpPr>
        <p:spPr>
          <a:xfrm>
            <a:off x="594360" y="932688"/>
            <a:ext cx="786384" cy="50292"/>
          </a:xfrm>
          <a:prstGeom prst="rect">
            <a:avLst/>
          </a:prstGeom>
          <a:solidFill>
            <a:srgbClr val="E85F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6510528"/>
            <a:ext cx="3657600" cy="182880"/>
          </a:xfrm>
          <a:prstGeom prst="rect">
            <a:avLst/>
          </a:prstGeom>
          <a:noFill/>
        </p:spPr>
        <p:txBody>
          <a:bodyPr wrap="square">
            <a:spAutoFit/>
          </a:bodyPr>
          <a:lstStyle/>
          <a:p>
            <a:pPr>
              <a:defRPr sz="1000" b="1">
                <a:solidFill>
                  <a:srgbClr val="64696F"/>
                </a:solidFill>
                <a:latin typeface="Aptos"/>
              </a:defRPr>
            </a:pPr>
            <a:r>
              <a:t>ROSSMANN  /  STORE 800</a:t>
            </a:r>
          </a:p>
        </p:txBody>
      </p:sp>
      <p:sp>
        <p:nvSpPr>
          <p:cNvPr id="5" name="TextBox 4"/>
          <p:cNvSpPr txBox="1"/>
          <p:nvPr/>
        </p:nvSpPr>
        <p:spPr>
          <a:xfrm>
            <a:off x="8915400" y="6492240"/>
            <a:ext cx="2651760" cy="201168"/>
          </a:xfrm>
          <a:prstGeom prst="rect">
            <a:avLst/>
          </a:prstGeom>
          <a:noFill/>
        </p:spPr>
        <p:txBody>
          <a:bodyPr wrap="square">
            <a:spAutoFit/>
          </a:bodyPr>
          <a:lstStyle/>
          <a:p>
            <a:pPr>
              <a:defRPr sz="1000" b="1">
                <a:solidFill>
                  <a:srgbClr val="E85F11"/>
                </a:solidFill>
                <a:latin typeface="Aptos"/>
              </a:defRPr>
            </a:pPr>
            <a:r>
              <a:t>PRESENTED BY THE POD GROUP</a:t>
            </a:r>
          </a:p>
        </p:txBody>
      </p:sp>
      <p:sp>
        <p:nvSpPr>
          <p:cNvPr id="6" name="Rounded Rectangle 5"/>
          <p:cNvSpPr/>
          <p:nvPr/>
        </p:nvSpPr>
        <p:spPr>
          <a:xfrm>
            <a:off x="676656" y="1389888"/>
            <a:ext cx="3611880" cy="1975104"/>
          </a:xfrm>
          <a:prstGeom prst="roundRect">
            <a:avLst/>
          </a:prstGeom>
          <a:solidFill>
            <a:srgbClr val="1A2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1572768"/>
            <a:ext cx="3209544" cy="457200"/>
          </a:xfrm>
          <a:prstGeom prst="rect">
            <a:avLst/>
          </a:prstGeom>
          <a:noFill/>
        </p:spPr>
        <p:txBody>
          <a:bodyPr wrap="square">
            <a:spAutoFit/>
          </a:bodyPr>
          <a:lstStyle/>
          <a:p>
            <a:pPr>
              <a:defRPr sz="2100" b="1">
                <a:solidFill>
                  <a:srgbClr val="FFFFFF"/>
                </a:solidFill>
                <a:latin typeface="Aptos"/>
              </a:defRPr>
            </a:pPr>
            <a:r>
              <a:t>01  PREPARE</a:t>
            </a:r>
          </a:p>
        </p:txBody>
      </p:sp>
      <p:sp>
        <p:nvSpPr>
          <p:cNvPr id="8" name="TextBox 7"/>
          <p:cNvSpPr txBox="1"/>
          <p:nvPr/>
        </p:nvSpPr>
        <p:spPr>
          <a:xfrm>
            <a:off x="877824" y="2139696"/>
            <a:ext cx="3209544" cy="1106424"/>
          </a:xfrm>
          <a:prstGeom prst="rect">
            <a:avLst/>
          </a:prstGeom>
          <a:noFill/>
        </p:spPr>
        <p:txBody>
          <a:bodyPr wrap="square">
            <a:spAutoFit/>
          </a:bodyPr>
          <a:lstStyle/>
          <a:p>
            <a:pPr>
              <a:defRPr sz="1700" b="0">
                <a:solidFill>
                  <a:srgbClr val="FFFFFF"/>
                </a:solidFill>
                <a:latin typeface="Aptos"/>
              </a:defRPr>
            </a:pPr>
            <a:r>
              <a:t>Clean and sort Store 800 daily observations.</a:t>
            </a:r>
          </a:p>
        </p:txBody>
      </p:sp>
      <p:sp>
        <p:nvSpPr>
          <p:cNvPr id="9" name="Rounded Rectangle 8"/>
          <p:cNvSpPr/>
          <p:nvPr/>
        </p:nvSpPr>
        <p:spPr>
          <a:xfrm>
            <a:off x="4535424" y="1389888"/>
            <a:ext cx="3611880" cy="1975104"/>
          </a:xfrm>
          <a:prstGeom prst="roundRect">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36592" y="1572768"/>
            <a:ext cx="3209544" cy="457200"/>
          </a:xfrm>
          <a:prstGeom prst="rect">
            <a:avLst/>
          </a:prstGeom>
          <a:noFill/>
        </p:spPr>
        <p:txBody>
          <a:bodyPr wrap="square">
            <a:spAutoFit/>
          </a:bodyPr>
          <a:lstStyle/>
          <a:p>
            <a:pPr>
              <a:defRPr sz="2100" b="1">
                <a:solidFill>
                  <a:srgbClr val="E85F11"/>
                </a:solidFill>
                <a:latin typeface="Aptos"/>
              </a:defRPr>
            </a:pPr>
            <a:r>
              <a:t>02  TRAIN</a:t>
            </a:r>
          </a:p>
        </p:txBody>
      </p:sp>
      <p:sp>
        <p:nvSpPr>
          <p:cNvPr id="11" name="TextBox 10"/>
          <p:cNvSpPr txBox="1"/>
          <p:nvPr/>
        </p:nvSpPr>
        <p:spPr>
          <a:xfrm>
            <a:off x="4736592" y="2139696"/>
            <a:ext cx="3209544" cy="1106424"/>
          </a:xfrm>
          <a:prstGeom prst="rect">
            <a:avLst/>
          </a:prstGeom>
          <a:noFill/>
        </p:spPr>
        <p:txBody>
          <a:bodyPr wrap="square">
            <a:spAutoFit/>
          </a:bodyPr>
          <a:lstStyle/>
          <a:p>
            <a:pPr>
              <a:defRPr sz="1700" b="0">
                <a:solidFill>
                  <a:srgbClr val="1A222B"/>
                </a:solidFill>
                <a:latin typeface="Aptos"/>
              </a:defRPr>
            </a:pPr>
            <a:r>
              <a:t>Use first 900 days for model fitting.</a:t>
            </a:r>
          </a:p>
        </p:txBody>
      </p:sp>
      <p:sp>
        <p:nvSpPr>
          <p:cNvPr id="12" name="Rounded Rectangle 11"/>
          <p:cNvSpPr/>
          <p:nvPr/>
        </p:nvSpPr>
        <p:spPr>
          <a:xfrm>
            <a:off x="8394192" y="1389888"/>
            <a:ext cx="3611880" cy="1975104"/>
          </a:xfrm>
          <a:prstGeom prst="roundRect">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572768"/>
            <a:ext cx="3209544" cy="457200"/>
          </a:xfrm>
          <a:prstGeom prst="rect">
            <a:avLst/>
          </a:prstGeom>
          <a:noFill/>
        </p:spPr>
        <p:txBody>
          <a:bodyPr wrap="square">
            <a:spAutoFit/>
          </a:bodyPr>
          <a:lstStyle/>
          <a:p>
            <a:pPr>
              <a:defRPr sz="2100" b="1">
                <a:solidFill>
                  <a:srgbClr val="E85F11"/>
                </a:solidFill>
                <a:latin typeface="Aptos"/>
              </a:defRPr>
            </a:pPr>
            <a:r>
              <a:t>03  VALIDATE</a:t>
            </a:r>
          </a:p>
        </p:txBody>
      </p:sp>
      <p:sp>
        <p:nvSpPr>
          <p:cNvPr id="14" name="TextBox 13"/>
          <p:cNvSpPr txBox="1"/>
          <p:nvPr/>
        </p:nvSpPr>
        <p:spPr>
          <a:xfrm>
            <a:off x="8595360" y="2139696"/>
            <a:ext cx="3209544" cy="1106424"/>
          </a:xfrm>
          <a:prstGeom prst="rect">
            <a:avLst/>
          </a:prstGeom>
          <a:noFill/>
        </p:spPr>
        <p:txBody>
          <a:bodyPr wrap="square">
            <a:spAutoFit/>
          </a:bodyPr>
          <a:lstStyle/>
          <a:p>
            <a:pPr>
              <a:defRPr sz="1700" b="0">
                <a:solidFill>
                  <a:srgbClr val="1A222B"/>
                </a:solidFill>
                <a:latin typeface="Aptos"/>
              </a:defRPr>
            </a:pPr>
            <a:r>
              <a:t>Hold out final 42 days; do not shuffle dates.</a:t>
            </a:r>
          </a:p>
        </p:txBody>
      </p:sp>
      <p:sp>
        <p:nvSpPr>
          <p:cNvPr id="15" name="Rounded Rectangle 14"/>
          <p:cNvSpPr/>
          <p:nvPr/>
        </p:nvSpPr>
        <p:spPr>
          <a:xfrm>
            <a:off x="676656" y="3584448"/>
            <a:ext cx="3611880" cy="1975104"/>
          </a:xfrm>
          <a:prstGeom prst="roundRect">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7824" y="3767328"/>
            <a:ext cx="3209544" cy="457200"/>
          </a:xfrm>
          <a:prstGeom prst="rect">
            <a:avLst/>
          </a:prstGeom>
          <a:noFill/>
        </p:spPr>
        <p:txBody>
          <a:bodyPr wrap="square">
            <a:spAutoFit/>
          </a:bodyPr>
          <a:lstStyle/>
          <a:p>
            <a:pPr>
              <a:defRPr sz="2100" b="1">
                <a:solidFill>
                  <a:srgbClr val="E85F11"/>
                </a:solidFill>
                <a:latin typeface="Aptos"/>
              </a:defRPr>
            </a:pPr>
            <a:r>
              <a:t>04  COMPARE</a:t>
            </a:r>
          </a:p>
        </p:txBody>
      </p:sp>
      <p:sp>
        <p:nvSpPr>
          <p:cNvPr id="17" name="TextBox 16"/>
          <p:cNvSpPr txBox="1"/>
          <p:nvPr/>
        </p:nvSpPr>
        <p:spPr>
          <a:xfrm>
            <a:off x="877824" y="4334256"/>
            <a:ext cx="3209544" cy="1106424"/>
          </a:xfrm>
          <a:prstGeom prst="rect">
            <a:avLst/>
          </a:prstGeom>
          <a:noFill/>
        </p:spPr>
        <p:txBody>
          <a:bodyPr wrap="square">
            <a:spAutoFit/>
          </a:bodyPr>
          <a:lstStyle/>
          <a:p>
            <a:pPr>
              <a:defRPr sz="1700" b="0">
                <a:solidFill>
                  <a:srgbClr val="1A222B"/>
                </a:solidFill>
                <a:latin typeface="Aptos"/>
              </a:defRPr>
            </a:pPr>
            <a:r>
              <a:t>Evaluate simple baselines against SARIMA.</a:t>
            </a:r>
          </a:p>
        </p:txBody>
      </p:sp>
      <p:sp>
        <p:nvSpPr>
          <p:cNvPr id="18" name="Rounded Rectangle 17"/>
          <p:cNvSpPr/>
          <p:nvPr/>
        </p:nvSpPr>
        <p:spPr>
          <a:xfrm>
            <a:off x="4535424" y="3584448"/>
            <a:ext cx="3611880" cy="1975104"/>
          </a:xfrm>
          <a:prstGeom prst="roundRect">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36592" y="3767328"/>
            <a:ext cx="3209544" cy="457200"/>
          </a:xfrm>
          <a:prstGeom prst="rect">
            <a:avLst/>
          </a:prstGeom>
          <a:noFill/>
        </p:spPr>
        <p:txBody>
          <a:bodyPr wrap="square">
            <a:spAutoFit/>
          </a:bodyPr>
          <a:lstStyle/>
          <a:p>
            <a:pPr>
              <a:defRPr sz="2100" b="1">
                <a:solidFill>
                  <a:srgbClr val="E85F11"/>
                </a:solidFill>
                <a:latin typeface="Aptos"/>
              </a:defRPr>
            </a:pPr>
            <a:r>
              <a:t>05  CHECK</a:t>
            </a:r>
          </a:p>
        </p:txBody>
      </p:sp>
      <p:sp>
        <p:nvSpPr>
          <p:cNvPr id="20" name="TextBox 19"/>
          <p:cNvSpPr txBox="1"/>
          <p:nvPr/>
        </p:nvSpPr>
        <p:spPr>
          <a:xfrm>
            <a:off x="4736592" y="4334256"/>
            <a:ext cx="3209544" cy="1106424"/>
          </a:xfrm>
          <a:prstGeom prst="rect">
            <a:avLst/>
          </a:prstGeom>
          <a:noFill/>
        </p:spPr>
        <p:txBody>
          <a:bodyPr wrap="square">
            <a:spAutoFit/>
          </a:bodyPr>
          <a:lstStyle/>
          <a:p>
            <a:pPr>
              <a:defRPr sz="1700" b="0">
                <a:solidFill>
                  <a:srgbClr val="1A222B"/>
                </a:solidFill>
                <a:latin typeface="Aptos"/>
              </a:defRPr>
            </a:pPr>
            <a:r>
              <a:t>Inspect residuals and rolling-origin results.</a:t>
            </a:r>
          </a:p>
        </p:txBody>
      </p:sp>
      <p:sp>
        <p:nvSpPr>
          <p:cNvPr id="21" name="Rounded Rectangle 20"/>
          <p:cNvSpPr/>
          <p:nvPr/>
        </p:nvSpPr>
        <p:spPr>
          <a:xfrm>
            <a:off x="8394192" y="3584448"/>
            <a:ext cx="3611880" cy="1975104"/>
          </a:xfrm>
          <a:prstGeom prst="roundRect">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95360" y="3767328"/>
            <a:ext cx="3209544" cy="457200"/>
          </a:xfrm>
          <a:prstGeom prst="rect">
            <a:avLst/>
          </a:prstGeom>
          <a:noFill/>
        </p:spPr>
        <p:txBody>
          <a:bodyPr wrap="square">
            <a:spAutoFit/>
          </a:bodyPr>
          <a:lstStyle/>
          <a:p>
            <a:pPr>
              <a:defRPr sz="2100" b="1">
                <a:solidFill>
                  <a:srgbClr val="E85F11"/>
                </a:solidFill>
                <a:latin typeface="Aptos"/>
              </a:defRPr>
            </a:pPr>
            <a:r>
              <a:t>06  FORECAST</a:t>
            </a:r>
          </a:p>
        </p:txBody>
      </p:sp>
      <p:sp>
        <p:nvSpPr>
          <p:cNvPr id="23" name="TextBox 22"/>
          <p:cNvSpPr txBox="1"/>
          <p:nvPr/>
        </p:nvSpPr>
        <p:spPr>
          <a:xfrm>
            <a:off x="8595360" y="4334256"/>
            <a:ext cx="3209544" cy="1106424"/>
          </a:xfrm>
          <a:prstGeom prst="rect">
            <a:avLst/>
          </a:prstGeom>
          <a:noFill/>
        </p:spPr>
        <p:txBody>
          <a:bodyPr wrap="square">
            <a:spAutoFit/>
          </a:bodyPr>
          <a:lstStyle/>
          <a:p>
            <a:pPr>
              <a:defRPr sz="1700" b="0">
                <a:solidFill>
                  <a:srgbClr val="1A222B"/>
                </a:solidFill>
                <a:latin typeface="Aptos"/>
              </a:defRPr>
            </a:pPr>
            <a:r>
              <a:t>Generate historical 42-day forecast; set Sundays to zero.</a:t>
            </a:r>
          </a:p>
        </p:txBody>
      </p:sp>
      <p:sp>
        <p:nvSpPr>
          <p:cNvPr id="24" name="TextBox 23"/>
          <p:cNvSpPr txBox="1"/>
          <p:nvPr/>
        </p:nvSpPr>
        <p:spPr>
          <a:xfrm>
            <a:off x="11112703" y="6547104"/>
            <a:ext cx="749808" cy="192024"/>
          </a:xfrm>
          <a:prstGeom prst="rect">
            <a:avLst/>
          </a:prstGeom>
          <a:noFill/>
        </p:spPr>
        <p:txBody>
          <a:bodyPr wrap="square">
            <a:spAutoFit/>
          </a:bodyPr>
          <a:lstStyle/>
          <a:p>
            <a:r>
              <a:rPr sz="800"/>
              <a:t>16 / 29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83464"/>
            <a:ext cx="10972800" cy="640080"/>
          </a:xfrm>
          <a:prstGeom prst="rect">
            <a:avLst/>
          </a:prstGeom>
          <a:noFill/>
        </p:spPr>
        <p:txBody>
          <a:bodyPr wrap="square">
            <a:spAutoFit/>
          </a:bodyPr>
          <a:lstStyle/>
          <a:p>
            <a:pPr>
              <a:defRPr sz="2500" b="1">
                <a:solidFill>
                  <a:srgbClr val="1B232C"/>
                </a:solidFill>
                <a:latin typeface="Aptos"/>
              </a:defRPr>
            </a:pPr>
            <a:r>
              <a:t>3.1 Training and Testing Data — Differencing</a:t>
            </a:r>
          </a:p>
        </p:txBody>
      </p:sp>
      <p:sp>
        <p:nvSpPr>
          <p:cNvPr id="3" name="Rectangle 2"/>
          <p:cNvSpPr/>
          <p:nvPr/>
        </p:nvSpPr>
        <p:spPr>
          <a:xfrm>
            <a:off x="594360" y="960120"/>
            <a:ext cx="822960" cy="54864"/>
          </a:xfrm>
          <a:prstGeom prst="rect">
            <a:avLst/>
          </a:prstGeom>
          <a:solidFill>
            <a:srgbClr val="E85F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483096"/>
            <a:ext cx="3657600" cy="201168"/>
          </a:xfrm>
          <a:prstGeom prst="rect">
            <a:avLst/>
          </a:prstGeom>
          <a:noFill/>
        </p:spPr>
        <p:txBody>
          <a:bodyPr wrap="square">
            <a:spAutoFit/>
          </a:bodyPr>
          <a:lstStyle/>
          <a:p>
            <a:pPr>
              <a:defRPr sz="1000" b="1">
                <a:solidFill>
                  <a:srgbClr val="63676D"/>
                </a:solidFill>
                <a:latin typeface="Aptos"/>
              </a:defRPr>
            </a:pPr>
            <a:r>
              <a:t>ROSSMANN  /  STORE 800</a:t>
            </a:r>
          </a:p>
        </p:txBody>
      </p:sp>
      <p:sp>
        <p:nvSpPr>
          <p:cNvPr id="5" name="TextBox 4"/>
          <p:cNvSpPr txBox="1"/>
          <p:nvPr/>
        </p:nvSpPr>
        <p:spPr>
          <a:xfrm>
            <a:off x="8138160" y="6483096"/>
            <a:ext cx="3200400" cy="201168"/>
          </a:xfrm>
          <a:prstGeom prst="rect">
            <a:avLst/>
          </a:prstGeom>
          <a:noFill/>
        </p:spPr>
        <p:txBody>
          <a:bodyPr wrap="square">
            <a:spAutoFit/>
          </a:bodyPr>
          <a:lstStyle/>
          <a:p>
            <a:pPr>
              <a:defRPr sz="1000" b="1">
                <a:solidFill>
                  <a:srgbClr val="E85F11"/>
                </a:solidFill>
                <a:latin typeface="Aptos"/>
              </a:defRPr>
            </a:pPr>
            <a:r>
              <a:t>PRESENTED BY THE POD GROUP</a:t>
            </a:r>
          </a:p>
        </p:txBody>
      </p:sp>
      <p:sp>
        <p:nvSpPr>
          <p:cNvPr id="6" name="Rounded Rectangle 5"/>
          <p:cNvSpPr/>
          <p:nvPr/>
        </p:nvSpPr>
        <p:spPr>
          <a:xfrm>
            <a:off x="621792" y="1307592"/>
            <a:ext cx="7616952" cy="4736592"/>
          </a:xfrm>
          <a:prstGeom prst="roundRect">
            <a:avLst/>
          </a:prstGeom>
          <a:solidFill>
            <a:srgbClr val="F4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3"/>
          <a:stretch>
            <a:fillRect/>
          </a:stretch>
        </p:blipFill>
        <p:spPr>
          <a:xfrm>
            <a:off x="777240" y="1880235"/>
            <a:ext cx="7296912" cy="3518154"/>
          </a:xfrm>
          <a:prstGeom prst="rect">
            <a:avLst/>
          </a:prstGeom>
        </p:spPr>
      </p:pic>
      <p:sp>
        <p:nvSpPr>
          <p:cNvPr id="8" name="Rounded Rectangle 7"/>
          <p:cNvSpPr/>
          <p:nvPr/>
        </p:nvSpPr>
        <p:spPr>
          <a:xfrm>
            <a:off x="8403336" y="1307592"/>
            <a:ext cx="3118104" cy="4736592"/>
          </a:xfrm>
          <a:prstGeom prst="roundRect">
            <a:avLst/>
          </a:prstGeom>
          <a:solidFill>
            <a:srgbClr val="1B23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31936" y="1600200"/>
            <a:ext cx="2697480" cy="512064"/>
          </a:xfrm>
          <a:prstGeom prst="rect">
            <a:avLst/>
          </a:prstGeom>
          <a:noFill/>
        </p:spPr>
        <p:txBody>
          <a:bodyPr wrap="square">
            <a:spAutoFit/>
          </a:bodyPr>
          <a:lstStyle/>
          <a:p>
            <a:pPr>
              <a:defRPr sz="1800" b="1">
                <a:solidFill>
                  <a:srgbClr val="E85F11"/>
                </a:solidFill>
                <a:latin typeface="Aptos"/>
              </a:defRPr>
            </a:pPr>
            <a:r>
              <a:t>TRAINING-SERIES ADF</a:t>
            </a:r>
          </a:p>
        </p:txBody>
      </p:sp>
      <p:sp>
        <p:nvSpPr>
          <p:cNvPr id="10" name="TextBox 9"/>
          <p:cNvSpPr txBox="1"/>
          <p:nvPr/>
        </p:nvSpPr>
        <p:spPr>
          <a:xfrm>
            <a:off x="8631936" y="2267712"/>
            <a:ext cx="2670048" cy="1024128"/>
          </a:xfrm>
          <a:prstGeom prst="rect">
            <a:avLst/>
          </a:prstGeom>
          <a:noFill/>
        </p:spPr>
        <p:txBody>
          <a:bodyPr wrap="square">
            <a:spAutoFit/>
          </a:bodyPr>
          <a:lstStyle/>
          <a:p>
            <a:pPr>
              <a:defRPr sz="1900" b="1">
                <a:solidFill>
                  <a:srgbClr val="FFFFFF"/>
                </a:solidFill>
                <a:latin typeface="Aptos"/>
              </a:defRPr>
            </a:pPr>
            <a:r>
              <a:t>Original</a:t>
            </a:r>
          </a:p>
          <a:p>
            <a:pPr>
              <a:defRPr sz="1900" b="1">
                <a:solidFill>
                  <a:srgbClr val="FFFFFF"/>
                </a:solidFill>
                <a:latin typeface="Aptos"/>
              </a:defRPr>
            </a:pPr>
            <a:r>
              <a:t>p = 0.003323</a:t>
            </a:r>
          </a:p>
        </p:txBody>
      </p:sp>
      <p:sp>
        <p:nvSpPr>
          <p:cNvPr id="11" name="TextBox 10"/>
          <p:cNvSpPr txBox="1"/>
          <p:nvPr/>
        </p:nvSpPr>
        <p:spPr>
          <a:xfrm>
            <a:off x="8631936" y="3575304"/>
            <a:ext cx="2679192" cy="1033271"/>
          </a:xfrm>
          <a:prstGeom prst="rect">
            <a:avLst/>
          </a:prstGeom>
          <a:noFill/>
        </p:spPr>
        <p:txBody>
          <a:bodyPr wrap="square">
            <a:spAutoFit/>
          </a:bodyPr>
          <a:lstStyle/>
          <a:p>
            <a:pPr>
              <a:defRPr sz="1800" b="1">
                <a:solidFill>
                  <a:srgbClr val="FFFFFF"/>
                </a:solidFill>
                <a:latin typeface="Aptos"/>
              </a:defRPr>
            </a:pPr>
            <a:r>
              <a:t>First difference</a:t>
            </a:r>
          </a:p>
          <a:p>
            <a:pPr>
              <a:defRPr sz="1800" b="1">
                <a:solidFill>
                  <a:srgbClr val="FFFFFF"/>
                </a:solidFill>
                <a:latin typeface="Aptos"/>
              </a:defRPr>
            </a:pPr>
            <a:r>
              <a:t>p = 9.27 × 10⁻²²</a:t>
            </a:r>
          </a:p>
        </p:txBody>
      </p:sp>
      <p:sp>
        <p:nvSpPr>
          <p:cNvPr id="12" name="TextBox 11"/>
          <p:cNvSpPr txBox="1"/>
          <p:nvPr/>
        </p:nvSpPr>
        <p:spPr>
          <a:xfrm>
            <a:off x="8631936" y="4855464"/>
            <a:ext cx="2688336" cy="905256"/>
          </a:xfrm>
          <a:prstGeom prst="rect">
            <a:avLst/>
          </a:prstGeom>
          <a:noFill/>
        </p:spPr>
        <p:txBody>
          <a:bodyPr wrap="square">
            <a:spAutoFit/>
          </a:bodyPr>
          <a:lstStyle/>
          <a:p>
            <a:pPr>
              <a:defRPr sz="1400" b="0">
                <a:solidFill>
                  <a:srgbClr val="FFFFFF"/>
                </a:solidFill>
                <a:latin typeface="Aptos"/>
              </a:defRPr>
            </a:pPr>
            <a:r>
              <a:t>Auto-ARIMA selected d = 1 although differencing tests suggested d = 0.</a:t>
            </a:r>
          </a:p>
        </p:txBody>
      </p:sp>
      <p:sp>
        <p:nvSpPr>
          <p:cNvPr id="13" name="TextBox 12"/>
          <p:cNvSpPr txBox="1"/>
          <p:nvPr/>
        </p:nvSpPr>
        <p:spPr>
          <a:xfrm>
            <a:off x="11112703" y="6547104"/>
            <a:ext cx="749808" cy="192024"/>
          </a:xfrm>
          <a:prstGeom prst="rect">
            <a:avLst/>
          </a:prstGeom>
          <a:noFill/>
        </p:spPr>
        <p:txBody>
          <a:bodyPr wrap="square">
            <a:spAutoFit/>
          </a:bodyPr>
          <a:lstStyle/>
          <a:p>
            <a:pPr>
              <a:defRPr sz="1000" b="0">
                <a:solidFill>
                  <a:srgbClr val="63676D"/>
                </a:solidFill>
                <a:latin typeface="Aptos"/>
              </a:defRPr>
            </a:pPr>
            <a:r>
              <a:rPr sz="800"/>
              <a:t>17 / 29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74320"/>
            <a:ext cx="10972800" cy="502920"/>
          </a:xfrm>
          <a:prstGeom prst="rect">
            <a:avLst/>
          </a:prstGeom>
          <a:noFill/>
        </p:spPr>
        <p:txBody>
          <a:bodyPr wrap="square">
            <a:spAutoFit/>
          </a:bodyPr>
          <a:lstStyle/>
          <a:p>
            <a:r>
              <a:t>3.2 ACF and PACF Analysis</a:t>
            </a:r>
          </a:p>
        </p:txBody>
      </p:sp>
      <p:sp>
        <p:nvSpPr>
          <p:cNvPr id="3" name="Rectangle 2"/>
          <p:cNvSpPr/>
          <p:nvPr/>
        </p:nvSpPr>
        <p:spPr>
          <a:xfrm>
            <a:off x="594360" y="932688"/>
            <a:ext cx="786384" cy="50292"/>
          </a:xfrm>
          <a:prstGeom prst="rect">
            <a:avLst/>
          </a:prstGeom>
          <a:solidFill>
            <a:srgbClr val="E85F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112703" y="6547104"/>
            <a:ext cx="749808" cy="192024"/>
          </a:xfrm>
          <a:prstGeom prst="rect">
            <a:avLst/>
          </a:prstGeom>
          <a:noFill/>
        </p:spPr>
        <p:txBody>
          <a:bodyPr wrap="square">
            <a:spAutoFit/>
          </a:bodyPr>
          <a:lstStyle/>
          <a:p>
            <a:r>
              <a:rPr sz="800"/>
              <a:t>18 / 29</a:t>
            </a:r>
          </a:p>
        </p:txBody>
      </p:sp>
      <p:sp>
        <p:nvSpPr>
          <p:cNvPr id="5" name="TextBox 4"/>
          <p:cNvSpPr txBox="1"/>
          <p:nvPr/>
        </p:nvSpPr>
        <p:spPr>
          <a:xfrm>
            <a:off x="612648" y="6510528"/>
            <a:ext cx="3657600" cy="182880"/>
          </a:xfrm>
          <a:prstGeom prst="rect">
            <a:avLst/>
          </a:prstGeom>
          <a:noFill/>
        </p:spPr>
        <p:txBody>
          <a:bodyPr wrap="square">
            <a:spAutoFit/>
          </a:bodyPr>
          <a:lstStyle/>
          <a:p>
            <a:pPr>
              <a:defRPr sz="1000" b="1">
                <a:solidFill>
                  <a:srgbClr val="64696F"/>
                </a:solidFill>
                <a:latin typeface="Aptos"/>
              </a:defRPr>
            </a:pPr>
            <a:r>
              <a:t>ROSSMANN  /  STORE 800</a:t>
            </a:r>
          </a:p>
        </p:txBody>
      </p:sp>
      <p:sp>
        <p:nvSpPr>
          <p:cNvPr id="6" name="Rounded Rectangle 5"/>
          <p:cNvSpPr/>
          <p:nvPr/>
        </p:nvSpPr>
        <p:spPr>
          <a:xfrm>
            <a:off x="667512" y="1371600"/>
            <a:ext cx="7315200" cy="4453128"/>
          </a:xfrm>
          <a:prstGeom prst="roundRect">
            <a:avLst>
              <a:gd name="adj" fmla="val 12000"/>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868680" y="1664208"/>
            <a:ext cx="6903720" cy="3840480"/>
          </a:xfrm>
          <a:prstGeom prst="rect">
            <a:avLst/>
          </a:prstGeom>
        </p:spPr>
      </p:pic>
      <p:sp>
        <p:nvSpPr>
          <p:cNvPr id="8" name="Rounded Rectangle 7"/>
          <p:cNvSpPr/>
          <p:nvPr/>
        </p:nvSpPr>
        <p:spPr>
          <a:xfrm>
            <a:off x="8193024" y="1371600"/>
            <a:ext cx="3310128" cy="4453128"/>
          </a:xfrm>
          <a:prstGeom prst="roundRect">
            <a:avLst>
              <a:gd name="adj" fmla="val 12000"/>
            </a:avLst>
          </a:prstGeom>
          <a:solidFill>
            <a:srgbClr val="1A2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94192" y="1554480"/>
            <a:ext cx="2907792" cy="475488"/>
          </a:xfrm>
          <a:prstGeom prst="rect">
            <a:avLst/>
          </a:prstGeom>
          <a:noFill/>
        </p:spPr>
        <p:txBody>
          <a:bodyPr wrap="square">
            <a:spAutoFit/>
          </a:bodyPr>
          <a:lstStyle/>
          <a:p>
            <a:pPr>
              <a:defRPr sz="2000" b="1">
                <a:solidFill>
                  <a:srgbClr val="FFFFFF"/>
                </a:solidFill>
                <a:latin typeface="Aptos"/>
              </a:defRPr>
            </a:pPr>
            <a:r>
              <a:t>Model selection</a:t>
            </a:r>
          </a:p>
        </p:txBody>
      </p:sp>
      <p:sp>
        <p:nvSpPr>
          <p:cNvPr id="10" name="TextBox 9"/>
          <p:cNvSpPr txBox="1"/>
          <p:nvPr/>
        </p:nvSpPr>
        <p:spPr>
          <a:xfrm>
            <a:off x="8394192" y="2130552"/>
            <a:ext cx="2907792" cy="3538728"/>
          </a:xfrm>
          <a:prstGeom prst="rect">
            <a:avLst/>
          </a:prstGeom>
          <a:noFill/>
        </p:spPr>
        <p:txBody>
          <a:bodyPr wrap="square">
            <a:spAutoFit/>
          </a:bodyPr>
          <a:lstStyle/>
          <a:p>
            <a:pPr>
              <a:defRPr sz="1500" b="0">
                <a:solidFill>
                  <a:srgbClr val="FFFFFF"/>
                </a:solidFill>
                <a:latin typeface="Aptos"/>
              </a:defRPr>
            </a:pPr>
            <a:r>
              <a:t>ACF peaks at multiples of 7.</a:t>
            </a:r>
          </a:p>
          <a:p>
            <a:pPr>
              <a:defRPr sz="1500" b="0">
                <a:solidFill>
                  <a:srgbClr val="FFFFFF"/>
                </a:solidFill>
                <a:latin typeface="Aptos"/>
              </a:defRPr>
            </a:pPr>
          </a:p>
          <a:p>
            <a:pPr>
              <a:defRPr sz="1500" b="0">
                <a:solidFill>
                  <a:srgbClr val="FFFFFF"/>
                </a:solidFill>
                <a:latin typeface="Aptos"/>
              </a:defRPr>
            </a:pPr>
            <a:r>
              <a:t>Selected SARIMA:</a:t>
            </a:r>
          </a:p>
          <a:p>
            <a:pPr>
              <a:defRPr sz="1500" b="0">
                <a:solidFill>
                  <a:srgbClr val="FFFFFF"/>
                </a:solidFill>
                <a:latin typeface="Aptos"/>
              </a:defRPr>
            </a:pPr>
            <a:r>
              <a:t>(5,1,0)(2,0,0)[7]</a:t>
            </a:r>
          </a:p>
          <a:p>
            <a:pPr>
              <a:defRPr sz="1500" b="0">
                <a:solidFill>
                  <a:srgbClr val="FFFFFF"/>
                </a:solidFill>
                <a:latin typeface="Aptos"/>
              </a:defRPr>
            </a:pPr>
          </a:p>
          <a:p>
            <a:pPr>
              <a:defRPr sz="1500" b="0">
                <a:solidFill>
                  <a:srgbClr val="FFFFFF"/>
                </a:solidFill>
                <a:latin typeface="Aptos"/>
              </a:defRPr>
            </a:pPr>
            <a:r>
              <a:t>AIC: 16,006.271</a:t>
            </a:r>
          </a:p>
        </p:txBody>
      </p:sp>
      <p:sp>
        <p:nvSpPr>
          <p:cNvPr id="11" name="TextBox 10"/>
          <p:cNvSpPr txBox="1"/>
          <p:nvPr/>
        </p:nvSpPr>
        <p:spPr>
          <a:xfrm>
            <a:off x="9875520" y="6501384"/>
            <a:ext cx="1097280" cy="201168"/>
          </a:xfrm>
          <a:prstGeom prst="rect">
            <a:avLst/>
          </a:prstGeom>
          <a:noFill/>
        </p:spPr>
        <p:txBody>
          <a:bodyPr wrap="square">
            <a:spAutoFit/>
          </a:bodyPr>
          <a:lstStyle/>
          <a:p>
            <a:pPr>
              <a:defRPr sz="900" b="1">
                <a:solidFill>
                  <a:srgbClr val="E85F11"/>
                </a:solidFill>
                <a:latin typeface="Aptos"/>
              </a:defRPr>
            </a:pPr>
            <a:r>
              <a:t>POD GROUP</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74320"/>
            <a:ext cx="10972800" cy="530352"/>
          </a:xfrm>
          <a:prstGeom prst="rect">
            <a:avLst/>
          </a:prstGeom>
          <a:noFill/>
        </p:spPr>
        <p:txBody>
          <a:bodyPr wrap="square">
            <a:spAutoFit/>
          </a:bodyPr>
          <a:lstStyle/>
          <a:p>
            <a:pPr>
              <a:defRPr sz="2800" b="1">
                <a:solidFill>
                  <a:srgbClr val="1A222B"/>
                </a:solidFill>
                <a:latin typeface="Aptos"/>
              </a:defRPr>
            </a:pPr>
            <a:r>
              <a:t>3.3 Model Identification and Alternative Models</a:t>
            </a:r>
          </a:p>
        </p:txBody>
      </p:sp>
      <p:sp>
        <p:nvSpPr>
          <p:cNvPr id="3" name="Rectangle 2"/>
          <p:cNvSpPr/>
          <p:nvPr/>
        </p:nvSpPr>
        <p:spPr>
          <a:xfrm>
            <a:off x="594360" y="932688"/>
            <a:ext cx="786384" cy="50292"/>
          </a:xfrm>
          <a:prstGeom prst="rect">
            <a:avLst/>
          </a:prstGeom>
          <a:solidFill>
            <a:srgbClr val="E85F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6510528"/>
            <a:ext cx="3657600" cy="182880"/>
          </a:xfrm>
          <a:prstGeom prst="rect">
            <a:avLst/>
          </a:prstGeom>
          <a:noFill/>
        </p:spPr>
        <p:txBody>
          <a:bodyPr wrap="square">
            <a:spAutoFit/>
          </a:bodyPr>
          <a:lstStyle/>
          <a:p>
            <a:pPr>
              <a:defRPr sz="1000" b="1">
                <a:solidFill>
                  <a:srgbClr val="64696F"/>
                </a:solidFill>
                <a:latin typeface="Aptos"/>
              </a:defRPr>
            </a:pPr>
            <a:r>
              <a:t>ROSSMANN  /  STORE 800</a:t>
            </a:r>
          </a:p>
        </p:txBody>
      </p:sp>
      <p:sp>
        <p:nvSpPr>
          <p:cNvPr id="5" name="TextBox 4"/>
          <p:cNvSpPr txBox="1"/>
          <p:nvPr/>
        </p:nvSpPr>
        <p:spPr>
          <a:xfrm>
            <a:off x="8915400" y="6492240"/>
            <a:ext cx="2651760" cy="201168"/>
          </a:xfrm>
          <a:prstGeom prst="rect">
            <a:avLst/>
          </a:prstGeom>
          <a:noFill/>
        </p:spPr>
        <p:txBody>
          <a:bodyPr wrap="square">
            <a:spAutoFit/>
          </a:bodyPr>
          <a:lstStyle/>
          <a:p>
            <a:pPr>
              <a:defRPr sz="1000" b="1">
                <a:solidFill>
                  <a:srgbClr val="E85F11"/>
                </a:solidFill>
                <a:latin typeface="Aptos"/>
              </a:defRPr>
            </a:pPr>
            <a:r>
              <a:t>PRESENTED BY THE POD GROUP</a:t>
            </a:r>
          </a:p>
        </p:txBody>
      </p:sp>
      <p:sp>
        <p:nvSpPr>
          <p:cNvPr id="6" name="Rounded Rectangle 5"/>
          <p:cNvSpPr/>
          <p:nvPr/>
        </p:nvSpPr>
        <p:spPr>
          <a:xfrm>
            <a:off x="685800" y="1399032"/>
            <a:ext cx="5193792" cy="4425696"/>
          </a:xfrm>
          <a:prstGeom prst="roundRect">
            <a:avLst/>
          </a:prstGeom>
          <a:solidFill>
            <a:srgbClr val="1A2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1581912"/>
            <a:ext cx="4791455" cy="457200"/>
          </a:xfrm>
          <a:prstGeom prst="rect">
            <a:avLst/>
          </a:prstGeom>
          <a:noFill/>
        </p:spPr>
        <p:txBody>
          <a:bodyPr wrap="square">
            <a:spAutoFit/>
          </a:bodyPr>
          <a:lstStyle/>
          <a:p>
            <a:pPr>
              <a:defRPr sz="2100" b="1">
                <a:solidFill>
                  <a:srgbClr val="FFFFFF"/>
                </a:solidFill>
                <a:latin typeface="Aptos"/>
              </a:defRPr>
            </a:pPr>
            <a:r>
              <a:t>SELECTED MODEL</a:t>
            </a:r>
          </a:p>
        </p:txBody>
      </p:sp>
      <p:sp>
        <p:nvSpPr>
          <p:cNvPr id="8" name="TextBox 7"/>
          <p:cNvSpPr txBox="1"/>
          <p:nvPr/>
        </p:nvSpPr>
        <p:spPr>
          <a:xfrm>
            <a:off x="886968" y="2148840"/>
            <a:ext cx="4791455" cy="3557015"/>
          </a:xfrm>
          <a:prstGeom prst="rect">
            <a:avLst/>
          </a:prstGeom>
          <a:noFill/>
        </p:spPr>
        <p:txBody>
          <a:bodyPr wrap="square">
            <a:spAutoFit/>
          </a:bodyPr>
          <a:lstStyle/>
          <a:p>
            <a:pPr>
              <a:defRPr sz="1700" b="0">
                <a:solidFill>
                  <a:srgbClr val="FFFFFF"/>
                </a:solidFill>
                <a:latin typeface="Aptos"/>
              </a:defRPr>
            </a:pPr>
            <a:r>
              <a:t>SARIMA (5,1,0)(2,0,0)[7]</a:t>
            </a:r>
          </a:p>
          <a:p>
            <a:pPr>
              <a:defRPr sz="1700" b="0">
                <a:solidFill>
                  <a:srgbClr val="FFFFFF"/>
                </a:solidFill>
                <a:latin typeface="Aptos"/>
              </a:defRPr>
            </a:pPr>
          </a:p>
          <a:p>
            <a:pPr>
              <a:defRPr sz="1700" b="0">
                <a:solidFill>
                  <a:srgbClr val="FFFFFF"/>
                </a:solidFill>
                <a:latin typeface="Aptos"/>
              </a:defRPr>
            </a:pPr>
            <a:r>
              <a:t>AIC: 16,006.271</a:t>
            </a:r>
          </a:p>
          <a:p>
            <a:pPr>
              <a:defRPr sz="1700" b="0">
                <a:solidFill>
                  <a:srgbClr val="FFFFFF"/>
                </a:solidFill>
                <a:latin typeface="Aptos"/>
              </a:defRPr>
            </a:pPr>
          </a:p>
          <a:p>
            <a:pPr>
              <a:defRPr sz="1700" b="0">
                <a:solidFill>
                  <a:srgbClr val="FFFFFF"/>
                </a:solidFill>
                <a:latin typeface="Aptos"/>
              </a:defRPr>
            </a:pPr>
            <a:r>
              <a:t>The seasonal period of 7 reflects the weekly sales cycle.</a:t>
            </a:r>
          </a:p>
        </p:txBody>
      </p:sp>
      <p:sp>
        <p:nvSpPr>
          <p:cNvPr id="9" name="Rounded Rectangle 8"/>
          <p:cNvSpPr/>
          <p:nvPr/>
        </p:nvSpPr>
        <p:spPr>
          <a:xfrm>
            <a:off x="6108192" y="1399032"/>
            <a:ext cx="5394960" cy="2020824"/>
          </a:xfrm>
          <a:prstGeom prst="roundRect">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1581912"/>
            <a:ext cx="4992624" cy="457200"/>
          </a:xfrm>
          <a:prstGeom prst="rect">
            <a:avLst/>
          </a:prstGeom>
          <a:noFill/>
        </p:spPr>
        <p:txBody>
          <a:bodyPr wrap="square">
            <a:spAutoFit/>
          </a:bodyPr>
          <a:lstStyle/>
          <a:p>
            <a:pPr>
              <a:defRPr sz="2100" b="1">
                <a:solidFill>
                  <a:srgbClr val="E85F11"/>
                </a:solidFill>
                <a:latin typeface="Aptos"/>
              </a:defRPr>
            </a:pPr>
            <a:r>
              <a:t>WHAT THE PARAMETERS MEAN</a:t>
            </a:r>
          </a:p>
        </p:txBody>
      </p:sp>
      <p:sp>
        <p:nvSpPr>
          <p:cNvPr id="11" name="TextBox 10"/>
          <p:cNvSpPr txBox="1"/>
          <p:nvPr/>
        </p:nvSpPr>
        <p:spPr>
          <a:xfrm>
            <a:off x="6309359" y="2148840"/>
            <a:ext cx="4992624" cy="1152144"/>
          </a:xfrm>
          <a:prstGeom prst="rect">
            <a:avLst/>
          </a:prstGeom>
          <a:noFill/>
        </p:spPr>
        <p:txBody>
          <a:bodyPr wrap="square">
            <a:spAutoFit/>
          </a:bodyPr>
          <a:lstStyle/>
          <a:p>
            <a:pPr>
              <a:defRPr sz="1700" b="0">
                <a:solidFill>
                  <a:srgbClr val="1A222B"/>
                </a:solidFill>
                <a:latin typeface="Aptos"/>
              </a:defRPr>
            </a:pPr>
            <a:r>
              <a:t>p=5, d=1, q=0; seasonal P=2, D=0, Q=0; m=7.</a:t>
            </a:r>
          </a:p>
        </p:txBody>
      </p:sp>
      <p:sp>
        <p:nvSpPr>
          <p:cNvPr id="12" name="Rounded Rectangle 11"/>
          <p:cNvSpPr/>
          <p:nvPr/>
        </p:nvSpPr>
        <p:spPr>
          <a:xfrm>
            <a:off x="6108192" y="3611880"/>
            <a:ext cx="5394960" cy="2212848"/>
          </a:xfrm>
          <a:prstGeom prst="roundRect">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9359" y="3794760"/>
            <a:ext cx="4992624" cy="457200"/>
          </a:xfrm>
          <a:prstGeom prst="rect">
            <a:avLst/>
          </a:prstGeom>
          <a:noFill/>
        </p:spPr>
        <p:txBody>
          <a:bodyPr wrap="square">
            <a:spAutoFit/>
          </a:bodyPr>
          <a:lstStyle/>
          <a:p>
            <a:pPr>
              <a:defRPr sz="2100" b="1">
                <a:solidFill>
                  <a:srgbClr val="E85F11"/>
                </a:solidFill>
                <a:latin typeface="Aptos"/>
              </a:defRPr>
            </a:pPr>
            <a:r>
              <a:t>WHY d=1?</a:t>
            </a:r>
          </a:p>
        </p:txBody>
      </p:sp>
      <p:sp>
        <p:nvSpPr>
          <p:cNvPr id="14" name="TextBox 13"/>
          <p:cNvSpPr txBox="1"/>
          <p:nvPr/>
        </p:nvSpPr>
        <p:spPr>
          <a:xfrm>
            <a:off x="6309359" y="4361688"/>
            <a:ext cx="4992624" cy="1344168"/>
          </a:xfrm>
          <a:prstGeom prst="rect">
            <a:avLst/>
          </a:prstGeom>
          <a:noFill/>
        </p:spPr>
        <p:txBody>
          <a:bodyPr wrap="square">
            <a:spAutoFit/>
          </a:bodyPr>
          <a:lstStyle/>
          <a:p>
            <a:pPr>
              <a:defRPr sz="1700" b="0">
                <a:solidFill>
                  <a:srgbClr val="1A222B"/>
                </a:solidFill>
                <a:latin typeface="Aptos"/>
              </a:defRPr>
            </a:pPr>
            <a:r>
              <a:t>The original ADF test rejects a unit root (p=0.003323). Auto-ARIMA still selected d=1 through its model-selection process; ADF and model selection answer different questions.</a:t>
            </a:r>
          </a:p>
        </p:txBody>
      </p:sp>
      <p:sp>
        <p:nvSpPr>
          <p:cNvPr id="15" name="TextBox 14"/>
          <p:cNvSpPr txBox="1"/>
          <p:nvPr/>
        </p:nvSpPr>
        <p:spPr>
          <a:xfrm>
            <a:off x="11112703" y="6547104"/>
            <a:ext cx="749808" cy="192024"/>
          </a:xfrm>
          <a:prstGeom prst="rect">
            <a:avLst/>
          </a:prstGeom>
          <a:noFill/>
        </p:spPr>
        <p:txBody>
          <a:bodyPr wrap="square">
            <a:spAutoFit/>
          </a:bodyPr>
          <a:lstStyle/>
          <a:p>
            <a:r>
              <a:rPr sz="800"/>
              <a:t>19 / 29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10896"/>
            <a:ext cx="10972800" cy="502920"/>
          </a:xfrm>
          <a:prstGeom prst="rect">
            <a:avLst/>
          </a:prstGeom>
          <a:noFill/>
        </p:spPr>
        <p:txBody>
          <a:bodyPr wrap="square">
            <a:spAutoFit/>
          </a:bodyPr>
          <a:lstStyle/>
          <a:p>
            <a:pPr>
              <a:defRPr sz="2900" b="1">
                <a:solidFill>
                  <a:srgbClr val="1A222B"/>
                </a:solidFill>
                <a:latin typeface="Aptos"/>
              </a:defRPr>
            </a:pPr>
            <a:r>
              <a:t>3.5 Forecast Evaluation — MAE and RMSE</a:t>
            </a:r>
          </a:p>
        </p:txBody>
      </p:sp>
      <p:sp>
        <p:nvSpPr>
          <p:cNvPr id="3" name="Rectangle 2"/>
          <p:cNvSpPr/>
          <p:nvPr/>
        </p:nvSpPr>
        <p:spPr>
          <a:xfrm>
            <a:off x="594360" y="960120"/>
            <a:ext cx="822960" cy="54864"/>
          </a:xfrm>
          <a:prstGeom prst="rect">
            <a:avLst/>
          </a:prstGeom>
          <a:solidFill>
            <a:srgbClr val="E85F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492240"/>
            <a:ext cx="3657600" cy="219456"/>
          </a:xfrm>
          <a:prstGeom prst="rect">
            <a:avLst/>
          </a:prstGeom>
          <a:noFill/>
        </p:spPr>
        <p:txBody>
          <a:bodyPr wrap="square">
            <a:spAutoFit/>
          </a:bodyPr>
          <a:lstStyle/>
          <a:p>
            <a:pPr>
              <a:defRPr sz="1000" b="1">
                <a:solidFill>
                  <a:srgbClr val="696C70"/>
                </a:solidFill>
                <a:latin typeface="Aptos"/>
              </a:defRPr>
            </a:pPr>
            <a:r>
              <a:t>ROSSMANN  /  STORE 800</a:t>
            </a:r>
          </a:p>
        </p:txBody>
      </p:sp>
      <p:sp>
        <p:nvSpPr>
          <p:cNvPr id="5" name="TextBox 4"/>
          <p:cNvSpPr txBox="1"/>
          <p:nvPr/>
        </p:nvSpPr>
        <p:spPr>
          <a:xfrm>
            <a:off x="8229600" y="6492240"/>
            <a:ext cx="3291840" cy="228600"/>
          </a:xfrm>
          <a:prstGeom prst="rect">
            <a:avLst/>
          </a:prstGeom>
          <a:noFill/>
        </p:spPr>
        <p:txBody>
          <a:bodyPr wrap="square">
            <a:spAutoFit/>
          </a:bodyPr>
          <a:lstStyle/>
          <a:p>
            <a:pPr>
              <a:defRPr sz="1000" b="1">
                <a:solidFill>
                  <a:srgbClr val="E85F11"/>
                </a:solidFill>
                <a:latin typeface="Aptos"/>
              </a:defRPr>
            </a:pPr>
            <a:r>
              <a:t>PRESENTED BY THE POD GROUP</a:t>
            </a:r>
          </a:p>
        </p:txBody>
      </p:sp>
      <p:sp>
        <p:nvSpPr>
          <p:cNvPr id="6" name="Rounded Rectangle 5"/>
          <p:cNvSpPr/>
          <p:nvPr/>
        </p:nvSpPr>
        <p:spPr>
          <a:xfrm>
            <a:off x="694944" y="1344168"/>
            <a:ext cx="5257800" cy="4498848"/>
          </a:xfrm>
          <a:prstGeom prst="roundRect">
            <a:avLst/>
          </a:prstGeom>
          <a:solidFill>
            <a:srgbClr val="1A2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673352"/>
            <a:ext cx="4572000" cy="457200"/>
          </a:xfrm>
          <a:prstGeom prst="rect">
            <a:avLst/>
          </a:prstGeom>
          <a:noFill/>
        </p:spPr>
        <p:txBody>
          <a:bodyPr wrap="square">
            <a:spAutoFit/>
          </a:bodyPr>
          <a:lstStyle/>
          <a:p>
            <a:pPr>
              <a:defRPr sz="2200" b="1">
                <a:solidFill>
                  <a:srgbClr val="FFFFFF"/>
                </a:solidFill>
                <a:latin typeface="Aptos"/>
              </a:defRPr>
            </a:pPr>
            <a:r>
              <a:t>MAE  |  Mean Absolute Error</a:t>
            </a:r>
          </a:p>
        </p:txBody>
      </p:sp>
      <p:sp>
        <p:nvSpPr>
          <p:cNvPr id="8" name="TextBox 7"/>
          <p:cNvSpPr txBox="1"/>
          <p:nvPr/>
        </p:nvSpPr>
        <p:spPr>
          <a:xfrm>
            <a:off x="960120" y="2395728"/>
            <a:ext cx="4526280" cy="3017520"/>
          </a:xfrm>
          <a:prstGeom prst="rect">
            <a:avLst/>
          </a:prstGeom>
          <a:noFill/>
        </p:spPr>
        <p:txBody>
          <a:bodyPr wrap="square">
            <a:spAutoFit/>
          </a:bodyPr>
          <a:lstStyle/>
          <a:p>
            <a:pPr>
              <a:defRPr sz="1900" b="0">
                <a:solidFill>
                  <a:srgbClr val="FFFFFF"/>
                </a:solidFill>
                <a:latin typeface="Aptos"/>
              </a:defRPr>
            </a:pPr>
            <a:r>
              <a:t>Average absolute distance between predicted and actual sales.</a:t>
            </a:r>
          </a:p>
          <a:p>
            <a:pPr>
              <a:defRPr sz="1900" b="0">
                <a:solidFill>
                  <a:srgbClr val="FFFFFF"/>
                </a:solidFill>
                <a:latin typeface="Aptos"/>
              </a:defRPr>
            </a:pPr>
          </a:p>
          <a:p>
            <a:pPr>
              <a:defRPr sz="1900" b="0">
                <a:solidFill>
                  <a:srgbClr val="FFFFFF"/>
                </a:solidFill>
                <a:latin typeface="Aptos"/>
              </a:defRPr>
            </a:pPr>
            <a:r>
              <a:t>Easy to interpret in daily sales units.</a:t>
            </a:r>
          </a:p>
          <a:p>
            <a:pPr>
              <a:defRPr sz="1900" b="0">
                <a:solidFill>
                  <a:srgbClr val="FFFFFF"/>
                </a:solidFill>
                <a:latin typeface="Aptos"/>
              </a:defRPr>
            </a:pPr>
          </a:p>
          <a:p>
            <a:pPr>
              <a:defRPr sz="1900" b="0">
                <a:solidFill>
                  <a:srgbClr val="FFFFFF"/>
                </a:solidFill>
                <a:latin typeface="Aptos"/>
              </a:defRPr>
            </a:pPr>
            <a:r>
              <a:t>Less sensitive to large individual errors.</a:t>
            </a:r>
          </a:p>
        </p:txBody>
      </p:sp>
      <p:sp>
        <p:nvSpPr>
          <p:cNvPr id="9" name="Rounded Rectangle 8"/>
          <p:cNvSpPr/>
          <p:nvPr/>
        </p:nvSpPr>
        <p:spPr>
          <a:xfrm>
            <a:off x="6190488" y="1344168"/>
            <a:ext cx="5285232" cy="4498848"/>
          </a:xfrm>
          <a:prstGeom prst="roundRect">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55664" y="1673352"/>
            <a:ext cx="4645152" cy="731520"/>
          </a:xfrm>
          <a:prstGeom prst="rect">
            <a:avLst/>
          </a:prstGeom>
          <a:noFill/>
        </p:spPr>
        <p:txBody>
          <a:bodyPr wrap="square">
            <a:spAutoFit/>
          </a:bodyPr>
          <a:lstStyle/>
          <a:p>
            <a:pPr>
              <a:defRPr sz="2200" b="1">
                <a:solidFill>
                  <a:srgbClr val="1A222B"/>
                </a:solidFill>
                <a:latin typeface="Aptos"/>
              </a:defRPr>
            </a:pPr>
            <a:r>
              <a:t>RMSE  |  Root Mean Squared Error</a:t>
            </a:r>
          </a:p>
        </p:txBody>
      </p:sp>
      <p:sp>
        <p:nvSpPr>
          <p:cNvPr id="11" name="TextBox 10"/>
          <p:cNvSpPr txBox="1"/>
          <p:nvPr/>
        </p:nvSpPr>
        <p:spPr>
          <a:xfrm>
            <a:off x="6455664" y="2487168"/>
            <a:ext cx="4572000" cy="2926080"/>
          </a:xfrm>
          <a:prstGeom prst="rect">
            <a:avLst/>
          </a:prstGeom>
          <a:noFill/>
        </p:spPr>
        <p:txBody>
          <a:bodyPr wrap="square">
            <a:spAutoFit/>
          </a:bodyPr>
          <a:lstStyle/>
          <a:p>
            <a:pPr>
              <a:defRPr sz="1900" b="0">
                <a:solidFill>
                  <a:srgbClr val="1A222B"/>
                </a:solidFill>
                <a:latin typeface="Aptos"/>
              </a:defRPr>
            </a:pPr>
            <a:r>
              <a:t>Squares errors before averaging and taking the square root.</a:t>
            </a:r>
          </a:p>
          <a:p>
            <a:pPr>
              <a:defRPr sz="1900" b="0">
                <a:solidFill>
                  <a:srgbClr val="1A222B"/>
                </a:solidFill>
                <a:latin typeface="Aptos"/>
              </a:defRPr>
            </a:pPr>
          </a:p>
          <a:p>
            <a:pPr>
              <a:defRPr sz="1900" b="0">
                <a:solidFill>
                  <a:srgbClr val="1A222B"/>
                </a:solidFill>
                <a:latin typeface="Aptos"/>
              </a:defRPr>
            </a:pPr>
            <a:r>
              <a:t>Penalizes unusually large forecast misses more heavily.</a:t>
            </a:r>
          </a:p>
          <a:p>
            <a:pPr>
              <a:defRPr sz="1900" b="0">
                <a:solidFill>
                  <a:srgbClr val="1A222B"/>
                </a:solidFill>
                <a:latin typeface="Aptos"/>
              </a:defRPr>
            </a:pPr>
          </a:p>
          <a:p>
            <a:pPr>
              <a:defRPr sz="1900" b="0">
                <a:solidFill>
                  <a:srgbClr val="1A222B"/>
                </a:solidFill>
                <a:latin typeface="Aptos"/>
              </a:defRPr>
            </a:pPr>
            <a:r>
              <a:t>Models can rank differently on MAE and RMSE.</a:t>
            </a:r>
          </a:p>
        </p:txBody>
      </p:sp>
      <p:sp>
        <p:nvSpPr>
          <p:cNvPr id="12" name="TextBox 11"/>
          <p:cNvSpPr txBox="1"/>
          <p:nvPr/>
        </p:nvSpPr>
        <p:spPr>
          <a:xfrm>
            <a:off x="932688" y="5998464"/>
            <a:ext cx="10698480" cy="320040"/>
          </a:xfrm>
          <a:prstGeom prst="rect">
            <a:avLst/>
          </a:prstGeom>
          <a:noFill/>
        </p:spPr>
        <p:txBody>
          <a:bodyPr wrap="square">
            <a:spAutoFit/>
          </a:bodyPr>
          <a:lstStyle/>
          <a:p>
            <a:pPr>
              <a:defRPr sz="1700" b="1">
                <a:solidFill>
                  <a:srgbClr val="E85F11"/>
                </a:solidFill>
                <a:latin typeface="Aptos"/>
              </a:defRPr>
            </a:pPr>
            <a:r>
              <a:t>Lower is better for both metrics. Always compare on the same test window.</a:t>
            </a:r>
          </a:p>
        </p:txBody>
      </p:sp>
      <p:sp>
        <p:nvSpPr>
          <p:cNvPr id="13" name="TextBox 12"/>
          <p:cNvSpPr txBox="1"/>
          <p:nvPr/>
        </p:nvSpPr>
        <p:spPr>
          <a:xfrm>
            <a:off x="11112703" y="6547104"/>
            <a:ext cx="749808" cy="192024"/>
          </a:xfrm>
          <a:prstGeom prst="rect">
            <a:avLst/>
          </a:prstGeom>
          <a:noFill/>
        </p:spPr>
        <p:txBody>
          <a:bodyPr wrap="none">
            <a:spAutoFit/>
          </a:bodyPr>
          <a:lstStyle/>
          <a:p>
            <a:pPr>
              <a:defRPr sz="1000"/>
            </a:pPr>
            <a:r>
              <a:rPr sz="800"/>
              <a:t>20 / 29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74320"/>
            <a:ext cx="10972800" cy="502920"/>
          </a:xfrm>
          <a:prstGeom prst="rect">
            <a:avLst/>
          </a:prstGeom>
          <a:noFill/>
        </p:spPr>
        <p:txBody>
          <a:bodyPr wrap="square">
            <a:spAutoFit/>
          </a:bodyPr>
          <a:lstStyle/>
          <a:p>
            <a:r>
              <a:t>3.5.1 Interpreting Model Performance</a:t>
            </a:r>
          </a:p>
        </p:txBody>
      </p:sp>
      <p:sp>
        <p:nvSpPr>
          <p:cNvPr id="3" name="Rectangle 2"/>
          <p:cNvSpPr/>
          <p:nvPr/>
        </p:nvSpPr>
        <p:spPr>
          <a:xfrm>
            <a:off x="594360" y="932688"/>
            <a:ext cx="786384" cy="50292"/>
          </a:xfrm>
          <a:prstGeom prst="rect">
            <a:avLst/>
          </a:prstGeom>
          <a:solidFill>
            <a:srgbClr val="E85F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112703" y="6547104"/>
            <a:ext cx="749808" cy="192024"/>
          </a:xfrm>
          <a:prstGeom prst="rect">
            <a:avLst/>
          </a:prstGeom>
          <a:noFill/>
        </p:spPr>
        <p:txBody>
          <a:bodyPr wrap="square">
            <a:spAutoFit/>
          </a:bodyPr>
          <a:lstStyle/>
          <a:p>
            <a:r>
              <a:rPr sz="800"/>
              <a:t>21 / 29</a:t>
            </a:r>
          </a:p>
        </p:txBody>
      </p:sp>
      <p:sp>
        <p:nvSpPr>
          <p:cNvPr id="5" name="TextBox 4"/>
          <p:cNvSpPr txBox="1"/>
          <p:nvPr/>
        </p:nvSpPr>
        <p:spPr>
          <a:xfrm>
            <a:off x="612648" y="6510528"/>
            <a:ext cx="3657600" cy="182880"/>
          </a:xfrm>
          <a:prstGeom prst="rect">
            <a:avLst/>
          </a:prstGeom>
          <a:noFill/>
        </p:spPr>
        <p:txBody>
          <a:bodyPr wrap="square">
            <a:spAutoFit/>
          </a:bodyPr>
          <a:lstStyle/>
          <a:p>
            <a:pPr>
              <a:defRPr sz="1000" b="1">
                <a:solidFill>
                  <a:srgbClr val="64696F"/>
                </a:solidFill>
                <a:latin typeface="Aptos"/>
              </a:defRPr>
            </a:pPr>
            <a:r>
              <a:t>ROSSMANN  /  STORE 800</a:t>
            </a:r>
          </a:p>
        </p:txBody>
      </p:sp>
      <p:sp>
        <p:nvSpPr>
          <p:cNvPr id="6" name="Rounded Rectangle 5"/>
          <p:cNvSpPr/>
          <p:nvPr/>
        </p:nvSpPr>
        <p:spPr>
          <a:xfrm>
            <a:off x="658368" y="1353312"/>
            <a:ext cx="10853928" cy="960120"/>
          </a:xfrm>
          <a:prstGeom prst="roundRect">
            <a:avLst>
              <a:gd name="adj" fmla="val 12000"/>
            </a:avLst>
          </a:prstGeom>
          <a:solidFill>
            <a:srgbClr val="1A2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1536192"/>
            <a:ext cx="10451592" cy="475488"/>
          </a:xfrm>
          <a:prstGeom prst="rect">
            <a:avLst/>
          </a:prstGeom>
          <a:noFill/>
        </p:spPr>
        <p:txBody>
          <a:bodyPr wrap="square">
            <a:spAutoFit/>
          </a:bodyPr>
          <a:lstStyle/>
          <a:p>
            <a:pPr>
              <a:defRPr sz="2000" b="1">
                <a:solidFill>
                  <a:srgbClr val="FFFFFF"/>
                </a:solidFill>
                <a:latin typeface="Aptos"/>
              </a:defRPr>
            </a:pPr>
            <a:r>
              <a:t>Different tests, different winners</a:t>
            </a:r>
          </a:p>
        </p:txBody>
      </p:sp>
      <p:sp>
        <p:nvSpPr>
          <p:cNvPr id="8" name="TextBox 7"/>
          <p:cNvSpPr txBox="1"/>
          <p:nvPr/>
        </p:nvSpPr>
        <p:spPr>
          <a:xfrm>
            <a:off x="859536" y="2112264"/>
            <a:ext cx="10451592" cy="45720"/>
          </a:xfrm>
          <a:prstGeom prst="rect">
            <a:avLst/>
          </a:prstGeom>
          <a:noFill/>
        </p:spPr>
        <p:txBody>
          <a:bodyPr wrap="square">
            <a:spAutoFit/>
          </a:bodyPr>
          <a:lstStyle/>
          <a:p>
            <a:pPr>
              <a:defRPr sz="1500" b="0">
                <a:solidFill>
                  <a:srgbClr val="FFFFFF"/>
                </a:solidFill>
                <a:latin typeface="Aptos"/>
              </a:defRPr>
            </a:pPr>
            <a:r>
              <a:t>42-day holdout vs. seven-day rolling-origin windows</a:t>
            </a:r>
          </a:p>
        </p:txBody>
      </p:sp>
      <p:sp>
        <p:nvSpPr>
          <p:cNvPr id="9" name="Rounded Rectangle 8"/>
          <p:cNvSpPr/>
          <p:nvPr/>
        </p:nvSpPr>
        <p:spPr>
          <a:xfrm>
            <a:off x="749808" y="2651760"/>
            <a:ext cx="10634472" cy="969264"/>
          </a:xfrm>
          <a:prstGeom prst="roundRect">
            <a:avLst>
              <a:gd name="adj" fmla="val 12000"/>
            </a:avLst>
          </a:prstGeom>
          <a:solidFill>
            <a:srgbClr val="FCE5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1" y="2916936"/>
            <a:ext cx="3657600" cy="438912"/>
          </a:xfrm>
          <a:prstGeom prst="rect">
            <a:avLst/>
          </a:prstGeom>
          <a:noFill/>
        </p:spPr>
        <p:txBody>
          <a:bodyPr wrap="square">
            <a:spAutoFit/>
          </a:bodyPr>
          <a:lstStyle/>
          <a:p>
            <a:pPr>
              <a:defRPr sz="2100" b="1">
                <a:solidFill>
                  <a:srgbClr val="1A222B"/>
                </a:solidFill>
                <a:latin typeface="Aptos"/>
              </a:defRPr>
            </a:pPr>
            <a:r>
              <a:t>SARIMA</a:t>
            </a:r>
          </a:p>
        </p:txBody>
      </p:sp>
      <p:sp>
        <p:nvSpPr>
          <p:cNvPr id="11" name="TextBox 10"/>
          <p:cNvSpPr txBox="1"/>
          <p:nvPr/>
        </p:nvSpPr>
        <p:spPr>
          <a:xfrm>
            <a:off x="5074920" y="2926079"/>
            <a:ext cx="2651760" cy="384048"/>
          </a:xfrm>
          <a:prstGeom prst="rect">
            <a:avLst/>
          </a:prstGeom>
          <a:noFill/>
        </p:spPr>
        <p:txBody>
          <a:bodyPr wrap="square">
            <a:spAutoFit/>
          </a:bodyPr>
          <a:lstStyle/>
          <a:p>
            <a:pPr>
              <a:defRPr sz="1800" b="1">
                <a:solidFill>
                  <a:srgbClr val="1A222B"/>
                </a:solidFill>
                <a:latin typeface="Aptos"/>
              </a:defRPr>
            </a:pPr>
            <a:r>
              <a:t>MAE   1,109.17</a:t>
            </a:r>
          </a:p>
        </p:txBody>
      </p:sp>
      <p:sp>
        <p:nvSpPr>
          <p:cNvPr id="12" name="TextBox 11"/>
          <p:cNvSpPr txBox="1"/>
          <p:nvPr/>
        </p:nvSpPr>
        <p:spPr>
          <a:xfrm>
            <a:off x="8247888" y="2926079"/>
            <a:ext cx="2743200" cy="384048"/>
          </a:xfrm>
          <a:prstGeom prst="rect">
            <a:avLst/>
          </a:prstGeom>
          <a:noFill/>
        </p:spPr>
        <p:txBody>
          <a:bodyPr wrap="square">
            <a:spAutoFit/>
          </a:bodyPr>
          <a:lstStyle/>
          <a:p>
            <a:pPr>
              <a:defRPr sz="1800" b="1">
                <a:solidFill>
                  <a:srgbClr val="1A222B"/>
                </a:solidFill>
                <a:latin typeface="Aptos"/>
              </a:defRPr>
            </a:pPr>
            <a:r>
              <a:t>RMSE   1,397.67</a:t>
            </a:r>
          </a:p>
        </p:txBody>
      </p:sp>
      <p:sp>
        <p:nvSpPr>
          <p:cNvPr id="13" name="Rounded Rectangle 12"/>
          <p:cNvSpPr/>
          <p:nvPr/>
        </p:nvSpPr>
        <p:spPr>
          <a:xfrm>
            <a:off x="749808" y="3794760"/>
            <a:ext cx="10634472" cy="969264"/>
          </a:xfrm>
          <a:prstGeom prst="roundRect">
            <a:avLst>
              <a:gd name="adj" fmla="val 12000"/>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1" y="4059936"/>
            <a:ext cx="3657600" cy="438912"/>
          </a:xfrm>
          <a:prstGeom prst="rect">
            <a:avLst/>
          </a:prstGeom>
          <a:noFill/>
        </p:spPr>
        <p:txBody>
          <a:bodyPr wrap="square">
            <a:spAutoFit/>
          </a:bodyPr>
          <a:lstStyle/>
          <a:p>
            <a:pPr>
              <a:defRPr sz="2100" b="1">
                <a:solidFill>
                  <a:srgbClr val="1A222B"/>
                </a:solidFill>
                <a:latin typeface="Aptos"/>
              </a:defRPr>
            </a:pPr>
            <a:r>
              <a:t>Seasonal Naive</a:t>
            </a:r>
          </a:p>
        </p:txBody>
      </p:sp>
      <p:sp>
        <p:nvSpPr>
          <p:cNvPr id="15" name="TextBox 14"/>
          <p:cNvSpPr txBox="1"/>
          <p:nvPr/>
        </p:nvSpPr>
        <p:spPr>
          <a:xfrm>
            <a:off x="5074920" y="4069080"/>
            <a:ext cx="2651760" cy="384048"/>
          </a:xfrm>
          <a:prstGeom prst="rect">
            <a:avLst/>
          </a:prstGeom>
          <a:noFill/>
        </p:spPr>
        <p:txBody>
          <a:bodyPr wrap="square">
            <a:spAutoFit/>
          </a:bodyPr>
          <a:lstStyle/>
          <a:p>
            <a:pPr>
              <a:defRPr sz="1800" b="1">
                <a:solidFill>
                  <a:srgbClr val="1A222B"/>
                </a:solidFill>
                <a:latin typeface="Aptos"/>
              </a:defRPr>
            </a:pPr>
            <a:r>
              <a:t>MAE   1,463.90</a:t>
            </a:r>
          </a:p>
        </p:txBody>
      </p:sp>
      <p:sp>
        <p:nvSpPr>
          <p:cNvPr id="16" name="TextBox 15"/>
          <p:cNvSpPr txBox="1"/>
          <p:nvPr/>
        </p:nvSpPr>
        <p:spPr>
          <a:xfrm>
            <a:off x="8247888" y="4069080"/>
            <a:ext cx="2743200" cy="384048"/>
          </a:xfrm>
          <a:prstGeom prst="rect">
            <a:avLst/>
          </a:prstGeom>
          <a:noFill/>
        </p:spPr>
        <p:txBody>
          <a:bodyPr wrap="square">
            <a:spAutoFit/>
          </a:bodyPr>
          <a:lstStyle/>
          <a:p>
            <a:pPr>
              <a:defRPr sz="1800" b="1">
                <a:solidFill>
                  <a:srgbClr val="1A222B"/>
                </a:solidFill>
                <a:latin typeface="Aptos"/>
              </a:defRPr>
            </a:pPr>
            <a:r>
              <a:t>RMSE   1,994.23</a:t>
            </a:r>
          </a:p>
        </p:txBody>
      </p:sp>
      <p:sp>
        <p:nvSpPr>
          <p:cNvPr id="17" name="TextBox 16"/>
          <p:cNvSpPr txBox="1"/>
          <p:nvPr/>
        </p:nvSpPr>
        <p:spPr>
          <a:xfrm>
            <a:off x="822960" y="5321808"/>
            <a:ext cx="10424160" cy="566928"/>
          </a:xfrm>
          <a:prstGeom prst="rect">
            <a:avLst/>
          </a:prstGeom>
          <a:noFill/>
        </p:spPr>
        <p:txBody>
          <a:bodyPr wrap="square">
            <a:spAutoFit/>
          </a:bodyPr>
          <a:lstStyle/>
          <a:p>
            <a:pPr>
              <a:defRPr sz="1700" b="0">
                <a:solidFill>
                  <a:srgbClr val="1A222B"/>
                </a:solidFill>
                <a:latin typeface="Aptos"/>
              </a:defRPr>
            </a:pPr>
            <a:r>
              <a:t>Neither model won every test. Compare the same forecast horizon and metric before selecting a winner.</a:t>
            </a:r>
          </a:p>
        </p:txBody>
      </p:sp>
      <p:sp>
        <p:nvSpPr>
          <p:cNvPr id="18" name="TextBox 17"/>
          <p:cNvSpPr txBox="1"/>
          <p:nvPr/>
        </p:nvSpPr>
        <p:spPr>
          <a:xfrm>
            <a:off x="9875520" y="6501384"/>
            <a:ext cx="1097280" cy="201168"/>
          </a:xfrm>
          <a:prstGeom prst="rect">
            <a:avLst/>
          </a:prstGeom>
          <a:noFill/>
        </p:spPr>
        <p:txBody>
          <a:bodyPr wrap="square">
            <a:spAutoFit/>
          </a:bodyPr>
          <a:lstStyle/>
          <a:p>
            <a:pPr>
              <a:defRPr sz="900" b="1">
                <a:solidFill>
                  <a:srgbClr val="E85F11"/>
                </a:solidFill>
                <a:latin typeface="Aptos"/>
              </a:defRPr>
            </a:pPr>
            <a:r>
              <a:t>POD GROUP</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74320"/>
            <a:ext cx="10972800" cy="594360"/>
          </a:xfrm>
          <a:prstGeom prst="rect">
            <a:avLst/>
          </a:prstGeom>
          <a:noFill/>
        </p:spPr>
        <p:txBody>
          <a:bodyPr wrap="square">
            <a:spAutoFit/>
          </a:bodyPr>
          <a:lstStyle/>
          <a:p>
            <a:r>
              <a:t>3.5.1 SARIMA vs. Baseline Models — 42-Day Holdout</a:t>
            </a:r>
          </a:p>
        </p:txBody>
      </p:sp>
      <p:sp>
        <p:nvSpPr>
          <p:cNvPr id="3" name="Rectangle 2"/>
          <p:cNvSpPr/>
          <p:nvPr/>
        </p:nvSpPr>
        <p:spPr>
          <a:xfrm>
            <a:off x="594360" y="941832"/>
            <a:ext cx="786384" cy="54864"/>
          </a:xfrm>
          <a:prstGeom prst="rect">
            <a:avLst/>
          </a:prstGeom>
          <a:solidFill>
            <a:srgbClr val="E85F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6492240"/>
            <a:ext cx="3657600" cy="228600"/>
          </a:xfrm>
          <a:prstGeom prst="rect">
            <a:avLst/>
          </a:prstGeom>
          <a:noFill/>
        </p:spPr>
        <p:txBody>
          <a:bodyPr wrap="square">
            <a:spAutoFit/>
          </a:bodyPr>
          <a:lstStyle/>
          <a:p>
            <a:pPr>
              <a:defRPr sz="1000" b="1">
                <a:solidFill>
                  <a:srgbClr val="64696F"/>
                </a:solidFill>
                <a:latin typeface="Aptos"/>
              </a:defRPr>
            </a:pPr>
            <a:r>
              <a:t>ROSSMANN  /  STORE 800</a:t>
            </a:r>
          </a:p>
        </p:txBody>
      </p:sp>
      <p:sp>
        <p:nvSpPr>
          <p:cNvPr id="5" name="TextBox 4"/>
          <p:cNvSpPr txBox="1"/>
          <p:nvPr/>
        </p:nvSpPr>
        <p:spPr>
          <a:xfrm>
            <a:off x="8869680" y="6492240"/>
            <a:ext cx="2651760" cy="237744"/>
          </a:xfrm>
          <a:prstGeom prst="rect">
            <a:avLst/>
          </a:prstGeom>
          <a:noFill/>
        </p:spPr>
        <p:txBody>
          <a:bodyPr wrap="square">
            <a:spAutoFit/>
          </a:bodyPr>
          <a:lstStyle/>
          <a:p>
            <a:pPr>
              <a:defRPr sz="1000" b="1">
                <a:solidFill>
                  <a:srgbClr val="E85F11"/>
                </a:solidFill>
                <a:latin typeface="Aptos"/>
              </a:defRPr>
            </a:pPr>
            <a:r>
              <a:t>PRESENTED BY THE POD GROUP</a:t>
            </a:r>
          </a:p>
        </p:txBody>
      </p:sp>
      <p:sp>
        <p:nvSpPr>
          <p:cNvPr id="6" name="Rounded Rectangle 5"/>
          <p:cNvSpPr/>
          <p:nvPr/>
        </p:nvSpPr>
        <p:spPr>
          <a:xfrm>
            <a:off x="685800" y="1298448"/>
            <a:ext cx="10789920" cy="4480560"/>
          </a:xfrm>
          <a:prstGeom prst="roundRect">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1609344"/>
            <a:ext cx="4023360" cy="365760"/>
          </a:xfrm>
          <a:prstGeom prst="rect">
            <a:avLst/>
          </a:prstGeom>
          <a:noFill/>
        </p:spPr>
        <p:txBody>
          <a:bodyPr wrap="square">
            <a:spAutoFit/>
          </a:bodyPr>
          <a:lstStyle/>
          <a:p>
            <a:pPr>
              <a:defRPr sz="2000" b="1">
                <a:solidFill>
                  <a:srgbClr val="E85F11"/>
                </a:solidFill>
                <a:latin typeface="Aptos"/>
              </a:defRPr>
            </a:pPr>
            <a:r>
              <a:t>Model</a:t>
            </a:r>
          </a:p>
        </p:txBody>
      </p:sp>
      <p:sp>
        <p:nvSpPr>
          <p:cNvPr id="8" name="TextBox 7"/>
          <p:cNvSpPr txBox="1"/>
          <p:nvPr/>
        </p:nvSpPr>
        <p:spPr>
          <a:xfrm>
            <a:off x="5532120" y="1609344"/>
            <a:ext cx="2103120" cy="365760"/>
          </a:xfrm>
          <a:prstGeom prst="rect">
            <a:avLst/>
          </a:prstGeom>
          <a:noFill/>
        </p:spPr>
        <p:txBody>
          <a:bodyPr wrap="square">
            <a:spAutoFit/>
          </a:bodyPr>
          <a:lstStyle/>
          <a:p>
            <a:pPr>
              <a:defRPr sz="2000" b="1">
                <a:solidFill>
                  <a:srgbClr val="E85F11"/>
                </a:solidFill>
                <a:latin typeface="Aptos"/>
              </a:defRPr>
            </a:pPr>
            <a:r>
              <a:t>MAE</a:t>
            </a:r>
          </a:p>
        </p:txBody>
      </p:sp>
      <p:sp>
        <p:nvSpPr>
          <p:cNvPr id="9" name="TextBox 8"/>
          <p:cNvSpPr txBox="1"/>
          <p:nvPr/>
        </p:nvSpPr>
        <p:spPr>
          <a:xfrm>
            <a:off x="8321040" y="1609344"/>
            <a:ext cx="2103120" cy="365760"/>
          </a:xfrm>
          <a:prstGeom prst="rect">
            <a:avLst/>
          </a:prstGeom>
          <a:noFill/>
        </p:spPr>
        <p:txBody>
          <a:bodyPr wrap="square">
            <a:spAutoFit/>
          </a:bodyPr>
          <a:lstStyle/>
          <a:p>
            <a:pPr>
              <a:defRPr sz="2000" b="1">
                <a:solidFill>
                  <a:srgbClr val="E85F11"/>
                </a:solidFill>
                <a:latin typeface="Aptos"/>
              </a:defRPr>
            </a:pPr>
            <a:r>
              <a:t>RMSE</a:t>
            </a:r>
          </a:p>
        </p:txBody>
      </p:sp>
      <p:sp>
        <p:nvSpPr>
          <p:cNvPr id="10" name="Rounded Rectangle 9"/>
          <p:cNvSpPr/>
          <p:nvPr/>
        </p:nvSpPr>
        <p:spPr>
          <a:xfrm>
            <a:off x="886968" y="2130552"/>
            <a:ext cx="10314432" cy="521207"/>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1" y="2231136"/>
            <a:ext cx="4023360" cy="301752"/>
          </a:xfrm>
          <a:prstGeom prst="rect">
            <a:avLst/>
          </a:prstGeom>
          <a:noFill/>
        </p:spPr>
        <p:txBody>
          <a:bodyPr wrap="square">
            <a:spAutoFit/>
          </a:bodyPr>
          <a:lstStyle/>
          <a:p>
            <a:pPr>
              <a:defRPr sz="1700" b="1">
                <a:solidFill>
                  <a:srgbClr val="1A222B"/>
                </a:solidFill>
                <a:latin typeface="Aptos"/>
              </a:defRPr>
            </a:pPr>
            <a:r>
              <a:t>Seasonal Naive</a:t>
            </a:r>
          </a:p>
        </p:txBody>
      </p:sp>
      <p:sp>
        <p:nvSpPr>
          <p:cNvPr id="12" name="TextBox 11"/>
          <p:cNvSpPr txBox="1"/>
          <p:nvPr/>
        </p:nvSpPr>
        <p:spPr>
          <a:xfrm>
            <a:off x="5532120" y="2231136"/>
            <a:ext cx="2103120" cy="301752"/>
          </a:xfrm>
          <a:prstGeom prst="rect">
            <a:avLst/>
          </a:prstGeom>
          <a:noFill/>
        </p:spPr>
        <p:txBody>
          <a:bodyPr wrap="square">
            <a:spAutoFit/>
          </a:bodyPr>
          <a:lstStyle/>
          <a:p>
            <a:pPr>
              <a:defRPr sz="1700" b="1">
                <a:solidFill>
                  <a:srgbClr val="1A222B"/>
                </a:solidFill>
                <a:latin typeface="Aptos"/>
              </a:defRPr>
            </a:pPr>
            <a:r>
              <a:t>1,004.83</a:t>
            </a:r>
          </a:p>
        </p:txBody>
      </p:sp>
      <p:sp>
        <p:nvSpPr>
          <p:cNvPr id="13" name="TextBox 12"/>
          <p:cNvSpPr txBox="1"/>
          <p:nvPr/>
        </p:nvSpPr>
        <p:spPr>
          <a:xfrm>
            <a:off x="8321040" y="2231136"/>
            <a:ext cx="2103120" cy="301752"/>
          </a:xfrm>
          <a:prstGeom prst="rect">
            <a:avLst/>
          </a:prstGeom>
          <a:noFill/>
        </p:spPr>
        <p:txBody>
          <a:bodyPr wrap="square">
            <a:spAutoFit/>
          </a:bodyPr>
          <a:lstStyle/>
          <a:p>
            <a:pPr>
              <a:defRPr sz="1700" b="1">
                <a:solidFill>
                  <a:srgbClr val="1A222B"/>
                </a:solidFill>
                <a:latin typeface="Aptos"/>
              </a:defRPr>
            </a:pPr>
            <a:r>
              <a:t>1,479.89</a:t>
            </a:r>
          </a:p>
        </p:txBody>
      </p:sp>
      <p:sp>
        <p:nvSpPr>
          <p:cNvPr id="14" name="Rounded Rectangle 13"/>
          <p:cNvSpPr/>
          <p:nvPr/>
        </p:nvSpPr>
        <p:spPr>
          <a:xfrm>
            <a:off x="886968" y="2761488"/>
            <a:ext cx="10314432" cy="521207"/>
          </a:xfrm>
          <a:prstGeom prst="roundRect">
            <a:avLst/>
          </a:prstGeom>
          <a:solidFill>
            <a:srgbClr val="FA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1" y="2862072"/>
            <a:ext cx="4023360" cy="301752"/>
          </a:xfrm>
          <a:prstGeom prst="rect">
            <a:avLst/>
          </a:prstGeom>
          <a:noFill/>
        </p:spPr>
        <p:txBody>
          <a:bodyPr wrap="square">
            <a:spAutoFit/>
          </a:bodyPr>
          <a:lstStyle/>
          <a:p>
            <a:pPr>
              <a:defRPr sz="1700" b="1">
                <a:solidFill>
                  <a:srgbClr val="1A222B"/>
                </a:solidFill>
                <a:latin typeface="Aptos"/>
              </a:defRPr>
            </a:pPr>
            <a:r>
              <a:t>SARIMA</a:t>
            </a:r>
          </a:p>
        </p:txBody>
      </p:sp>
      <p:sp>
        <p:nvSpPr>
          <p:cNvPr id="16" name="TextBox 15"/>
          <p:cNvSpPr txBox="1"/>
          <p:nvPr/>
        </p:nvSpPr>
        <p:spPr>
          <a:xfrm>
            <a:off x="5532120" y="2862072"/>
            <a:ext cx="2103120" cy="301752"/>
          </a:xfrm>
          <a:prstGeom prst="rect">
            <a:avLst/>
          </a:prstGeom>
          <a:noFill/>
        </p:spPr>
        <p:txBody>
          <a:bodyPr wrap="square">
            <a:spAutoFit/>
          </a:bodyPr>
          <a:lstStyle/>
          <a:p>
            <a:pPr>
              <a:defRPr sz="1700" b="1">
                <a:solidFill>
                  <a:srgbClr val="1A222B"/>
                </a:solidFill>
                <a:latin typeface="Aptos"/>
              </a:defRPr>
            </a:pPr>
            <a:r>
              <a:t>1,187.07</a:t>
            </a:r>
          </a:p>
        </p:txBody>
      </p:sp>
      <p:sp>
        <p:nvSpPr>
          <p:cNvPr id="17" name="TextBox 16"/>
          <p:cNvSpPr txBox="1"/>
          <p:nvPr/>
        </p:nvSpPr>
        <p:spPr>
          <a:xfrm>
            <a:off x="8321040" y="2862072"/>
            <a:ext cx="2103120" cy="301752"/>
          </a:xfrm>
          <a:prstGeom prst="rect">
            <a:avLst/>
          </a:prstGeom>
          <a:noFill/>
        </p:spPr>
        <p:txBody>
          <a:bodyPr wrap="square">
            <a:spAutoFit/>
          </a:bodyPr>
          <a:lstStyle/>
          <a:p>
            <a:pPr>
              <a:defRPr sz="1700" b="1">
                <a:solidFill>
                  <a:srgbClr val="1A222B"/>
                </a:solidFill>
                <a:latin typeface="Aptos"/>
              </a:defRPr>
            </a:pPr>
            <a:r>
              <a:t>1,431.29</a:t>
            </a:r>
          </a:p>
        </p:txBody>
      </p:sp>
      <p:sp>
        <p:nvSpPr>
          <p:cNvPr id="18" name="Rounded Rectangle 17"/>
          <p:cNvSpPr/>
          <p:nvPr/>
        </p:nvSpPr>
        <p:spPr>
          <a:xfrm>
            <a:off x="886968" y="3392424"/>
            <a:ext cx="10314432" cy="521207"/>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1" y="3493008"/>
            <a:ext cx="4023360" cy="301752"/>
          </a:xfrm>
          <a:prstGeom prst="rect">
            <a:avLst/>
          </a:prstGeom>
          <a:noFill/>
        </p:spPr>
        <p:txBody>
          <a:bodyPr wrap="square">
            <a:spAutoFit/>
          </a:bodyPr>
          <a:lstStyle/>
          <a:p>
            <a:pPr>
              <a:defRPr sz="1700" b="0">
                <a:solidFill>
                  <a:srgbClr val="1A222B"/>
                </a:solidFill>
                <a:latin typeface="Aptos"/>
              </a:defRPr>
            </a:pPr>
            <a:r>
              <a:t>Naive</a:t>
            </a:r>
          </a:p>
        </p:txBody>
      </p:sp>
      <p:sp>
        <p:nvSpPr>
          <p:cNvPr id="20" name="TextBox 19"/>
          <p:cNvSpPr txBox="1"/>
          <p:nvPr/>
        </p:nvSpPr>
        <p:spPr>
          <a:xfrm>
            <a:off x="5532120" y="3493008"/>
            <a:ext cx="2103120" cy="301752"/>
          </a:xfrm>
          <a:prstGeom prst="rect">
            <a:avLst/>
          </a:prstGeom>
          <a:noFill/>
        </p:spPr>
        <p:txBody>
          <a:bodyPr wrap="square">
            <a:spAutoFit/>
          </a:bodyPr>
          <a:lstStyle/>
          <a:p>
            <a:pPr>
              <a:defRPr sz="1700" b="0">
                <a:solidFill>
                  <a:srgbClr val="1A222B"/>
                </a:solidFill>
                <a:latin typeface="Aptos"/>
              </a:defRPr>
            </a:pPr>
            <a:r>
              <a:t>1,449.17</a:t>
            </a:r>
          </a:p>
        </p:txBody>
      </p:sp>
      <p:sp>
        <p:nvSpPr>
          <p:cNvPr id="21" name="TextBox 20"/>
          <p:cNvSpPr txBox="1"/>
          <p:nvPr/>
        </p:nvSpPr>
        <p:spPr>
          <a:xfrm>
            <a:off x="8321040" y="3493008"/>
            <a:ext cx="2103120" cy="301752"/>
          </a:xfrm>
          <a:prstGeom prst="rect">
            <a:avLst/>
          </a:prstGeom>
          <a:noFill/>
        </p:spPr>
        <p:txBody>
          <a:bodyPr wrap="square">
            <a:spAutoFit/>
          </a:bodyPr>
          <a:lstStyle/>
          <a:p>
            <a:pPr>
              <a:defRPr sz="1700" b="0">
                <a:solidFill>
                  <a:srgbClr val="1A222B"/>
                </a:solidFill>
                <a:latin typeface="Aptos"/>
              </a:defRPr>
            </a:pPr>
            <a:r>
              <a:t>1,976.13</a:t>
            </a:r>
          </a:p>
        </p:txBody>
      </p:sp>
      <p:sp>
        <p:nvSpPr>
          <p:cNvPr id="22" name="Rounded Rectangle 21"/>
          <p:cNvSpPr/>
          <p:nvPr/>
        </p:nvSpPr>
        <p:spPr>
          <a:xfrm>
            <a:off x="886968" y="4023360"/>
            <a:ext cx="10314432" cy="521207"/>
          </a:xfrm>
          <a:prstGeom prst="roundRect">
            <a:avLst/>
          </a:prstGeom>
          <a:solidFill>
            <a:srgbClr val="FA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1" y="4123944"/>
            <a:ext cx="4023360" cy="301752"/>
          </a:xfrm>
          <a:prstGeom prst="rect">
            <a:avLst/>
          </a:prstGeom>
          <a:noFill/>
        </p:spPr>
        <p:txBody>
          <a:bodyPr wrap="square">
            <a:spAutoFit/>
          </a:bodyPr>
          <a:lstStyle/>
          <a:p>
            <a:pPr>
              <a:defRPr sz="1700" b="0">
                <a:solidFill>
                  <a:srgbClr val="1A222B"/>
                </a:solidFill>
                <a:latin typeface="Aptos"/>
              </a:defRPr>
            </a:pPr>
            <a:r>
              <a:t>Drift</a:t>
            </a:r>
          </a:p>
        </p:txBody>
      </p:sp>
      <p:sp>
        <p:nvSpPr>
          <p:cNvPr id="24" name="TextBox 23"/>
          <p:cNvSpPr txBox="1"/>
          <p:nvPr/>
        </p:nvSpPr>
        <p:spPr>
          <a:xfrm>
            <a:off x="5532120" y="4123944"/>
            <a:ext cx="2103120" cy="301752"/>
          </a:xfrm>
          <a:prstGeom prst="rect">
            <a:avLst/>
          </a:prstGeom>
          <a:noFill/>
        </p:spPr>
        <p:txBody>
          <a:bodyPr wrap="square">
            <a:spAutoFit/>
          </a:bodyPr>
          <a:lstStyle/>
          <a:p>
            <a:pPr>
              <a:defRPr sz="1700" b="0">
                <a:solidFill>
                  <a:srgbClr val="1A222B"/>
                </a:solidFill>
                <a:latin typeface="Aptos"/>
              </a:defRPr>
            </a:pPr>
            <a:r>
              <a:t>1,450.92</a:t>
            </a:r>
          </a:p>
        </p:txBody>
      </p:sp>
      <p:sp>
        <p:nvSpPr>
          <p:cNvPr id="25" name="TextBox 24"/>
          <p:cNvSpPr txBox="1"/>
          <p:nvPr/>
        </p:nvSpPr>
        <p:spPr>
          <a:xfrm>
            <a:off x="8321040" y="4123944"/>
            <a:ext cx="2103120" cy="301752"/>
          </a:xfrm>
          <a:prstGeom prst="rect">
            <a:avLst/>
          </a:prstGeom>
          <a:noFill/>
        </p:spPr>
        <p:txBody>
          <a:bodyPr wrap="square">
            <a:spAutoFit/>
          </a:bodyPr>
          <a:lstStyle/>
          <a:p>
            <a:pPr>
              <a:defRPr sz="1700" b="0">
                <a:solidFill>
                  <a:srgbClr val="1A222B"/>
                </a:solidFill>
                <a:latin typeface="Aptos"/>
              </a:defRPr>
            </a:pPr>
            <a:r>
              <a:t>1,993.41</a:t>
            </a:r>
          </a:p>
        </p:txBody>
      </p:sp>
      <p:sp>
        <p:nvSpPr>
          <p:cNvPr id="26" name="Rounded Rectangle 25"/>
          <p:cNvSpPr/>
          <p:nvPr/>
        </p:nvSpPr>
        <p:spPr>
          <a:xfrm>
            <a:off x="886968" y="4654296"/>
            <a:ext cx="10314432" cy="521207"/>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33271" y="4754880"/>
            <a:ext cx="4023360" cy="301752"/>
          </a:xfrm>
          <a:prstGeom prst="rect">
            <a:avLst/>
          </a:prstGeom>
          <a:noFill/>
        </p:spPr>
        <p:txBody>
          <a:bodyPr wrap="square">
            <a:spAutoFit/>
          </a:bodyPr>
          <a:lstStyle/>
          <a:p>
            <a:pPr>
              <a:defRPr sz="1700" b="0">
                <a:solidFill>
                  <a:srgbClr val="1A222B"/>
                </a:solidFill>
                <a:latin typeface="Aptos"/>
              </a:defRPr>
            </a:pPr>
            <a:r>
              <a:t>Moving Average</a:t>
            </a:r>
          </a:p>
        </p:txBody>
      </p:sp>
      <p:sp>
        <p:nvSpPr>
          <p:cNvPr id="28" name="TextBox 27"/>
          <p:cNvSpPr txBox="1"/>
          <p:nvPr/>
        </p:nvSpPr>
        <p:spPr>
          <a:xfrm>
            <a:off x="5532120" y="4754880"/>
            <a:ext cx="2103120" cy="301752"/>
          </a:xfrm>
          <a:prstGeom prst="rect">
            <a:avLst/>
          </a:prstGeom>
          <a:noFill/>
        </p:spPr>
        <p:txBody>
          <a:bodyPr wrap="square">
            <a:spAutoFit/>
          </a:bodyPr>
          <a:lstStyle/>
          <a:p>
            <a:pPr>
              <a:defRPr sz="1700" b="0">
                <a:solidFill>
                  <a:srgbClr val="1A222B"/>
                </a:solidFill>
                <a:latin typeface="Aptos"/>
              </a:defRPr>
            </a:pPr>
            <a:r>
              <a:t>1,471.68</a:t>
            </a:r>
          </a:p>
        </p:txBody>
      </p:sp>
      <p:sp>
        <p:nvSpPr>
          <p:cNvPr id="29" name="TextBox 28"/>
          <p:cNvSpPr txBox="1"/>
          <p:nvPr/>
        </p:nvSpPr>
        <p:spPr>
          <a:xfrm>
            <a:off x="8321040" y="4754880"/>
            <a:ext cx="2103120" cy="301752"/>
          </a:xfrm>
          <a:prstGeom prst="rect">
            <a:avLst/>
          </a:prstGeom>
          <a:noFill/>
        </p:spPr>
        <p:txBody>
          <a:bodyPr wrap="square">
            <a:spAutoFit/>
          </a:bodyPr>
          <a:lstStyle/>
          <a:p>
            <a:pPr>
              <a:defRPr sz="1700" b="0">
                <a:solidFill>
                  <a:srgbClr val="1A222B"/>
                </a:solidFill>
                <a:latin typeface="Aptos"/>
              </a:defRPr>
            </a:pPr>
            <a:r>
              <a:t>2,019.25</a:t>
            </a:r>
          </a:p>
        </p:txBody>
      </p:sp>
      <p:sp>
        <p:nvSpPr>
          <p:cNvPr id="30" name="TextBox 29"/>
          <p:cNvSpPr txBox="1"/>
          <p:nvPr/>
        </p:nvSpPr>
        <p:spPr>
          <a:xfrm>
            <a:off x="914400" y="5925312"/>
            <a:ext cx="10424160" cy="411480"/>
          </a:xfrm>
          <a:prstGeom prst="rect">
            <a:avLst/>
          </a:prstGeom>
          <a:noFill/>
        </p:spPr>
        <p:txBody>
          <a:bodyPr wrap="square">
            <a:spAutoFit/>
          </a:bodyPr>
          <a:lstStyle/>
          <a:p>
            <a:pPr>
              <a:defRPr sz="1600" b="1">
                <a:solidFill>
                  <a:srgbClr val="1A222B"/>
                </a:solidFill>
                <a:latin typeface="Aptos"/>
              </a:defRPr>
            </a:pPr>
            <a:r>
              <a:t>NO UNANIMOUS WINNER: Seasonal Naive leads holdout MAE; SARIMA leads holdout RMSE and rolling averages.</a:t>
            </a:r>
          </a:p>
        </p:txBody>
      </p:sp>
      <p:sp>
        <p:nvSpPr>
          <p:cNvPr id="31" name="TextBox 30"/>
          <p:cNvSpPr txBox="1"/>
          <p:nvPr/>
        </p:nvSpPr>
        <p:spPr>
          <a:xfrm>
            <a:off x="11112703" y="6547104"/>
            <a:ext cx="749808" cy="192024"/>
          </a:xfrm>
          <a:prstGeom prst="rect">
            <a:avLst/>
          </a:prstGeom>
          <a:noFill/>
        </p:spPr>
        <p:txBody>
          <a:bodyPr wrap="square">
            <a:spAutoFit/>
          </a:bodyPr>
          <a:lstStyle/>
          <a:p>
            <a:r>
              <a:rPr sz="800"/>
              <a:t>22 / 29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972800" cy="594360"/>
          </a:xfrm>
          <a:prstGeom prst="rect">
            <a:avLst/>
          </a:prstGeom>
          <a:noFill/>
        </p:spPr>
        <p:txBody>
          <a:bodyPr wrap="square">
            <a:spAutoFit/>
          </a:bodyPr>
          <a:lstStyle/>
          <a:p>
            <a:pPr>
              <a:defRPr sz="2700" b="1">
                <a:solidFill>
                  <a:srgbClr val="1B232C"/>
                </a:solidFill>
                <a:latin typeface="Aptos"/>
              </a:defRPr>
            </a:pPr>
            <a:r>
              <a:t>3.5.2 SARIMA Residual Diagnostic Analysis</a:t>
            </a:r>
          </a:p>
        </p:txBody>
      </p:sp>
      <p:sp>
        <p:nvSpPr>
          <p:cNvPr id="3" name="Rectangle 2"/>
          <p:cNvSpPr/>
          <p:nvPr/>
        </p:nvSpPr>
        <p:spPr>
          <a:xfrm>
            <a:off x="594360" y="950976"/>
            <a:ext cx="822960" cy="54864"/>
          </a:xfrm>
          <a:prstGeom prst="rect">
            <a:avLst/>
          </a:prstGeom>
          <a:solidFill>
            <a:srgbClr val="E85F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492240"/>
            <a:ext cx="3657600" cy="210312"/>
          </a:xfrm>
          <a:prstGeom prst="rect">
            <a:avLst/>
          </a:prstGeom>
          <a:noFill/>
        </p:spPr>
        <p:txBody>
          <a:bodyPr wrap="square">
            <a:spAutoFit/>
          </a:bodyPr>
          <a:lstStyle/>
          <a:p>
            <a:pPr>
              <a:defRPr sz="1000" b="1">
                <a:solidFill>
                  <a:srgbClr val="676B6F"/>
                </a:solidFill>
                <a:latin typeface="Aptos"/>
              </a:defRPr>
            </a:pPr>
            <a:r>
              <a:t>ROSSMANN  /  STORE 800</a:t>
            </a:r>
          </a:p>
        </p:txBody>
      </p:sp>
      <p:sp>
        <p:nvSpPr>
          <p:cNvPr id="5" name="TextBox 4"/>
          <p:cNvSpPr txBox="1"/>
          <p:nvPr/>
        </p:nvSpPr>
        <p:spPr>
          <a:xfrm>
            <a:off x="8119872" y="6492240"/>
            <a:ext cx="3291840" cy="210312"/>
          </a:xfrm>
          <a:prstGeom prst="rect">
            <a:avLst/>
          </a:prstGeom>
          <a:noFill/>
        </p:spPr>
        <p:txBody>
          <a:bodyPr wrap="square">
            <a:spAutoFit/>
          </a:bodyPr>
          <a:lstStyle/>
          <a:p>
            <a:pPr>
              <a:defRPr sz="1000" b="1">
                <a:solidFill>
                  <a:srgbClr val="E85F11"/>
                </a:solidFill>
                <a:latin typeface="Aptos"/>
              </a:defRPr>
            </a:pPr>
            <a:r>
              <a:t>PRESENTED BY THE POD GROUP</a:t>
            </a:r>
          </a:p>
        </p:txBody>
      </p:sp>
      <p:sp>
        <p:nvSpPr>
          <p:cNvPr id="6" name="TextBox 5"/>
          <p:cNvSpPr txBox="1"/>
          <p:nvPr/>
        </p:nvSpPr>
        <p:spPr>
          <a:xfrm>
            <a:off x="11112703" y="6547104"/>
            <a:ext cx="749808" cy="192024"/>
          </a:xfrm>
          <a:prstGeom prst="rect">
            <a:avLst/>
          </a:prstGeom>
          <a:noFill/>
        </p:spPr>
        <p:txBody>
          <a:bodyPr wrap="square">
            <a:spAutoFit/>
          </a:bodyPr>
          <a:lstStyle/>
          <a:p>
            <a:pPr>
              <a:defRPr sz="1000" b="0">
                <a:solidFill>
                  <a:srgbClr val="676B6F"/>
                </a:solidFill>
                <a:latin typeface="Aptos"/>
              </a:defRPr>
            </a:pPr>
            <a:r>
              <a:rPr sz="800"/>
              <a:t>23 / 29</a:t>
            </a:r>
          </a:p>
        </p:txBody>
      </p:sp>
      <p:sp>
        <p:nvSpPr>
          <p:cNvPr id="7" name="Rounded Rectangle 6"/>
          <p:cNvSpPr/>
          <p:nvPr/>
        </p:nvSpPr>
        <p:spPr>
          <a:xfrm>
            <a:off x="685800" y="1307592"/>
            <a:ext cx="10835640" cy="3493008"/>
          </a:xfrm>
          <a:prstGeom prst="roundRect">
            <a:avLst/>
          </a:prstGeom>
          <a:solidFill>
            <a:srgbClr val="F4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886968" y="1572768"/>
            <a:ext cx="10387584" cy="3218688"/>
          </a:xfrm>
          <a:prstGeom prst="rect">
            <a:avLst/>
          </a:prstGeom>
        </p:spPr>
      </p:pic>
      <p:sp>
        <p:nvSpPr>
          <p:cNvPr id="9" name="Rounded Rectangle 8"/>
          <p:cNvSpPr/>
          <p:nvPr/>
        </p:nvSpPr>
        <p:spPr>
          <a:xfrm>
            <a:off x="685800" y="4992624"/>
            <a:ext cx="10835640" cy="1243584"/>
          </a:xfrm>
          <a:prstGeom prst="roundRect">
            <a:avLst/>
          </a:prstGeom>
          <a:solidFill>
            <a:srgbClr val="1B23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 y="5202936"/>
            <a:ext cx="10195560" cy="822960"/>
          </a:xfrm>
          <a:prstGeom prst="rect">
            <a:avLst/>
          </a:prstGeom>
          <a:noFill/>
        </p:spPr>
        <p:txBody>
          <a:bodyPr wrap="square">
            <a:spAutoFit/>
          </a:bodyPr>
          <a:lstStyle/>
          <a:p>
            <a:pPr>
              <a:defRPr sz="1700" b="0">
                <a:solidFill>
                  <a:srgbClr val="FFFFFF"/>
                </a:solidFill>
                <a:latin typeface="Aptos"/>
              </a:defRPr>
            </a:pPr>
            <a:r>
              <a:t>Residuals fluctuate around zero with noticeable positive and negative deviations. Ljung–Box p-values at lags 7, 14, 21 and 28 were all below 0.05, indicating remaining residual autocorrelation.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83464"/>
            <a:ext cx="10972800" cy="585216"/>
          </a:xfrm>
          <a:prstGeom prst="rect">
            <a:avLst/>
          </a:prstGeom>
          <a:noFill/>
        </p:spPr>
        <p:txBody>
          <a:bodyPr wrap="square">
            <a:spAutoFit/>
          </a:bodyPr>
          <a:lstStyle/>
          <a:p>
            <a:pPr>
              <a:defRPr sz="2600" b="1">
                <a:solidFill>
                  <a:srgbClr val="1B232C"/>
                </a:solidFill>
                <a:latin typeface="Aptos"/>
              </a:defRPr>
            </a:pPr>
            <a:r>
              <a:t>3.5.2 Q–Q Plot of SARIMA Model Residuals</a:t>
            </a:r>
          </a:p>
        </p:txBody>
      </p:sp>
      <p:sp>
        <p:nvSpPr>
          <p:cNvPr id="3" name="Rectangle 2"/>
          <p:cNvSpPr/>
          <p:nvPr/>
        </p:nvSpPr>
        <p:spPr>
          <a:xfrm>
            <a:off x="594360" y="950976"/>
            <a:ext cx="822960" cy="54864"/>
          </a:xfrm>
          <a:prstGeom prst="rect">
            <a:avLst/>
          </a:prstGeom>
          <a:solidFill>
            <a:srgbClr val="E85F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483096"/>
            <a:ext cx="3657600" cy="201168"/>
          </a:xfrm>
          <a:prstGeom prst="rect">
            <a:avLst/>
          </a:prstGeom>
          <a:noFill/>
        </p:spPr>
        <p:txBody>
          <a:bodyPr wrap="square">
            <a:spAutoFit/>
          </a:bodyPr>
          <a:lstStyle/>
          <a:p>
            <a:pPr>
              <a:defRPr sz="1000" b="1">
                <a:solidFill>
                  <a:srgbClr val="66696D"/>
                </a:solidFill>
                <a:latin typeface="Aptos"/>
              </a:defRPr>
            </a:pPr>
            <a:r>
              <a:t>ROSSMANN  /  STORE 800</a:t>
            </a:r>
          </a:p>
        </p:txBody>
      </p:sp>
      <p:sp>
        <p:nvSpPr>
          <p:cNvPr id="5" name="TextBox 4"/>
          <p:cNvSpPr txBox="1"/>
          <p:nvPr/>
        </p:nvSpPr>
        <p:spPr>
          <a:xfrm>
            <a:off x="8138160" y="6483096"/>
            <a:ext cx="3200400" cy="201168"/>
          </a:xfrm>
          <a:prstGeom prst="rect">
            <a:avLst/>
          </a:prstGeom>
          <a:noFill/>
        </p:spPr>
        <p:txBody>
          <a:bodyPr wrap="square">
            <a:spAutoFit/>
          </a:bodyPr>
          <a:lstStyle/>
          <a:p>
            <a:pPr>
              <a:defRPr sz="1000" b="1">
                <a:solidFill>
                  <a:srgbClr val="E85F11"/>
                </a:solidFill>
                <a:latin typeface="Aptos"/>
              </a:defRPr>
            </a:pPr>
            <a:r>
              <a:t>PRESENTED BY THE POD GROUP</a:t>
            </a:r>
          </a:p>
        </p:txBody>
      </p:sp>
      <p:sp>
        <p:nvSpPr>
          <p:cNvPr id="6" name="TextBox 5"/>
          <p:cNvSpPr txBox="1"/>
          <p:nvPr/>
        </p:nvSpPr>
        <p:spPr>
          <a:xfrm>
            <a:off x="11112703" y="6547104"/>
            <a:ext cx="749808" cy="192024"/>
          </a:xfrm>
          <a:prstGeom prst="rect">
            <a:avLst/>
          </a:prstGeom>
          <a:noFill/>
        </p:spPr>
        <p:txBody>
          <a:bodyPr wrap="square">
            <a:spAutoFit/>
          </a:bodyPr>
          <a:lstStyle/>
          <a:p>
            <a:pPr>
              <a:defRPr sz="1000" b="0">
                <a:solidFill>
                  <a:srgbClr val="66696D"/>
                </a:solidFill>
                <a:latin typeface="Aptos"/>
              </a:defRPr>
            </a:pPr>
            <a:r>
              <a:rPr sz="800"/>
              <a:t>24 / 29</a:t>
            </a:r>
          </a:p>
        </p:txBody>
      </p:sp>
      <p:sp>
        <p:nvSpPr>
          <p:cNvPr id="7" name="Rounded Rectangle 6"/>
          <p:cNvSpPr/>
          <p:nvPr/>
        </p:nvSpPr>
        <p:spPr>
          <a:xfrm>
            <a:off x="621792" y="1335024"/>
            <a:ext cx="7543800" cy="4709160"/>
          </a:xfrm>
          <a:prstGeom prst="roundRect">
            <a:avLst/>
          </a:prstGeom>
          <a:solidFill>
            <a:srgbClr val="F4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3"/>
          <a:stretch>
            <a:fillRect/>
          </a:stretch>
        </p:blipFill>
        <p:spPr>
          <a:xfrm>
            <a:off x="1143526" y="1572768"/>
            <a:ext cx="6500331" cy="4251960"/>
          </a:xfrm>
          <a:prstGeom prst="rect">
            <a:avLst/>
          </a:prstGeom>
        </p:spPr>
      </p:pic>
      <p:sp>
        <p:nvSpPr>
          <p:cNvPr id="9" name="Rounded Rectangle 8"/>
          <p:cNvSpPr/>
          <p:nvPr/>
        </p:nvSpPr>
        <p:spPr>
          <a:xfrm>
            <a:off x="8339327" y="1335024"/>
            <a:ext cx="3182112" cy="4709160"/>
          </a:xfrm>
          <a:prstGeom prst="roundRect">
            <a:avLst/>
          </a:prstGeom>
          <a:solidFill>
            <a:srgbClr val="1B23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0" y="1673352"/>
            <a:ext cx="2697480" cy="658368"/>
          </a:xfrm>
          <a:prstGeom prst="rect">
            <a:avLst/>
          </a:prstGeom>
          <a:noFill/>
        </p:spPr>
        <p:txBody>
          <a:bodyPr wrap="square">
            <a:spAutoFit/>
          </a:bodyPr>
          <a:lstStyle/>
          <a:p>
            <a:pPr>
              <a:defRPr sz="1900" b="1">
                <a:solidFill>
                  <a:srgbClr val="E85F11"/>
                </a:solidFill>
                <a:latin typeface="Aptos"/>
              </a:defRPr>
            </a:pPr>
            <a:r>
              <a:t>WHAT THE PLOT SHOWS</a:t>
            </a:r>
          </a:p>
        </p:txBody>
      </p:sp>
      <p:sp>
        <p:nvSpPr>
          <p:cNvPr id="11" name="TextBox 10"/>
          <p:cNvSpPr txBox="1"/>
          <p:nvPr/>
        </p:nvSpPr>
        <p:spPr>
          <a:xfrm>
            <a:off x="8595360" y="2569464"/>
            <a:ext cx="2624328" cy="1554480"/>
          </a:xfrm>
          <a:prstGeom prst="rect">
            <a:avLst/>
          </a:prstGeom>
          <a:noFill/>
        </p:spPr>
        <p:txBody>
          <a:bodyPr wrap="square">
            <a:spAutoFit/>
          </a:bodyPr>
          <a:lstStyle/>
          <a:p>
            <a:pPr>
              <a:defRPr sz="2000" b="1">
                <a:solidFill>
                  <a:srgbClr val="FFFFFF"/>
                </a:solidFill>
                <a:latin typeface="Aptos"/>
              </a:defRPr>
            </a:pPr>
            <a:r>
              <a:t>The residuals deviate from the expected normal distribution.</a:t>
            </a:r>
          </a:p>
        </p:txBody>
      </p:sp>
      <p:sp>
        <p:nvSpPr>
          <p:cNvPr id="12" name="TextBox 11"/>
          <p:cNvSpPr txBox="1"/>
          <p:nvPr/>
        </p:nvSpPr>
        <p:spPr>
          <a:xfrm>
            <a:off x="8595360" y="4343400"/>
            <a:ext cx="2660904" cy="1325880"/>
          </a:xfrm>
          <a:prstGeom prst="rect">
            <a:avLst/>
          </a:prstGeom>
          <a:noFill/>
        </p:spPr>
        <p:txBody>
          <a:bodyPr wrap="square">
            <a:spAutoFit/>
          </a:bodyPr>
          <a:lstStyle/>
          <a:p>
            <a:pPr>
              <a:defRPr sz="1600" b="0">
                <a:solidFill>
                  <a:srgbClr val="FFFFFF"/>
                </a:solidFill>
                <a:latin typeface="Aptos"/>
              </a:defRPr>
            </a:pPr>
            <a:r>
              <a:t>The Q–Q plot therefore indicates that the residuals were not perfectly normally distributed.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74320"/>
            <a:ext cx="10972800" cy="594360"/>
          </a:xfrm>
          <a:prstGeom prst="rect">
            <a:avLst/>
          </a:prstGeom>
          <a:noFill/>
        </p:spPr>
        <p:txBody>
          <a:bodyPr wrap="square">
            <a:spAutoFit/>
          </a:bodyPr>
          <a:lstStyle/>
          <a:p>
            <a:pPr>
              <a:defRPr sz="2700" b="1">
                <a:solidFill>
                  <a:srgbClr val="1B232C"/>
                </a:solidFill>
                <a:latin typeface="Aptos"/>
              </a:defRPr>
            </a:pPr>
            <a:r>
              <a:t>3.5.3 Rolling-Origin Backtesting</a:t>
            </a:r>
          </a:p>
        </p:txBody>
      </p:sp>
      <p:sp>
        <p:nvSpPr>
          <p:cNvPr id="3" name="Rectangle 2"/>
          <p:cNvSpPr/>
          <p:nvPr/>
        </p:nvSpPr>
        <p:spPr>
          <a:xfrm>
            <a:off x="594360" y="950976"/>
            <a:ext cx="822960" cy="54864"/>
          </a:xfrm>
          <a:prstGeom prst="rect">
            <a:avLst/>
          </a:prstGeom>
          <a:solidFill>
            <a:srgbClr val="E85F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492240"/>
            <a:ext cx="3657600" cy="210312"/>
          </a:xfrm>
          <a:prstGeom prst="rect">
            <a:avLst/>
          </a:prstGeom>
          <a:noFill/>
        </p:spPr>
        <p:txBody>
          <a:bodyPr wrap="square">
            <a:spAutoFit/>
          </a:bodyPr>
          <a:lstStyle/>
          <a:p>
            <a:pPr>
              <a:defRPr sz="1000" b="1">
                <a:solidFill>
                  <a:srgbClr val="676B6F"/>
                </a:solidFill>
                <a:latin typeface="Aptos"/>
              </a:defRPr>
            </a:pPr>
            <a:r>
              <a:t>ROSSMANN  /  STORE 800</a:t>
            </a:r>
          </a:p>
        </p:txBody>
      </p:sp>
      <p:sp>
        <p:nvSpPr>
          <p:cNvPr id="5" name="TextBox 4"/>
          <p:cNvSpPr txBox="1"/>
          <p:nvPr/>
        </p:nvSpPr>
        <p:spPr>
          <a:xfrm>
            <a:off x="8119872" y="6492240"/>
            <a:ext cx="3291840" cy="210312"/>
          </a:xfrm>
          <a:prstGeom prst="rect">
            <a:avLst/>
          </a:prstGeom>
          <a:noFill/>
        </p:spPr>
        <p:txBody>
          <a:bodyPr wrap="square">
            <a:spAutoFit/>
          </a:bodyPr>
          <a:lstStyle/>
          <a:p>
            <a:pPr>
              <a:defRPr sz="1000" b="1">
                <a:solidFill>
                  <a:srgbClr val="E85F11"/>
                </a:solidFill>
                <a:latin typeface="Aptos"/>
              </a:defRPr>
            </a:pPr>
            <a:r>
              <a:t>PRESENTED BY THE POD GROUP</a:t>
            </a:r>
          </a:p>
        </p:txBody>
      </p:sp>
      <p:sp>
        <p:nvSpPr>
          <p:cNvPr id="6" name="TextBox 5"/>
          <p:cNvSpPr txBox="1"/>
          <p:nvPr/>
        </p:nvSpPr>
        <p:spPr>
          <a:xfrm>
            <a:off x="11112703" y="6547104"/>
            <a:ext cx="749808" cy="192024"/>
          </a:xfrm>
          <a:prstGeom prst="rect">
            <a:avLst/>
          </a:prstGeom>
          <a:noFill/>
        </p:spPr>
        <p:txBody>
          <a:bodyPr wrap="square">
            <a:spAutoFit/>
          </a:bodyPr>
          <a:lstStyle/>
          <a:p>
            <a:pPr>
              <a:defRPr sz="1000" b="0">
                <a:solidFill>
                  <a:srgbClr val="676B6F"/>
                </a:solidFill>
                <a:latin typeface="Aptos"/>
              </a:defRPr>
            </a:pPr>
            <a:r>
              <a:rPr sz="800"/>
              <a:t>25 / 29</a:t>
            </a:r>
          </a:p>
        </p:txBody>
      </p:sp>
      <p:sp>
        <p:nvSpPr>
          <p:cNvPr id="7" name="Rounded Rectangle 6"/>
          <p:cNvSpPr/>
          <p:nvPr/>
        </p:nvSpPr>
        <p:spPr>
          <a:xfrm>
            <a:off x="667512" y="1353312"/>
            <a:ext cx="5276088" cy="4544568"/>
          </a:xfrm>
          <a:prstGeom prst="roundRect">
            <a:avLst/>
          </a:prstGeom>
          <a:solidFill>
            <a:srgbClr val="1B23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1832" y="1645920"/>
            <a:ext cx="4572000" cy="457200"/>
          </a:xfrm>
          <a:prstGeom prst="rect">
            <a:avLst/>
          </a:prstGeom>
          <a:noFill/>
        </p:spPr>
        <p:txBody>
          <a:bodyPr wrap="square">
            <a:spAutoFit/>
          </a:bodyPr>
          <a:lstStyle/>
          <a:p>
            <a:pPr>
              <a:defRPr sz="2100" b="1">
                <a:solidFill>
                  <a:srgbClr val="E85F11"/>
                </a:solidFill>
                <a:latin typeface="Aptos"/>
              </a:defRPr>
            </a:pPr>
            <a:r>
              <a:t>BACKTEST DESIGN</a:t>
            </a:r>
          </a:p>
        </p:txBody>
      </p:sp>
      <p:sp>
        <p:nvSpPr>
          <p:cNvPr id="9" name="TextBox 8"/>
          <p:cNvSpPr txBox="1"/>
          <p:nvPr/>
        </p:nvSpPr>
        <p:spPr>
          <a:xfrm>
            <a:off x="950976" y="2258568"/>
            <a:ext cx="2103120" cy="576072"/>
          </a:xfrm>
          <a:prstGeom prst="rect">
            <a:avLst/>
          </a:prstGeom>
          <a:noFill/>
        </p:spPr>
        <p:txBody>
          <a:bodyPr wrap="square">
            <a:spAutoFit/>
          </a:bodyPr>
          <a:lstStyle/>
          <a:p>
            <a:pPr>
              <a:defRPr sz="3000" b="1">
                <a:solidFill>
                  <a:srgbClr val="FFFFFF"/>
                </a:solidFill>
                <a:latin typeface="Aptos"/>
              </a:defRPr>
            </a:pPr>
            <a:r>
              <a:t>700</a:t>
            </a:r>
          </a:p>
        </p:txBody>
      </p:sp>
      <p:sp>
        <p:nvSpPr>
          <p:cNvPr id="10" name="TextBox 9"/>
          <p:cNvSpPr txBox="1"/>
          <p:nvPr/>
        </p:nvSpPr>
        <p:spPr>
          <a:xfrm>
            <a:off x="2423160" y="2414016"/>
            <a:ext cx="2880360" cy="420624"/>
          </a:xfrm>
          <a:prstGeom prst="rect">
            <a:avLst/>
          </a:prstGeom>
          <a:noFill/>
        </p:spPr>
        <p:txBody>
          <a:bodyPr wrap="square">
            <a:spAutoFit/>
          </a:bodyPr>
          <a:lstStyle/>
          <a:p>
            <a:pPr>
              <a:defRPr sz="1700" b="0">
                <a:solidFill>
                  <a:srgbClr val="FFFFFF"/>
                </a:solidFill>
                <a:latin typeface="Aptos"/>
              </a:defRPr>
            </a:pPr>
            <a:r>
              <a:t>starting observations</a:t>
            </a:r>
          </a:p>
        </p:txBody>
      </p:sp>
      <p:sp>
        <p:nvSpPr>
          <p:cNvPr id="11" name="TextBox 10"/>
          <p:cNvSpPr txBox="1"/>
          <p:nvPr/>
        </p:nvSpPr>
        <p:spPr>
          <a:xfrm>
            <a:off x="960120" y="3236976"/>
            <a:ext cx="4590288" cy="502920"/>
          </a:xfrm>
          <a:prstGeom prst="rect">
            <a:avLst/>
          </a:prstGeom>
          <a:noFill/>
        </p:spPr>
        <p:txBody>
          <a:bodyPr wrap="square">
            <a:spAutoFit/>
          </a:bodyPr>
          <a:lstStyle/>
          <a:p>
            <a:pPr>
              <a:defRPr sz="2300" b="1">
                <a:solidFill>
                  <a:srgbClr val="FFFFFF"/>
                </a:solidFill>
                <a:latin typeface="Aptos"/>
              </a:defRPr>
            </a:pPr>
            <a:r>
              <a:t>9 windows  •  7 days each</a:t>
            </a:r>
          </a:p>
        </p:txBody>
      </p:sp>
      <p:sp>
        <p:nvSpPr>
          <p:cNvPr id="12" name="TextBox 11"/>
          <p:cNvSpPr txBox="1"/>
          <p:nvPr/>
        </p:nvSpPr>
        <p:spPr>
          <a:xfrm>
            <a:off x="960120" y="4160520"/>
            <a:ext cx="4572000" cy="1143000"/>
          </a:xfrm>
          <a:prstGeom prst="rect">
            <a:avLst/>
          </a:prstGeom>
          <a:noFill/>
        </p:spPr>
        <p:txBody>
          <a:bodyPr wrap="square">
            <a:spAutoFit/>
          </a:bodyPr>
          <a:lstStyle/>
          <a:p>
            <a:pPr>
              <a:defRPr sz="1800" b="0">
                <a:solidFill>
                  <a:srgbClr val="FFFFFF"/>
                </a:solidFill>
                <a:latin typeface="Aptos"/>
              </a:defRPr>
            </a:pPr>
            <a:r>
              <a:t>Move forward 28 days between forecast windows. Both models were evaluated over the same periods.</a:t>
            </a:r>
          </a:p>
        </p:txBody>
      </p:sp>
      <p:sp>
        <p:nvSpPr>
          <p:cNvPr id="13" name="Rounded Rectangle 12"/>
          <p:cNvSpPr/>
          <p:nvPr/>
        </p:nvSpPr>
        <p:spPr>
          <a:xfrm>
            <a:off x="6181344" y="1353312"/>
            <a:ext cx="5303520" cy="2020824"/>
          </a:xfrm>
          <a:prstGeom prst="roundRect">
            <a:avLst/>
          </a:prstGeom>
          <a:solidFill>
            <a:srgbClr val="F4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1600200"/>
            <a:ext cx="4572000" cy="420624"/>
          </a:xfrm>
          <a:prstGeom prst="rect">
            <a:avLst/>
          </a:prstGeom>
          <a:noFill/>
        </p:spPr>
        <p:txBody>
          <a:bodyPr wrap="square">
            <a:spAutoFit/>
          </a:bodyPr>
          <a:lstStyle/>
          <a:p>
            <a:pPr>
              <a:defRPr sz="2100" b="1">
                <a:solidFill>
                  <a:srgbClr val="E85F11"/>
                </a:solidFill>
                <a:latin typeface="Aptos"/>
              </a:defRPr>
            </a:pPr>
            <a:r>
              <a:t>SARIMA</a:t>
            </a:r>
          </a:p>
        </p:txBody>
      </p:sp>
      <p:sp>
        <p:nvSpPr>
          <p:cNvPr id="15" name="TextBox 14"/>
          <p:cNvSpPr txBox="1"/>
          <p:nvPr/>
        </p:nvSpPr>
        <p:spPr>
          <a:xfrm>
            <a:off x="6446520" y="2148840"/>
            <a:ext cx="4599432" cy="950976"/>
          </a:xfrm>
          <a:prstGeom prst="rect">
            <a:avLst/>
          </a:prstGeom>
          <a:noFill/>
        </p:spPr>
        <p:txBody>
          <a:bodyPr wrap="square">
            <a:spAutoFit/>
          </a:bodyPr>
          <a:lstStyle/>
          <a:p>
            <a:pPr>
              <a:defRPr sz="1900" b="1">
                <a:solidFill>
                  <a:srgbClr val="1B232C"/>
                </a:solidFill>
                <a:latin typeface="Aptos"/>
              </a:defRPr>
            </a:pPr>
            <a:r>
              <a:t>Average MAE: 1,109.17</a:t>
            </a:r>
          </a:p>
          <a:p>
            <a:pPr>
              <a:defRPr sz="1900" b="1">
                <a:solidFill>
                  <a:srgbClr val="1B232C"/>
                </a:solidFill>
                <a:latin typeface="Aptos"/>
              </a:defRPr>
            </a:pPr>
            <a:r>
              <a:t>Average RMSE: 1,397.67</a:t>
            </a:r>
          </a:p>
        </p:txBody>
      </p:sp>
      <p:sp>
        <p:nvSpPr>
          <p:cNvPr id="16" name="Rounded Rectangle 15"/>
          <p:cNvSpPr/>
          <p:nvPr/>
        </p:nvSpPr>
        <p:spPr>
          <a:xfrm>
            <a:off x="6181344" y="3602736"/>
            <a:ext cx="5303520" cy="2286000"/>
          </a:xfrm>
          <a:prstGeom prst="roundRect">
            <a:avLst/>
          </a:prstGeom>
          <a:solidFill>
            <a:srgbClr val="F4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3840480"/>
            <a:ext cx="4572000" cy="420624"/>
          </a:xfrm>
          <a:prstGeom prst="rect">
            <a:avLst/>
          </a:prstGeom>
          <a:noFill/>
        </p:spPr>
        <p:txBody>
          <a:bodyPr wrap="square">
            <a:spAutoFit/>
          </a:bodyPr>
          <a:lstStyle/>
          <a:p>
            <a:pPr>
              <a:defRPr sz="2100" b="1">
                <a:solidFill>
                  <a:srgbClr val="E85F11"/>
                </a:solidFill>
                <a:latin typeface="Aptos"/>
              </a:defRPr>
            </a:pPr>
            <a:r>
              <a:t>SEASONAL NAIVE</a:t>
            </a:r>
          </a:p>
        </p:txBody>
      </p:sp>
      <p:sp>
        <p:nvSpPr>
          <p:cNvPr id="18" name="TextBox 17"/>
          <p:cNvSpPr txBox="1"/>
          <p:nvPr/>
        </p:nvSpPr>
        <p:spPr>
          <a:xfrm>
            <a:off x="6446520" y="4389120"/>
            <a:ext cx="4572000" cy="960120"/>
          </a:xfrm>
          <a:prstGeom prst="rect">
            <a:avLst/>
          </a:prstGeom>
          <a:noFill/>
        </p:spPr>
        <p:txBody>
          <a:bodyPr wrap="square">
            <a:spAutoFit/>
          </a:bodyPr>
          <a:lstStyle/>
          <a:p>
            <a:pPr>
              <a:defRPr sz="1900" b="1">
                <a:solidFill>
                  <a:srgbClr val="1B232C"/>
                </a:solidFill>
                <a:latin typeface="Aptos"/>
              </a:defRPr>
            </a:pPr>
            <a:r>
              <a:t>Average MAE: 1,463.90</a:t>
            </a:r>
          </a:p>
          <a:p>
            <a:pPr>
              <a:defRPr sz="1900" b="1">
                <a:solidFill>
                  <a:srgbClr val="1B232C"/>
                </a:solidFill>
                <a:latin typeface="Aptos"/>
              </a:defRPr>
            </a:pPr>
            <a:r>
              <a:t>Average RMSE: 1,994.23</a:t>
            </a:r>
          </a:p>
        </p:txBody>
      </p:sp>
      <p:sp>
        <p:nvSpPr>
          <p:cNvPr id="19" name="TextBox 18"/>
          <p:cNvSpPr txBox="1"/>
          <p:nvPr/>
        </p:nvSpPr>
        <p:spPr>
          <a:xfrm>
            <a:off x="6446520" y="5504688"/>
            <a:ext cx="4572000" cy="329184"/>
          </a:xfrm>
          <a:prstGeom prst="rect">
            <a:avLst/>
          </a:prstGeom>
          <a:noFill/>
        </p:spPr>
        <p:txBody>
          <a:bodyPr wrap="square">
            <a:spAutoFit/>
          </a:bodyPr>
          <a:lstStyle/>
          <a:p>
            <a:pPr>
              <a:defRPr sz="1300" b="1">
                <a:solidFill>
                  <a:srgbClr val="1B232C"/>
                </a:solidFill>
                <a:latin typeface="Aptos"/>
              </a:defRPr>
            </a:pPr>
            <a:r>
              <a:t>SARIMA had lower average errors across the nine backtests.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20040"/>
            <a:ext cx="10972800" cy="548640"/>
          </a:xfrm>
          <a:prstGeom prst="rect">
            <a:avLst/>
          </a:prstGeom>
          <a:noFill/>
        </p:spPr>
        <p:txBody>
          <a:bodyPr wrap="square">
            <a:spAutoFit/>
          </a:bodyPr>
          <a:lstStyle/>
          <a:p>
            <a:pPr>
              <a:defRPr sz="2800" b="1">
                <a:solidFill>
                  <a:srgbClr val="1B232C"/>
                </a:solidFill>
                <a:latin typeface="Aptos"/>
              </a:defRPr>
            </a:pPr>
            <a:r>
              <a:t>3.5.4 Sunday Closure Adjustment</a:t>
            </a:r>
          </a:p>
        </p:txBody>
      </p:sp>
      <p:sp>
        <p:nvSpPr>
          <p:cNvPr id="3" name="Rectangle 2"/>
          <p:cNvSpPr/>
          <p:nvPr/>
        </p:nvSpPr>
        <p:spPr>
          <a:xfrm>
            <a:off x="594360" y="950976"/>
            <a:ext cx="822960" cy="54864"/>
          </a:xfrm>
          <a:prstGeom prst="rect">
            <a:avLst/>
          </a:prstGeom>
          <a:solidFill>
            <a:srgbClr val="E85F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492240"/>
            <a:ext cx="3657600" cy="228600"/>
          </a:xfrm>
          <a:prstGeom prst="rect">
            <a:avLst/>
          </a:prstGeom>
          <a:noFill/>
        </p:spPr>
        <p:txBody>
          <a:bodyPr wrap="square">
            <a:spAutoFit/>
          </a:bodyPr>
          <a:lstStyle/>
          <a:p>
            <a:pPr>
              <a:defRPr sz="1000" b="1">
                <a:solidFill>
                  <a:srgbClr val="63676D"/>
                </a:solidFill>
                <a:latin typeface="Aptos"/>
              </a:defRPr>
            </a:pPr>
            <a:r>
              <a:t>ROSSMANN  /  STORE 800</a:t>
            </a:r>
          </a:p>
        </p:txBody>
      </p:sp>
      <p:sp>
        <p:nvSpPr>
          <p:cNvPr id="5" name="TextBox 4"/>
          <p:cNvSpPr txBox="1"/>
          <p:nvPr/>
        </p:nvSpPr>
        <p:spPr>
          <a:xfrm>
            <a:off x="8138160" y="6492240"/>
            <a:ext cx="3291840" cy="228600"/>
          </a:xfrm>
          <a:prstGeom prst="rect">
            <a:avLst/>
          </a:prstGeom>
          <a:noFill/>
        </p:spPr>
        <p:txBody>
          <a:bodyPr wrap="square">
            <a:spAutoFit/>
          </a:bodyPr>
          <a:lstStyle/>
          <a:p>
            <a:pPr>
              <a:defRPr sz="1000" b="1">
                <a:solidFill>
                  <a:srgbClr val="E85F11"/>
                </a:solidFill>
                <a:latin typeface="Aptos"/>
              </a:defRPr>
            </a:pPr>
            <a:r>
              <a:t>PRESENTED BY THE POD GROUP</a:t>
            </a:r>
          </a:p>
        </p:txBody>
      </p:sp>
      <p:sp>
        <p:nvSpPr>
          <p:cNvPr id="6" name="TextBox 5"/>
          <p:cNvSpPr txBox="1"/>
          <p:nvPr/>
        </p:nvSpPr>
        <p:spPr>
          <a:xfrm>
            <a:off x="11112703" y="6547104"/>
            <a:ext cx="749808" cy="192024"/>
          </a:xfrm>
          <a:prstGeom prst="rect">
            <a:avLst/>
          </a:prstGeom>
          <a:noFill/>
        </p:spPr>
        <p:txBody>
          <a:bodyPr wrap="square">
            <a:spAutoFit/>
          </a:bodyPr>
          <a:lstStyle/>
          <a:p>
            <a:pPr>
              <a:defRPr sz="1000" b="0">
                <a:solidFill>
                  <a:srgbClr val="63676D"/>
                </a:solidFill>
                <a:latin typeface="Aptos"/>
              </a:defRPr>
            </a:pPr>
            <a:r>
              <a:rPr sz="800"/>
              <a:t>26 / 29</a:t>
            </a:r>
          </a:p>
        </p:txBody>
      </p:sp>
      <p:sp>
        <p:nvSpPr>
          <p:cNvPr id="7" name="Rounded Rectangle 6"/>
          <p:cNvSpPr/>
          <p:nvPr/>
        </p:nvSpPr>
        <p:spPr>
          <a:xfrm>
            <a:off x="658368" y="1316736"/>
            <a:ext cx="5303520" cy="4480560"/>
          </a:xfrm>
          <a:prstGeom prst="roundRect">
            <a:avLst/>
          </a:prstGeom>
          <a:solidFill>
            <a:srgbClr val="1B23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50976" y="1645920"/>
            <a:ext cx="4663440" cy="475488"/>
          </a:xfrm>
          <a:prstGeom prst="rect">
            <a:avLst/>
          </a:prstGeom>
          <a:noFill/>
        </p:spPr>
        <p:txBody>
          <a:bodyPr wrap="square">
            <a:spAutoFit/>
          </a:bodyPr>
          <a:lstStyle/>
          <a:p>
            <a:pPr>
              <a:defRPr sz="2100" b="1">
                <a:solidFill>
                  <a:srgbClr val="E85F11"/>
                </a:solidFill>
                <a:latin typeface="Aptos"/>
              </a:defRPr>
            </a:pPr>
            <a:r>
              <a:t>OBSERVED STORE PATTERN</a:t>
            </a:r>
          </a:p>
        </p:txBody>
      </p:sp>
      <p:sp>
        <p:nvSpPr>
          <p:cNvPr id="9" name="TextBox 8"/>
          <p:cNvSpPr txBox="1"/>
          <p:nvPr/>
        </p:nvSpPr>
        <p:spPr>
          <a:xfrm>
            <a:off x="950976" y="2377440"/>
            <a:ext cx="4480560" cy="594360"/>
          </a:xfrm>
          <a:prstGeom prst="rect">
            <a:avLst/>
          </a:prstGeom>
          <a:noFill/>
        </p:spPr>
        <p:txBody>
          <a:bodyPr wrap="square">
            <a:spAutoFit/>
          </a:bodyPr>
          <a:lstStyle/>
          <a:p>
            <a:pPr>
              <a:defRPr sz="3100" b="1">
                <a:solidFill>
                  <a:srgbClr val="FFFFFF"/>
                </a:solidFill>
                <a:latin typeface="Aptos"/>
              </a:defRPr>
            </a:pPr>
            <a:r>
              <a:t>134 Sundays</a:t>
            </a:r>
          </a:p>
        </p:txBody>
      </p:sp>
      <p:sp>
        <p:nvSpPr>
          <p:cNvPr id="10" name="TextBox 9"/>
          <p:cNvSpPr txBox="1"/>
          <p:nvPr/>
        </p:nvSpPr>
        <p:spPr>
          <a:xfrm>
            <a:off x="950976" y="3246120"/>
            <a:ext cx="4572000" cy="713232"/>
          </a:xfrm>
          <a:prstGeom prst="rect">
            <a:avLst/>
          </a:prstGeom>
          <a:noFill/>
        </p:spPr>
        <p:txBody>
          <a:bodyPr wrap="square">
            <a:spAutoFit/>
          </a:bodyPr>
          <a:lstStyle/>
          <a:p>
            <a:pPr>
              <a:defRPr sz="2000" b="0">
                <a:solidFill>
                  <a:srgbClr val="FFFFFF"/>
                </a:solidFill>
                <a:latin typeface="Aptos"/>
              </a:defRPr>
            </a:pPr>
            <a:r>
              <a:t>All 134 recorded Sundays had zero sales.</a:t>
            </a:r>
          </a:p>
        </p:txBody>
      </p:sp>
      <p:sp>
        <p:nvSpPr>
          <p:cNvPr id="11" name="TextBox 10"/>
          <p:cNvSpPr txBox="1"/>
          <p:nvPr/>
        </p:nvSpPr>
        <p:spPr>
          <a:xfrm>
            <a:off x="950976" y="4251960"/>
            <a:ext cx="4572000" cy="914400"/>
          </a:xfrm>
          <a:prstGeom prst="rect">
            <a:avLst/>
          </a:prstGeom>
          <a:noFill/>
        </p:spPr>
        <p:txBody>
          <a:bodyPr wrap="square">
            <a:spAutoFit/>
          </a:bodyPr>
          <a:lstStyle/>
          <a:p>
            <a:pPr>
              <a:defRPr sz="1800" b="0">
                <a:solidFill>
                  <a:srgbClr val="FFFFFF"/>
                </a:solidFill>
                <a:latin typeface="Aptos"/>
              </a:defRPr>
            </a:pPr>
            <a:r>
              <a:t>The dataset had 163 zero-sales days in total, including other closure days.</a:t>
            </a:r>
          </a:p>
        </p:txBody>
      </p:sp>
      <p:sp>
        <p:nvSpPr>
          <p:cNvPr id="12" name="Rounded Rectangle 11"/>
          <p:cNvSpPr/>
          <p:nvPr/>
        </p:nvSpPr>
        <p:spPr>
          <a:xfrm>
            <a:off x="6181344" y="1316736"/>
            <a:ext cx="5303520" cy="1975104"/>
          </a:xfrm>
          <a:prstGeom prst="roundRect">
            <a:avLst/>
          </a:prstGeom>
          <a:solidFill>
            <a:srgbClr val="F4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55664" y="1618488"/>
            <a:ext cx="4572000" cy="457200"/>
          </a:xfrm>
          <a:prstGeom prst="rect">
            <a:avLst/>
          </a:prstGeom>
          <a:noFill/>
        </p:spPr>
        <p:txBody>
          <a:bodyPr wrap="square">
            <a:spAutoFit/>
          </a:bodyPr>
          <a:lstStyle/>
          <a:p>
            <a:pPr>
              <a:defRPr sz="2100" b="1">
                <a:solidFill>
                  <a:srgbClr val="1B232C"/>
                </a:solidFill>
                <a:latin typeface="Aptos"/>
              </a:defRPr>
            </a:pPr>
            <a:r>
              <a:t>INITIAL SARIMA FORECAST</a:t>
            </a:r>
          </a:p>
        </p:txBody>
      </p:sp>
      <p:sp>
        <p:nvSpPr>
          <p:cNvPr id="14" name="TextBox 13"/>
          <p:cNvSpPr txBox="1"/>
          <p:nvPr/>
        </p:nvSpPr>
        <p:spPr>
          <a:xfrm>
            <a:off x="6455664" y="2313432"/>
            <a:ext cx="4617720" cy="603504"/>
          </a:xfrm>
          <a:prstGeom prst="rect">
            <a:avLst/>
          </a:prstGeom>
          <a:noFill/>
        </p:spPr>
        <p:txBody>
          <a:bodyPr wrap="square">
            <a:spAutoFit/>
          </a:bodyPr>
          <a:lstStyle/>
          <a:p>
            <a:pPr>
              <a:defRPr sz="1900" b="0">
                <a:solidFill>
                  <a:srgbClr val="1B232C"/>
                </a:solidFill>
                <a:latin typeface="Aptos"/>
              </a:defRPr>
            </a:pPr>
            <a:r>
              <a:t>Some Sundays had positive predicted sales.</a:t>
            </a:r>
          </a:p>
        </p:txBody>
      </p:sp>
      <p:sp>
        <p:nvSpPr>
          <p:cNvPr id="15" name="Rounded Rectangle 14"/>
          <p:cNvSpPr/>
          <p:nvPr/>
        </p:nvSpPr>
        <p:spPr>
          <a:xfrm>
            <a:off x="6181344" y="3493008"/>
            <a:ext cx="5303520" cy="2304288"/>
          </a:xfrm>
          <a:prstGeom prst="roundRect">
            <a:avLst/>
          </a:prstGeom>
          <a:solidFill>
            <a:srgbClr val="F4F1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55664" y="3785615"/>
            <a:ext cx="4617720" cy="457200"/>
          </a:xfrm>
          <a:prstGeom prst="rect">
            <a:avLst/>
          </a:prstGeom>
          <a:noFill/>
        </p:spPr>
        <p:txBody>
          <a:bodyPr wrap="square">
            <a:spAutoFit/>
          </a:bodyPr>
          <a:lstStyle/>
          <a:p>
            <a:pPr>
              <a:defRPr sz="2100" b="1">
                <a:solidFill>
                  <a:srgbClr val="E85F11"/>
                </a:solidFill>
                <a:latin typeface="Aptos"/>
              </a:defRPr>
            </a:pPr>
            <a:r>
              <a:t>FINAL FORECAST ADJUSTMENT</a:t>
            </a:r>
          </a:p>
        </p:txBody>
      </p:sp>
      <p:sp>
        <p:nvSpPr>
          <p:cNvPr id="17" name="TextBox 16"/>
          <p:cNvSpPr txBox="1"/>
          <p:nvPr/>
        </p:nvSpPr>
        <p:spPr>
          <a:xfrm>
            <a:off x="6455664" y="4443984"/>
            <a:ext cx="4663440" cy="877824"/>
          </a:xfrm>
          <a:prstGeom prst="rect">
            <a:avLst/>
          </a:prstGeom>
          <a:noFill/>
        </p:spPr>
        <p:txBody>
          <a:bodyPr wrap="square">
            <a:spAutoFit/>
          </a:bodyPr>
          <a:lstStyle/>
          <a:p>
            <a:pPr>
              <a:defRPr sz="1900" b="1">
                <a:solidFill>
                  <a:srgbClr val="1B232C"/>
                </a:solidFill>
                <a:latin typeface="Aptos"/>
              </a:defRPr>
            </a:pPr>
            <a:r>
              <a:t>Sunday forecasts were set to zero to reflect the observed store closure pattern.</a:t>
            </a:r>
          </a:p>
        </p:txBody>
      </p:sp>
      <p:sp>
        <p:nvSpPr>
          <p:cNvPr id="18" name="TextBox 17"/>
          <p:cNvSpPr txBox="1"/>
          <p:nvPr/>
        </p:nvSpPr>
        <p:spPr>
          <a:xfrm>
            <a:off x="6455664" y="5321808"/>
            <a:ext cx="4645152" cy="320040"/>
          </a:xfrm>
          <a:prstGeom prst="rect">
            <a:avLst/>
          </a:prstGeom>
          <a:noFill/>
        </p:spPr>
        <p:txBody>
          <a:bodyPr wrap="square">
            <a:spAutoFit/>
          </a:bodyPr>
          <a:lstStyle/>
          <a:p>
            <a:pPr>
              <a:defRPr sz="1300" b="0">
                <a:solidFill>
                  <a:srgbClr val="63676D"/>
                </a:solidFill>
                <a:latin typeface="Aptos"/>
              </a:defRPr>
            </a:pPr>
            <a:r>
              <a:t>Applied after forecasting; no accuracy gain was established.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74320"/>
            <a:ext cx="10972800" cy="594360"/>
          </a:xfrm>
          <a:prstGeom prst="rect">
            <a:avLst/>
          </a:prstGeom>
          <a:noFill/>
        </p:spPr>
        <p:txBody>
          <a:bodyPr wrap="square">
            <a:spAutoFit/>
          </a:bodyPr>
          <a:lstStyle/>
          <a:p>
            <a:r>
              <a:t>3.5.4 Historical Sales and 42-Day Forecast</a:t>
            </a:r>
          </a:p>
        </p:txBody>
      </p:sp>
      <p:sp>
        <p:nvSpPr>
          <p:cNvPr id="3" name="Rectangle 2"/>
          <p:cNvSpPr/>
          <p:nvPr/>
        </p:nvSpPr>
        <p:spPr>
          <a:xfrm>
            <a:off x="594360" y="941832"/>
            <a:ext cx="786384" cy="54864"/>
          </a:xfrm>
          <a:prstGeom prst="rect">
            <a:avLst/>
          </a:prstGeom>
          <a:solidFill>
            <a:srgbClr val="E85F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6492240"/>
            <a:ext cx="3657600" cy="228600"/>
          </a:xfrm>
          <a:prstGeom prst="rect">
            <a:avLst/>
          </a:prstGeom>
          <a:noFill/>
        </p:spPr>
        <p:txBody>
          <a:bodyPr wrap="square">
            <a:spAutoFit/>
          </a:bodyPr>
          <a:lstStyle/>
          <a:p>
            <a:pPr>
              <a:defRPr sz="1000" b="1">
                <a:solidFill>
                  <a:srgbClr val="64696F"/>
                </a:solidFill>
                <a:latin typeface="Aptos"/>
              </a:defRPr>
            </a:pPr>
            <a:r>
              <a:t>ROSSMANN  /  STORE 800</a:t>
            </a:r>
          </a:p>
        </p:txBody>
      </p:sp>
      <p:sp>
        <p:nvSpPr>
          <p:cNvPr id="5" name="TextBox 4"/>
          <p:cNvSpPr txBox="1"/>
          <p:nvPr/>
        </p:nvSpPr>
        <p:spPr>
          <a:xfrm>
            <a:off x="8869680" y="6492240"/>
            <a:ext cx="2651760" cy="237744"/>
          </a:xfrm>
          <a:prstGeom prst="rect">
            <a:avLst/>
          </a:prstGeom>
          <a:noFill/>
        </p:spPr>
        <p:txBody>
          <a:bodyPr wrap="square">
            <a:spAutoFit/>
          </a:bodyPr>
          <a:lstStyle/>
          <a:p>
            <a:pPr>
              <a:defRPr sz="1000" b="1">
                <a:solidFill>
                  <a:srgbClr val="E85F11"/>
                </a:solidFill>
                <a:latin typeface="Aptos"/>
              </a:defRPr>
            </a:pPr>
            <a:r>
              <a:t>PRESENTED BY THE POD GROUP</a:t>
            </a:r>
          </a:p>
        </p:txBody>
      </p:sp>
      <p:sp>
        <p:nvSpPr>
          <p:cNvPr id="6" name="Rounded Rectangle 5"/>
          <p:cNvSpPr/>
          <p:nvPr/>
        </p:nvSpPr>
        <p:spPr>
          <a:xfrm>
            <a:off x="621792" y="1298448"/>
            <a:ext cx="10945368" cy="4489704"/>
          </a:xfrm>
          <a:prstGeom prst="roundRect">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858179" y="1463040"/>
            <a:ext cx="10500024" cy="4160520"/>
          </a:xfrm>
          <a:prstGeom prst="rect">
            <a:avLst/>
          </a:prstGeom>
        </p:spPr>
      </p:pic>
      <p:sp>
        <p:nvSpPr>
          <p:cNvPr id="8" name="TextBox 7"/>
          <p:cNvSpPr txBox="1"/>
          <p:nvPr/>
        </p:nvSpPr>
        <p:spPr>
          <a:xfrm>
            <a:off x="868680" y="5888736"/>
            <a:ext cx="10424160" cy="384048"/>
          </a:xfrm>
          <a:prstGeom prst="rect">
            <a:avLst/>
          </a:prstGeom>
          <a:noFill/>
        </p:spPr>
        <p:txBody>
          <a:bodyPr wrap="square">
            <a:spAutoFit/>
          </a:bodyPr>
          <a:lstStyle/>
          <a:p>
            <a:pPr>
              <a:defRPr sz="1500" b="1">
                <a:solidFill>
                  <a:srgbClr val="1A222B"/>
                </a:solidFill>
                <a:latin typeface="Aptos"/>
              </a:defRPr>
            </a:pPr>
            <a:r>
              <a:t>Historical demonstration: Aug 1–Sep 11, 2015  |  Sunday predictions set to 0; not a current forecast.</a:t>
            </a:r>
          </a:p>
        </p:txBody>
      </p:sp>
      <p:sp>
        <p:nvSpPr>
          <p:cNvPr id="9" name="TextBox 8"/>
          <p:cNvSpPr txBox="1"/>
          <p:nvPr/>
        </p:nvSpPr>
        <p:spPr>
          <a:xfrm>
            <a:off x="11112703" y="6547104"/>
            <a:ext cx="749808" cy="192024"/>
          </a:xfrm>
          <a:prstGeom prst="rect">
            <a:avLst/>
          </a:prstGeom>
          <a:noFill/>
        </p:spPr>
        <p:txBody>
          <a:bodyPr wrap="square">
            <a:spAutoFit/>
          </a:bodyPr>
          <a:lstStyle/>
          <a:p>
            <a:r>
              <a:rPr sz="800"/>
              <a:t>27 / 29</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10896"/>
            <a:ext cx="10972800" cy="502920"/>
          </a:xfrm>
          <a:prstGeom prst="rect">
            <a:avLst/>
          </a:prstGeom>
          <a:noFill/>
        </p:spPr>
        <p:txBody>
          <a:bodyPr wrap="square">
            <a:spAutoFit/>
          </a:bodyPr>
          <a:lstStyle/>
          <a:p>
            <a:pPr>
              <a:defRPr sz="2900" b="1">
                <a:solidFill>
                  <a:srgbClr val="1A222B"/>
                </a:solidFill>
                <a:latin typeface="Aptos"/>
              </a:defRPr>
            </a:pPr>
            <a:r>
              <a:t>3.5.4 Final Six-Week Sales Forecast</a:t>
            </a:r>
          </a:p>
        </p:txBody>
      </p:sp>
      <p:sp>
        <p:nvSpPr>
          <p:cNvPr id="3" name="Rectangle 2"/>
          <p:cNvSpPr/>
          <p:nvPr/>
        </p:nvSpPr>
        <p:spPr>
          <a:xfrm>
            <a:off x="594360" y="960120"/>
            <a:ext cx="822960" cy="54864"/>
          </a:xfrm>
          <a:prstGeom prst="rect">
            <a:avLst/>
          </a:prstGeom>
          <a:solidFill>
            <a:srgbClr val="E85F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492240"/>
            <a:ext cx="3657600" cy="219456"/>
          </a:xfrm>
          <a:prstGeom prst="rect">
            <a:avLst/>
          </a:prstGeom>
          <a:noFill/>
        </p:spPr>
        <p:txBody>
          <a:bodyPr wrap="square">
            <a:spAutoFit/>
          </a:bodyPr>
          <a:lstStyle/>
          <a:p>
            <a:pPr>
              <a:defRPr sz="1000" b="1">
                <a:solidFill>
                  <a:srgbClr val="696C70"/>
                </a:solidFill>
                <a:latin typeface="Aptos"/>
              </a:defRPr>
            </a:pPr>
            <a:r>
              <a:t>ROSSMANN  /  STORE 800</a:t>
            </a:r>
          </a:p>
        </p:txBody>
      </p:sp>
      <p:sp>
        <p:nvSpPr>
          <p:cNvPr id="5" name="TextBox 4"/>
          <p:cNvSpPr txBox="1"/>
          <p:nvPr/>
        </p:nvSpPr>
        <p:spPr>
          <a:xfrm>
            <a:off x="8229600" y="6492240"/>
            <a:ext cx="3291840" cy="228600"/>
          </a:xfrm>
          <a:prstGeom prst="rect">
            <a:avLst/>
          </a:prstGeom>
          <a:noFill/>
        </p:spPr>
        <p:txBody>
          <a:bodyPr wrap="square">
            <a:spAutoFit/>
          </a:bodyPr>
          <a:lstStyle/>
          <a:p>
            <a:pPr>
              <a:defRPr sz="1000" b="1">
                <a:solidFill>
                  <a:srgbClr val="E85F11"/>
                </a:solidFill>
                <a:latin typeface="Aptos"/>
              </a:defRPr>
            </a:pPr>
            <a:r>
              <a:t>PRESENTED BY THE POD GROUP</a:t>
            </a:r>
          </a:p>
        </p:txBody>
      </p:sp>
      <p:sp>
        <p:nvSpPr>
          <p:cNvPr id="6" name="Rounded Rectangle 5"/>
          <p:cNvSpPr/>
          <p:nvPr/>
        </p:nvSpPr>
        <p:spPr>
          <a:xfrm>
            <a:off x="694944" y="1344168"/>
            <a:ext cx="5257800" cy="4498848"/>
          </a:xfrm>
          <a:prstGeom prst="roundRect">
            <a:avLst/>
          </a:prstGeom>
          <a:solidFill>
            <a:srgbClr val="1A2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78408" y="1645920"/>
            <a:ext cx="4480560" cy="411480"/>
          </a:xfrm>
          <a:prstGeom prst="rect">
            <a:avLst/>
          </a:prstGeom>
          <a:noFill/>
        </p:spPr>
        <p:txBody>
          <a:bodyPr wrap="square">
            <a:spAutoFit/>
          </a:bodyPr>
          <a:lstStyle/>
          <a:p>
            <a:pPr>
              <a:defRPr sz="2100" b="1">
                <a:solidFill>
                  <a:srgbClr val="FFFFFF"/>
                </a:solidFill>
                <a:latin typeface="Aptos"/>
              </a:defRPr>
            </a:pPr>
            <a:r>
              <a:t>FORECAST PERIOD</a:t>
            </a:r>
          </a:p>
        </p:txBody>
      </p:sp>
      <p:sp>
        <p:nvSpPr>
          <p:cNvPr id="8" name="TextBox 7"/>
          <p:cNvSpPr txBox="1"/>
          <p:nvPr/>
        </p:nvSpPr>
        <p:spPr>
          <a:xfrm>
            <a:off x="978408" y="2267712"/>
            <a:ext cx="4434840" cy="822960"/>
          </a:xfrm>
          <a:prstGeom prst="rect">
            <a:avLst/>
          </a:prstGeom>
          <a:noFill/>
        </p:spPr>
        <p:txBody>
          <a:bodyPr wrap="square">
            <a:spAutoFit/>
          </a:bodyPr>
          <a:lstStyle/>
          <a:p>
            <a:pPr>
              <a:defRPr sz="2600" b="1">
                <a:solidFill>
                  <a:srgbClr val="FFFFFF"/>
                </a:solidFill>
                <a:latin typeface="Aptos"/>
              </a:defRPr>
            </a:pPr>
            <a:r>
              <a:t>1 August – 11 September 2015</a:t>
            </a:r>
          </a:p>
        </p:txBody>
      </p:sp>
      <p:sp>
        <p:nvSpPr>
          <p:cNvPr id="9" name="TextBox 8"/>
          <p:cNvSpPr txBox="1"/>
          <p:nvPr/>
        </p:nvSpPr>
        <p:spPr>
          <a:xfrm>
            <a:off x="978408" y="3401568"/>
            <a:ext cx="4480560" cy="1920240"/>
          </a:xfrm>
          <a:prstGeom prst="rect">
            <a:avLst/>
          </a:prstGeom>
          <a:noFill/>
        </p:spPr>
        <p:txBody>
          <a:bodyPr wrap="square">
            <a:spAutoFit/>
          </a:bodyPr>
          <a:lstStyle/>
          <a:p>
            <a:pPr>
              <a:defRPr sz="1900" b="0">
                <a:solidFill>
                  <a:srgbClr val="FFFFFF"/>
                </a:solidFill>
                <a:latin typeface="Aptos"/>
              </a:defRPr>
            </a:pPr>
            <a:r>
              <a:t>42 days ahead</a:t>
            </a:r>
          </a:p>
          <a:p>
            <a:pPr>
              <a:defRPr sz="1900" b="0">
                <a:solidFill>
                  <a:srgbClr val="FFFFFF"/>
                </a:solidFill>
                <a:latin typeface="Aptos"/>
              </a:defRPr>
            </a:pPr>
          </a:p>
          <a:p>
            <a:pPr>
              <a:defRPr sz="1900" b="0">
                <a:solidFill>
                  <a:srgbClr val="FFFFFF"/>
                </a:solidFill>
                <a:latin typeface="Aptos"/>
              </a:defRPr>
            </a:pPr>
            <a:r>
              <a:t>A historical demonstration of the forecasting workflow—not a forecast of current Rossmann sales.</a:t>
            </a:r>
          </a:p>
        </p:txBody>
      </p:sp>
      <p:sp>
        <p:nvSpPr>
          <p:cNvPr id="10" name="Rounded Rectangle 9"/>
          <p:cNvSpPr/>
          <p:nvPr/>
        </p:nvSpPr>
        <p:spPr>
          <a:xfrm>
            <a:off x="6199632" y="1344168"/>
            <a:ext cx="5285232" cy="4498848"/>
          </a:xfrm>
          <a:prstGeom prst="roundRect">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64808" y="1664208"/>
            <a:ext cx="4572000" cy="438912"/>
          </a:xfrm>
          <a:prstGeom prst="rect">
            <a:avLst/>
          </a:prstGeom>
          <a:noFill/>
        </p:spPr>
        <p:txBody>
          <a:bodyPr wrap="square">
            <a:spAutoFit/>
          </a:bodyPr>
          <a:lstStyle/>
          <a:p>
            <a:pPr>
              <a:defRPr sz="2100" b="1">
                <a:solidFill>
                  <a:srgbClr val="1A222B"/>
                </a:solidFill>
                <a:latin typeface="Aptos"/>
              </a:defRPr>
            </a:pPr>
            <a:r>
              <a:t>HOW TO READ THE OUTPUT</a:t>
            </a:r>
          </a:p>
        </p:txBody>
      </p:sp>
      <p:sp>
        <p:nvSpPr>
          <p:cNvPr id="12" name="TextBox 11"/>
          <p:cNvSpPr txBox="1"/>
          <p:nvPr/>
        </p:nvSpPr>
        <p:spPr>
          <a:xfrm>
            <a:off x="6464808" y="2350008"/>
            <a:ext cx="4645152" cy="3200400"/>
          </a:xfrm>
          <a:prstGeom prst="rect">
            <a:avLst/>
          </a:prstGeom>
          <a:noFill/>
        </p:spPr>
        <p:txBody>
          <a:bodyPr wrap="square">
            <a:spAutoFit/>
          </a:bodyPr>
          <a:lstStyle/>
          <a:p>
            <a:pPr>
              <a:defRPr sz="1800" b="0">
                <a:solidFill>
                  <a:srgbClr val="1A222B"/>
                </a:solidFill>
                <a:latin typeface="Aptos"/>
              </a:defRPr>
            </a:pPr>
            <a:r>
              <a:t>• Forecast values represent expected daily sales, not guaranteed results.</a:t>
            </a:r>
          </a:p>
          <a:p>
            <a:pPr>
              <a:defRPr sz="1800" b="0">
                <a:solidFill>
                  <a:srgbClr val="1A222B"/>
                </a:solidFill>
                <a:latin typeface="Aptos"/>
              </a:defRPr>
            </a:pPr>
          </a:p>
          <a:p>
            <a:pPr>
              <a:defRPr sz="1800" b="0">
                <a:solidFill>
                  <a:srgbClr val="1A222B"/>
                </a:solidFill>
                <a:latin typeface="Aptos"/>
              </a:defRPr>
            </a:pPr>
            <a:r>
              <a:t>• A seven-day cycle is important for this store.</a:t>
            </a:r>
          </a:p>
          <a:p>
            <a:pPr>
              <a:defRPr sz="1800" b="0">
                <a:solidFill>
                  <a:srgbClr val="1A222B"/>
                </a:solidFill>
                <a:latin typeface="Aptos"/>
              </a:defRPr>
            </a:pPr>
          </a:p>
          <a:p>
            <a:pPr>
              <a:defRPr sz="1800" b="0">
                <a:solidFill>
                  <a:srgbClr val="1A222B"/>
                </a:solidFill>
                <a:latin typeface="Aptos"/>
              </a:defRPr>
            </a:pPr>
            <a:r>
              <a:t>• Sunday values were set to zero after forecasting, using the observed closure rule.</a:t>
            </a:r>
          </a:p>
          <a:p>
            <a:pPr>
              <a:defRPr sz="1800" b="0">
                <a:solidFill>
                  <a:srgbClr val="1A222B"/>
                </a:solidFill>
                <a:latin typeface="Aptos"/>
              </a:defRPr>
            </a:pPr>
          </a:p>
          <a:p>
            <a:pPr>
              <a:defRPr sz="1800" b="0">
                <a:solidFill>
                  <a:srgbClr val="1A222B"/>
                </a:solidFill>
                <a:latin typeface="Aptos"/>
              </a:defRPr>
            </a:pPr>
            <a:r>
              <a:t>• The Sunday correction was not separately proven to improve accuracy.</a:t>
            </a:r>
          </a:p>
        </p:txBody>
      </p:sp>
      <p:sp>
        <p:nvSpPr>
          <p:cNvPr id="13" name="TextBox 12"/>
          <p:cNvSpPr txBox="1"/>
          <p:nvPr/>
        </p:nvSpPr>
        <p:spPr>
          <a:xfrm>
            <a:off x="11112703" y="6547104"/>
            <a:ext cx="749808" cy="192024"/>
          </a:xfrm>
          <a:prstGeom prst="rect">
            <a:avLst/>
          </a:prstGeom>
          <a:noFill/>
        </p:spPr>
        <p:txBody>
          <a:bodyPr wrap="none">
            <a:spAutoFit/>
          </a:bodyPr>
          <a:lstStyle/>
          <a:p>
            <a:pPr>
              <a:defRPr sz="1000"/>
            </a:pPr>
            <a:r>
              <a:rPr sz="800"/>
              <a:t>28 / 29</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74320"/>
            <a:ext cx="10972800" cy="548640"/>
          </a:xfrm>
          <a:prstGeom prst="rect">
            <a:avLst/>
          </a:prstGeom>
          <a:noFill/>
        </p:spPr>
        <p:txBody>
          <a:bodyPr wrap="square">
            <a:spAutoFit/>
          </a:bodyPr>
          <a:lstStyle/>
          <a:p>
            <a:r>
              <a:t>4.3 Conclusion</a:t>
            </a:r>
          </a:p>
        </p:txBody>
      </p:sp>
      <p:sp>
        <p:nvSpPr>
          <p:cNvPr id="3" name="Rounded Rectangle 2"/>
          <p:cNvSpPr/>
          <p:nvPr/>
        </p:nvSpPr>
        <p:spPr>
          <a:xfrm>
            <a:off x="594360" y="932688"/>
            <a:ext cx="786384" cy="50292"/>
          </a:xfrm>
          <a:prstGeom prst="roundRect">
            <a:avLst/>
          </a:prstGeom>
          <a:solidFill>
            <a:srgbClr val="E85F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12648" y="6510528"/>
            <a:ext cx="3657600" cy="201168"/>
          </a:xfrm>
          <a:prstGeom prst="rect">
            <a:avLst/>
          </a:prstGeom>
          <a:noFill/>
        </p:spPr>
        <p:txBody>
          <a:bodyPr wrap="square">
            <a:spAutoFit/>
          </a:bodyPr>
          <a:lstStyle/>
          <a:p>
            <a:pPr>
              <a:defRPr sz="1000" b="1">
                <a:solidFill>
                  <a:srgbClr val="64696F"/>
                </a:solidFill>
                <a:latin typeface="Aptos"/>
              </a:defRPr>
            </a:pPr>
            <a:r>
              <a:t>ROSSMANN  /  STORE 800</a:t>
            </a:r>
          </a:p>
        </p:txBody>
      </p:sp>
      <p:sp>
        <p:nvSpPr>
          <p:cNvPr id="5" name="TextBox 4"/>
          <p:cNvSpPr txBox="1"/>
          <p:nvPr/>
        </p:nvSpPr>
        <p:spPr>
          <a:xfrm>
            <a:off x="11112703" y="6547104"/>
            <a:ext cx="749808" cy="192024"/>
          </a:xfrm>
          <a:prstGeom prst="rect">
            <a:avLst/>
          </a:prstGeom>
          <a:noFill/>
        </p:spPr>
        <p:txBody>
          <a:bodyPr wrap="square">
            <a:spAutoFit/>
          </a:bodyPr>
          <a:lstStyle/>
          <a:p>
            <a:r>
              <a:rPr sz="800"/>
              <a:t>29 / 29</a:t>
            </a:r>
          </a:p>
        </p:txBody>
      </p:sp>
      <p:sp>
        <p:nvSpPr>
          <p:cNvPr id="6" name="Rounded Rectangle 5"/>
          <p:cNvSpPr/>
          <p:nvPr/>
        </p:nvSpPr>
        <p:spPr>
          <a:xfrm>
            <a:off x="676656" y="1371600"/>
            <a:ext cx="10844784" cy="1234440"/>
          </a:xfrm>
          <a:prstGeom prst="roundRect">
            <a:avLst/>
          </a:prstGeom>
          <a:solidFill>
            <a:srgbClr val="1A22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618488"/>
            <a:ext cx="10222992" cy="813816"/>
          </a:xfrm>
          <a:prstGeom prst="rect">
            <a:avLst/>
          </a:prstGeom>
          <a:noFill/>
        </p:spPr>
        <p:txBody>
          <a:bodyPr wrap="square">
            <a:spAutoFit/>
          </a:bodyPr>
          <a:lstStyle/>
          <a:p>
            <a:pPr>
              <a:defRPr sz="2400" b="1">
                <a:solidFill>
                  <a:srgbClr val="FFFFFF"/>
                </a:solidFill>
                <a:latin typeface="Aptos"/>
              </a:defRPr>
            </a:pPr>
            <a:r>
              <a:t>No single model won every test: SARIMA led rolling backtests and holdout RMSE; Seasonal Naive led holdout MAE.</a:t>
            </a:r>
          </a:p>
        </p:txBody>
      </p:sp>
      <p:sp>
        <p:nvSpPr>
          <p:cNvPr id="8" name="Rounded Rectangle 7"/>
          <p:cNvSpPr/>
          <p:nvPr/>
        </p:nvSpPr>
        <p:spPr>
          <a:xfrm>
            <a:off x="676656" y="2926080"/>
            <a:ext cx="3456432" cy="2286000"/>
          </a:xfrm>
          <a:prstGeom prst="roundRect">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3172968"/>
            <a:ext cx="3017520" cy="530352"/>
          </a:xfrm>
          <a:prstGeom prst="rect">
            <a:avLst/>
          </a:prstGeom>
          <a:noFill/>
        </p:spPr>
        <p:txBody>
          <a:bodyPr wrap="square">
            <a:spAutoFit/>
          </a:bodyPr>
          <a:lstStyle/>
          <a:p>
            <a:pPr>
              <a:defRPr sz="2000" b="1">
                <a:solidFill>
                  <a:srgbClr val="E85F11"/>
                </a:solidFill>
                <a:latin typeface="Aptos"/>
              </a:defRPr>
            </a:pPr>
            <a:r>
              <a:t>Weekly seasonality</a:t>
            </a:r>
          </a:p>
        </p:txBody>
      </p:sp>
      <p:sp>
        <p:nvSpPr>
          <p:cNvPr id="10" name="TextBox 9"/>
          <p:cNvSpPr txBox="1"/>
          <p:nvPr/>
        </p:nvSpPr>
        <p:spPr>
          <a:xfrm>
            <a:off x="905256" y="3849624"/>
            <a:ext cx="2990088" cy="1143000"/>
          </a:xfrm>
          <a:prstGeom prst="rect">
            <a:avLst/>
          </a:prstGeom>
          <a:noFill/>
        </p:spPr>
        <p:txBody>
          <a:bodyPr wrap="square">
            <a:spAutoFit/>
          </a:bodyPr>
          <a:lstStyle/>
          <a:p>
            <a:pPr>
              <a:defRPr sz="1700" b="0">
                <a:solidFill>
                  <a:srgbClr val="1A222B"/>
                </a:solidFill>
                <a:latin typeface="Aptos"/>
              </a:defRPr>
            </a:pPr>
            <a:r>
              <a:t>Seven-day sales cycles and Sunday closures are central to Store 800 demand.</a:t>
            </a:r>
          </a:p>
        </p:txBody>
      </p:sp>
      <p:sp>
        <p:nvSpPr>
          <p:cNvPr id="11" name="Rounded Rectangle 10"/>
          <p:cNvSpPr/>
          <p:nvPr/>
        </p:nvSpPr>
        <p:spPr>
          <a:xfrm>
            <a:off x="4361688" y="2926080"/>
            <a:ext cx="3456432" cy="2286000"/>
          </a:xfrm>
          <a:prstGeom prst="roundRect">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0288" y="3172968"/>
            <a:ext cx="3017520" cy="530352"/>
          </a:xfrm>
          <a:prstGeom prst="rect">
            <a:avLst/>
          </a:prstGeom>
          <a:noFill/>
        </p:spPr>
        <p:txBody>
          <a:bodyPr wrap="square">
            <a:spAutoFit/>
          </a:bodyPr>
          <a:lstStyle/>
          <a:p>
            <a:pPr>
              <a:defRPr sz="2000" b="1">
                <a:solidFill>
                  <a:srgbClr val="E85F11"/>
                </a:solidFill>
                <a:latin typeface="Aptos"/>
              </a:defRPr>
            </a:pPr>
            <a:r>
              <a:t>Model evidence</a:t>
            </a:r>
          </a:p>
        </p:txBody>
      </p:sp>
      <p:sp>
        <p:nvSpPr>
          <p:cNvPr id="13" name="TextBox 12"/>
          <p:cNvSpPr txBox="1"/>
          <p:nvPr/>
        </p:nvSpPr>
        <p:spPr>
          <a:xfrm>
            <a:off x="4590288" y="3849624"/>
            <a:ext cx="2990088" cy="1143000"/>
          </a:xfrm>
          <a:prstGeom prst="rect">
            <a:avLst/>
          </a:prstGeom>
          <a:noFill/>
        </p:spPr>
        <p:txBody>
          <a:bodyPr wrap="square">
            <a:spAutoFit/>
          </a:bodyPr>
          <a:lstStyle/>
          <a:p>
            <a:pPr>
              <a:defRPr sz="1700" b="0">
                <a:solidFill>
                  <a:srgbClr val="1A222B"/>
                </a:solidFill>
                <a:latin typeface="Aptos"/>
              </a:defRPr>
            </a:pPr>
            <a:r>
              <a:t>SARIMA beat Seasonal Naive on average in rolling backtests; holdout metrics were mixed.</a:t>
            </a:r>
          </a:p>
        </p:txBody>
      </p:sp>
      <p:sp>
        <p:nvSpPr>
          <p:cNvPr id="14" name="Rounded Rectangle 13"/>
          <p:cNvSpPr/>
          <p:nvPr/>
        </p:nvSpPr>
        <p:spPr>
          <a:xfrm>
            <a:off x="8046720" y="2926080"/>
            <a:ext cx="3456432" cy="2286000"/>
          </a:xfrm>
          <a:prstGeom prst="roundRect">
            <a:avLst/>
          </a:prstGeom>
          <a:solidFill>
            <a:srgbClr val="F3E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20" y="3172968"/>
            <a:ext cx="3017520" cy="530352"/>
          </a:xfrm>
          <a:prstGeom prst="rect">
            <a:avLst/>
          </a:prstGeom>
          <a:noFill/>
        </p:spPr>
        <p:txBody>
          <a:bodyPr wrap="square">
            <a:spAutoFit/>
          </a:bodyPr>
          <a:lstStyle/>
          <a:p>
            <a:pPr>
              <a:defRPr sz="2000" b="1">
                <a:solidFill>
                  <a:srgbClr val="E85F11"/>
                </a:solidFill>
                <a:latin typeface="Aptos"/>
              </a:defRPr>
            </a:pPr>
            <a:r>
              <a:t>Diagnostic findings</a:t>
            </a:r>
          </a:p>
        </p:txBody>
      </p:sp>
      <p:sp>
        <p:nvSpPr>
          <p:cNvPr id="16" name="TextBox 15"/>
          <p:cNvSpPr txBox="1"/>
          <p:nvPr/>
        </p:nvSpPr>
        <p:spPr>
          <a:xfrm>
            <a:off x="8275320" y="3849624"/>
            <a:ext cx="2990088" cy="1143000"/>
          </a:xfrm>
          <a:prstGeom prst="rect">
            <a:avLst/>
          </a:prstGeom>
          <a:noFill/>
        </p:spPr>
        <p:txBody>
          <a:bodyPr wrap="square">
            <a:spAutoFit/>
          </a:bodyPr>
          <a:lstStyle/>
          <a:p>
            <a:pPr>
              <a:defRPr sz="1700" b="0">
                <a:solidFill>
                  <a:srgbClr val="1A222B"/>
                </a:solidFill>
                <a:latin typeface="Aptos"/>
              </a:defRPr>
            </a:pPr>
            <a:r>
              <a:t>Ljung–Box tests indicated remaining autocorrelation, and the Q–Q plot showed departures from normality.</a:t>
            </a:r>
          </a:p>
        </p:txBody>
      </p:sp>
      <p:sp>
        <p:nvSpPr>
          <p:cNvPr id="17" name="TextBox 16"/>
          <p:cNvSpPr txBox="1"/>
          <p:nvPr/>
        </p:nvSpPr>
        <p:spPr>
          <a:xfrm>
            <a:off x="804672" y="5623560"/>
            <a:ext cx="10652760" cy="484632"/>
          </a:xfrm>
          <a:prstGeom prst="rect">
            <a:avLst/>
          </a:prstGeom>
          <a:noFill/>
        </p:spPr>
        <p:txBody>
          <a:bodyPr wrap="square">
            <a:spAutoFit/>
          </a:bodyPr>
          <a:lstStyle/>
          <a:p>
            <a:pPr>
              <a:defRPr sz="1800" b="1">
                <a:solidFill>
                  <a:srgbClr val="1A222B"/>
                </a:solidFill>
                <a:latin typeface="Aptos"/>
              </a:defRPr>
            </a:pPr>
            <a:r>
              <a:t>Historical six-week forecast (Aug–Sep 2015): useful workflow demonstration, not a current sales prediction.</a:t>
            </a:r>
          </a:p>
        </p:txBody>
      </p:sp>
      <p:sp>
        <p:nvSpPr>
          <p:cNvPr id="18" name="TextBox 17"/>
          <p:cNvSpPr txBox="1"/>
          <p:nvPr/>
        </p:nvSpPr>
        <p:spPr>
          <a:xfrm>
            <a:off x="9875520" y="6501384"/>
            <a:ext cx="1097280" cy="201168"/>
          </a:xfrm>
          <a:prstGeom prst="rect">
            <a:avLst/>
          </a:prstGeom>
          <a:noFill/>
        </p:spPr>
        <p:txBody>
          <a:bodyPr wrap="square">
            <a:spAutoFit/>
          </a:bodyPr>
          <a:lstStyle/>
          <a:p>
            <a:pPr>
              <a:defRPr sz="900" b="1">
                <a:solidFill>
                  <a:srgbClr val="E85F11"/>
                </a:solidFill>
                <a:latin typeface="Aptos"/>
              </a:defRPr>
            </a:pPr>
            <a:r>
              <a:t>POD GROUP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